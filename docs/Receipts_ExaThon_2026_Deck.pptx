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5b30ba-7068-c7ba-46f7-22a78cacd62c}">
          <p14:sldIdLst>
            <p14:sldId id="256"/>
            <p14:sldId id="257"/>
          </p14:sldIdLst>
        </p14:section>
        <p14:section name="The problem" id="{46a4f181-8e73-b1fc-b6ce-0f086d606279}">
          <p14:sldIdLst>
            <p14:sldId id="258"/>
            <p14:sldId id="259"/>
          </p14:sldIdLst>
        </p14:section>
        <p14:section name="Landscape" id="{fda25270-e6d5-eab2-2afb-71945b933694}">
          <p14:sldIdLst>
            <p14:sldId id="260"/>
            <p14:sldId id="261"/>
          </p14:sldIdLst>
        </p14:section>
        <p14:section name="How it works" id="{32a411e2-8539-f99f-d348-d0026ad8ed86}">
          <p14:sldIdLst>
            <p14:sldId id="262"/>
            <p14:sldId id="263"/>
          </p14:sldIdLst>
        </p14:section>
        <p14:section name="Three cases" id="{76bbe4cb-bf55-6960-084d-2691af32de94}">
          <p14:sldIdLst>
            <p14:sldId id="264"/>
            <p14:sldId id="265"/>
            <p14:sldId id="266"/>
          </p14:sldIdLst>
        </p14:section>
        <p14:section name="Agents and Exasol" id="{bde9f0c7-543f-665a-4c5a-7e872d95e405}">
          <p14:sldIdLst>
            <p14:sldId id="267"/>
            <p14:sldId id="268"/>
            <p14:sldId id="269"/>
            <p14:sldId id="270"/>
            <p14:sldId id="271"/>
          </p14:sldIdLst>
        </p14:section>
        <p14:section name="Evidence" id="{e3eb195a-4ed4-6076-d2d9-ec62480d69ff}">
          <p14:sldIdLst>
            <p14:sldId id="272"/>
            <p14:sldId id="273"/>
            <p14:sldId id="274"/>
            <p14:sldId id="275"/>
            <p14:sldId id="276"/>
            <p14:sldId id="277"/>
            <p14:sldId id="278"/>
          </p14:sldIdLst>
        </p14:section>
        <p14:section name="Honesty and next steps" id="{c8e50f22-2306-a9ab-ee46-ac0571cc1bcd}">
          <p14:sldIdLst>
            <p14:sldId id="279"/>
            <p14:sldId id="280"/>
            <p14:sldId id="281"/>
          </p14:sldIdLst>
        </p14:section>
        <p14:section name="References" id="{5f2d6c4d-ad36-b0b9-2f90-81bd773adff8}">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2A38"/>
                </a:solidFill>
                <a:latin typeface="+mn-lt"/>
              </a:defRPr>
            </a:pPr>
            <a:r>
              <a:rPr sz="1400" b="0" i="0" u="none" strike="noStrike">
                <a:solidFill>
                  <a:srgbClr val="0A2A38"/>
                </a:solidFill>
                <a:latin typeface="+mn-lt"/>
              </a:rPr>
              <a:t>Revenue on 20 Oct, crore of rupees</a:t>
            </a:r>
          </a:p>
        </c:rich>
      </c:tx>
      <c:layout/>
      <c:overlay val="0"/>
    </c:title>
    <c:autoTitleDeleted val="0"/>
    <c:plotArea>
      <c:layout/>
      <c:barChart>
        <c:barDir val="col"/>
        <c:grouping val="clustered"/>
        <c:varyColors val="0"/>
        <c:ser>
          <c:idx val="0"/>
          <c:order val="0"/>
          <c:tx>
            <c:strRef>
              <c:f>Sheet1!$B$1</c:f>
              <c:strCache>
                <c:ptCount val="1"/>
                <c:pt idx="0">
                  <c:v>Revenue, 20 Oct (crore)</c:v>
                </c:pt>
              </c:strCache>
            </c:strRef>
          </c:tx>
          <c:spPr>
            <a:solidFill>
              <a:srgbClr val="5B7684"/>
            </a:solidFill>
            <a:effectLst/>
          </c:spPr>
          <c:invertIfNegative val="0"/>
          <c:dLbls>
            <c:numFmt formatCode="0.00" sourceLinked="0"/>
            <c:txPr>
              <a:bodyPr/>
              <a:lstStyle/>
              <a:p>
                <a:pPr>
                  <a:defRPr b="1" i="0" strike="noStrike" sz="1600" u="none">
                    <a:solidFill>
                      <a:srgbClr val="0A2A38"/>
                    </a:solidFill>
                    <a:latin typeface="+mn-lt"/>
                  </a:defRPr>
                </a:pPr>
              </a:p>
            </c:txPr>
            <c:showLegendKey val="0"/>
            <c:showVal val="1"/>
            <c:showCatName val="0"/>
            <c:showSerName val="0"/>
            <c:showPercent val="0"/>
            <c:showBubbleSize val="0"/>
            <c:showLeaderLines val="0"/>
          </c:dLbls>
          <c:dPt>
            <c:idx val="0"/>
            <c:invertIfNegative val="0"/>
            <c:bubble3D val="0"/>
            <c:spPr>
              <a:solidFill>
                <a:srgbClr val="5B7684"/>
              </a:solidFill>
              <a:effectLst/>
            </c:spPr>
          </c:dPt>
          <c:dPt>
            <c:idx val="1"/>
            <c:invertIfNegative val="0"/>
            <c:bubble3D val="0"/>
            <c:spPr>
              <a:solidFill>
                <a:srgbClr val="E8772E"/>
              </a:solidFill>
              <a:effectLst/>
            </c:spPr>
          </c:dPt>
          <c:dPt>
            <c:idx val="2"/>
            <c:invertIfNegative val="0"/>
            <c:bubble3D val="0"/>
            <c:spPr>
              <a:solidFill>
                <a:srgbClr val="6AB541"/>
              </a:solidFill>
              <a:effectLst/>
            </c:spPr>
          </c:dPt>
          <c:cat>
            <c:multiLvlStrRef>
              <c:f>Sheet1!$A$2:$A$4</c:f>
              <c:multiLvlStrCache>
                <c:ptCount val="3"/>
                <c:lvl>
                  <c:pt idx="0">
                    <c:v>Usual, last 14 days</c:v>
                  </c:pt>
                  <c:pt idx="1">
                    <c:v>Pipeline says</c:v>
                  </c:pt>
                  <c:pt idx="2">
                    <c:v>After undoing the fault</c:v>
                  </c:pt>
                </c:lvl>
              </c:multiLvlStrCache>
            </c:multiLvlStrRef>
          </c:cat>
          <c:val>
            <c:numRef>
              <c:f>Sheet1!$B$2:$B$4</c:f>
              <c:numCache>
                <c:formatCode>General</c:formatCode>
                <c:ptCount val="3"/>
                <c:pt idx="0">
                  <c:v>3.32</c:v>
                </c:pt>
                <c:pt idx="1">
                  <c:v>2.69</c:v>
                </c:pt>
                <c:pt idx="2">
                  <c:v>3.21</c:v>
                </c:pt>
              </c:numCache>
            </c:numRef>
          </c:val>
        </c:ser>
        <c:dLbls>
          <c:numFmt formatCode="0.00" sourceLinked="0"/>
          <c:txPr>
            <a:bodyPr/>
            <a:lstStyle/>
            <a:p>
              <a:pPr>
                <a:defRPr b="1" i="0" strike="noStrike" sz="1600" u="none">
                  <a:solidFill>
                    <a:srgbClr val="0A2A3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D5DF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A38"/>
                </a:solidFill>
                <a:latin typeface="+mn-lt"/>
              </a:defRPr>
            </a:pPr>
            <a:r>
              <a:rPr sz="1300" b="0" i="0" u="none" strike="noStrike">
                <a:solidFill>
                  <a:srgbClr val="0A2A38"/>
                </a:solidFill>
                <a:latin typeface="+mn-lt"/>
              </a:rPr>
              <a:t>Where one run went, ms (warm median, 3.2 s)</a:t>
            </a:r>
          </a:p>
        </c:rich>
      </c:tx>
      <c:layout/>
      <c:overlay val="0"/>
    </c:title>
    <c:autoTitleDeleted val="0"/>
    <c:plotArea>
      <c:layout/>
      <c:barChart>
        <c:barDir val="bar"/>
        <c:grouping val="clustered"/>
        <c:varyColors val="0"/>
        <c:ser>
          <c:idx val="0"/>
          <c:order val="0"/>
          <c:tx>
            <c:strRef>
              <c:f>Sheet1!$B$1</c:f>
              <c:strCache>
                <c:ptCount val="1"/>
                <c:pt idx="0">
                  <c:v>ms</c:v>
                </c:pt>
              </c:strCache>
            </c:strRef>
          </c:tx>
          <c:spPr>
            <a:solidFill>
              <a:srgbClr val="1C7293"/>
            </a:solidFill>
            <a:effectLst/>
          </c:spPr>
          <c:invertIfNegative val="0"/>
          <c:dLbls>
            <c:numFmt formatCode="#,##0" sourceLinked="0"/>
            <c:txPr>
              <a:bodyPr/>
              <a:lstStyle/>
              <a:p>
                <a:pPr>
                  <a:defRPr b="0" i="0" strike="noStrike" sz="1100" u="none">
                    <a:solidFill>
                      <a:srgbClr val="0A2A38"/>
                    </a:solidFill>
                    <a:latin typeface="+mn-lt"/>
                  </a:defRPr>
                </a:pPr>
              </a:p>
            </c:txPr>
            <c:showLegendKey val="0"/>
            <c:showVal val="1"/>
            <c:showCatName val="0"/>
            <c:showSerName val="0"/>
            <c:showPercent val="0"/>
            <c:showBubbleSize val="0"/>
            <c:showLeaderLines val="0"/>
          </c:dLbls>
          <c:cat>
            <c:multiLvlStrRef>
              <c:f>Sheet1!$A$2:$A$7</c:f>
              <c:multiLvlStrCache>
                <c:ptCount val="6"/>
                <c:lvl>
                  <c:pt idx="0">
                    <c:v>Read candidate and history</c:v>
                  </c:pt>
                  <c:pt idx="1">
                    <c:v>Run six detectors</c:v>
                  </c:pt>
                  <c:pt idx="2">
                    <c:v>Read lineage</c:v>
                  </c:pt>
                  <c:pt idx="3">
                    <c:v>Test 11,074 slices (CUBE)</c:v>
                  </c:pt>
                  <c:pt idx="4">
                    <c:v>Reconcile payments</c:v>
                  </c:pt>
                  <c:pt idx="5">
                    <c:v>Undo each suspect</c:v>
                  </c:pt>
                </c:lvl>
              </c:multiLvlStrCache>
            </c:multiLvlStrRef>
          </c:cat>
          <c:val>
            <c:numRef>
              <c:f>Sheet1!$B$2:$B$7</c:f>
              <c:numCache>
                <c:formatCode>General</c:formatCode>
                <c:ptCount val="6"/>
                <c:pt idx="0">
                  <c:v>98</c:v>
                </c:pt>
                <c:pt idx="1">
                  <c:v>536</c:v>
                </c:pt>
                <c:pt idx="2">
                  <c:v>56</c:v>
                </c:pt>
                <c:pt idx="3">
                  <c:v>669</c:v>
                </c:pt>
                <c:pt idx="4">
                  <c:v>235</c:v>
                </c:pt>
                <c:pt idx="5">
                  <c:v>981</c:v>
                </c:pt>
              </c:numCache>
            </c:numRef>
          </c:val>
        </c:ser>
        <c:dLbls>
          <c:numFmt formatCode="#,##0" sourceLinked="0"/>
          <c:txPr>
            <a:bodyPr/>
            <a:lstStyle/>
            <a:p>
              <a:pPr>
                <a:defRPr b="0" i="0" strike="noStrike" sz="1100" u="none">
                  <a:solidFill>
                    <a:srgbClr val="0A2A3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12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2A38"/>
                </a:solidFill>
                <a:latin typeface="+mn-lt"/>
              </a:defRPr>
            </a:pPr>
            <a:r>
              <a:rPr sz="1400" b="0" i="0" u="none" strike="noStrike">
                <a:solidFill>
                  <a:srgbClr val="0A2A38"/>
                </a:solidFill>
                <a:latin typeface="+mn-lt"/>
              </a:rPr>
              <a:t>Per cent of 50 runs</a:t>
            </a:r>
          </a:p>
        </c:rich>
      </c:tx>
      <c:layout/>
      <c:overlay val="0"/>
    </c:title>
    <c:autoTitleDeleted val="0"/>
    <c:plotArea>
      <c:layout/>
      <c:barChart>
        <c:barDir val="col"/>
        <c:grouping val="clustered"/>
        <c:varyColors val="0"/>
        <c:ser>
          <c:idx val="0"/>
          <c:order val="0"/>
          <c:tx>
            <c:strRef>
              <c:f>Sheet1!$B$1</c:f>
              <c:strCache>
                <c:ptCount val="1"/>
                <c:pt idx="0">
                  <c:v>Receipts</c:v>
                </c:pt>
              </c:strCache>
            </c:strRef>
          </c:tx>
          <c:spPr>
            <a:solidFill>
              <a:srgbClr val="6AB541"/>
            </a:solidFill>
            <a:effectLst/>
          </c:spPr>
          <c:invertIfNegative val="0"/>
          <c:dLbls>
            <c:numFmt formatCode="0&quot;%&quot;"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Sheet1!$A$2:$A$3</c:f>
              <c:multiLvlStrCache>
                <c:ptCount val="2"/>
                <c:lvl>
                  <c:pt idx="0">
                    <c:v>Right call to hold or publish</c:v>
                  </c:pt>
                  <c:pt idx="1">
                    <c:v>Planted causes found</c:v>
                  </c:pt>
                </c:lvl>
              </c:multiLvlStrCache>
            </c:multiLvlStrRef>
          </c:cat>
          <c:val>
            <c:numRef>
              <c:f>Sheet1!$B$2:$B$3</c:f>
              <c:numCache>
                <c:formatCode>General</c:formatCode>
                <c:ptCount val="2"/>
                <c:pt idx="0">
                  <c:v>100</c:v>
                </c:pt>
                <c:pt idx="1">
                  <c:v>100</c:v>
                </c:pt>
              </c:numCache>
            </c:numRef>
          </c:val>
        </c:ser>
        <c:ser>
          <c:idx val="1"/>
          <c:order val="1"/>
          <c:tx>
            <c:strRef>
              <c:f>Sheet1!$C$1</c:f>
              <c:strCache>
                <c:ptCount val="1"/>
                <c:pt idx="0">
                  <c:v>Detectors only, no undo test</c:v>
                </c:pt>
              </c:strCache>
            </c:strRef>
          </c:tx>
          <c:spPr>
            <a:solidFill>
              <a:srgbClr val="E8772E"/>
            </a:solidFill>
            <a:effectLst/>
          </c:spPr>
          <c:invertIfNegative val="0"/>
          <c:dLbls>
            <c:numFmt formatCode="0&quot;%&quot;"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Sheet1!$A$2:$A$3</c:f>
              <c:multiLvlStrCache>
                <c:ptCount val="2"/>
                <c:lvl>
                  <c:pt idx="0">
                    <c:v>Right call to hold or publish</c:v>
                  </c:pt>
                  <c:pt idx="1">
                    <c:v>Planted causes found</c:v>
                  </c:pt>
                </c:lvl>
              </c:multiLvlStrCache>
            </c:multiLvlStrRef>
          </c:cat>
          <c:val>
            <c:numRef>
              <c:f>Sheet1!$C$2:$C$3</c:f>
              <c:numCache>
                <c:formatCode>General</c:formatCode>
                <c:ptCount val="2"/>
                <c:pt idx="0">
                  <c:v>80</c:v>
                </c:pt>
                <c:pt idx="1">
                  <c:v>100</c:v>
                </c:pt>
              </c:numCache>
            </c:numRef>
          </c:val>
        </c:ser>
        <c:ser>
          <c:idx val="2"/>
          <c:order val="2"/>
          <c:tx>
            <c:strRef>
              <c:f>Sheet1!$D$1</c:f>
              <c:strCache>
                <c:ptCount val="1"/>
                <c:pt idx="0">
                  <c:v>Threshold alert</c:v>
                </c:pt>
              </c:strCache>
            </c:strRef>
          </c:tx>
          <c:spPr>
            <a:solidFill>
              <a:srgbClr val="5B7684"/>
            </a:solidFill>
            <a:effectLst/>
          </c:spPr>
          <c:invertIfNegative val="0"/>
          <c:dLbls>
            <c:numFmt formatCode="0&quot;%&quot;"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Sheet1!$A$2:$A$3</c:f>
              <c:multiLvlStrCache>
                <c:ptCount val="2"/>
                <c:lvl>
                  <c:pt idx="0">
                    <c:v>Right call to hold or publish</c:v>
                  </c:pt>
                  <c:pt idx="1">
                    <c:v>Planted causes found</c:v>
                  </c:pt>
                </c:lvl>
              </c:multiLvlStrCache>
            </c:multiLvlStrRef>
          </c:cat>
          <c:val>
            <c:numRef>
              <c:f>Sheet1!$D$2:$D$3</c:f>
              <c:numCache>
                <c:formatCode>General</c:formatCode>
                <c:ptCount val="2"/>
                <c:pt idx="0">
                  <c:v>88</c:v>
                </c:pt>
                <c:pt idx="1">
                  <c:v>0</c:v>
                </c:pt>
              </c:numCache>
            </c:numRef>
          </c:val>
        </c:ser>
        <c:dLbls>
          <c:numFmt formatCode="0&quot;%&quot;"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A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A38"/>
                </a:solidFill>
                <a:latin typeface="+mn-lt"/>
              </a:defRPr>
            </a:pPr>
            <a:r>
              <a:rPr sz="1300" b="0" i="0" u="none" strike="noStrike">
                <a:solidFill>
                  <a:srgbClr val="0A2A38"/>
                </a:solidFill>
                <a:latin typeface="+mn-lt"/>
              </a:rPr>
              <a:t>17 variants on Exasol, seed 11</a:t>
            </a:r>
          </a:p>
        </c:rich>
      </c:tx>
      <c:layout/>
      <c:overlay val="0"/>
    </c:title>
    <c:autoTitleDeleted val="0"/>
    <c:plotArea>
      <c:layout/>
      <c:doughnutChart>
        <c:varyColors val="1"/>
        <c:ser>
          <c:idx val="0"/>
          <c:order val="0"/>
          <c:tx>
            <c:strRef>
              <c:f>Sheet1!$B$1</c:f>
              <c:strCache>
                <c:ptCount val="1"/>
                <c:pt idx="0">
                  <c:v>Outcome</c:v>
                </c:pt>
              </c:strCache>
            </c:strRef>
          </c:tx>
          <c:spPr>
            <a:solidFill>
              <a:schemeClr val="accent1"/>
            </a:solidFill>
            <a:ln w="9525" cap="flat">
              <a:solidFill>
                <a:srgbClr val="F9F9F9"/>
              </a:solidFill>
              <a:prstDash val="solid"/>
              <a:round/>
            </a:ln>
            <a:effectLst/>
          </c:spPr>
          <c:dPt>
            <c:idx val="0"/>
            <c:bubble3D val="0"/>
            <c:spPr>
              <a:solidFill>
                <a:srgbClr val="6AB541"/>
              </a:solidFill>
              <a:effectLst/>
            </c:spPr>
          </c:dPt>
          <c:dPt>
            <c:idx val="1"/>
            <c:bubble3D val="0"/>
            <c:spPr>
              <a:solidFill>
                <a:srgbClr val="E8772E"/>
              </a:solidFill>
              <a:effectLst/>
            </c:spPr>
          </c:dPt>
          <c:dPt>
            <c:idx val="2"/>
            <c:bubble3D val="0"/>
            <c:spPr>
              <a:solidFill>
                <a:srgbClr val="9CC3D1"/>
              </a:solidFill>
              <a:effectLst/>
            </c:spPr>
          </c:dPt>
          <c:dLbls>
            <c:dLbl>
              <c:idx val="0"/>
              <c:numFmt formatCode="General" sourceLinked="0"/>
              <c:spPr/>
              <c:txPr>
                <a:bodyPr/>
                <a:lstStyle/>
                <a:p>
                  <a:pPr>
                    <a:defRPr sz="1400" b="1" i="0" u="none" strike="noStrike">
                      <a:solidFill>
                        <a:srgbClr val="0A2A38"/>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0A2A38"/>
                      </a:solidFill>
                      <a:latin typeface="+mn-lt"/>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0A2A38"/>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Caught and proven</c:v>
                </c:pt>
                <c:pt idx="1">
                  <c:v>Held with no cause</c:v>
                </c:pt>
                <c:pt idx="2">
                  <c:v>Too small, published</c:v>
                </c:pt>
              </c:strCache>
            </c:strRef>
          </c:cat>
          <c:val>
            <c:numRef>
              <c:f>Sheet1!$B$2:$B$4</c:f>
              <c:numCache>
                <c:ptCount val="3"/>
                <c:pt idx="0">
                  <c:v>15</c:v>
                </c:pt>
                <c:pt idx="1">
                  <c:v>1</c:v>
                </c:pt>
                <c:pt idx="2">
                  <c:v>1</c:v>
                </c:pt>
              </c:numCache>
            </c:numRef>
          </c:val>
        </c:ser>
        <c:firstSliceAng val="0"/>
        <c:holeSize val="58"/>
      </c:doughnutChart>
      <c:spPr>
        <a:noFill/>
        <a:ln>
          <a:noFill/>
        </a:ln>
        <a:effectLst/>
      </c:spPr>
    </c:plotArea>
    <c:legend>
      <c:legendPos val="b"/>
      <c:overlay val="0"/>
      <c:txPr>
        <a:bodyPr/>
        <a:lstStyle/>
        <a:p>
          <a:pPr>
            <a:defRPr sz="1200">
              <a:solidFill>
                <a:srgbClr val="0A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A38"/>
                </a:solidFill>
                <a:latin typeface="+mn-lt"/>
              </a:defRPr>
            </a:pPr>
            <a:r>
              <a:rPr sz="1300" b="0" i="0" u="none" strike="noStrike">
                <a:solidFill>
                  <a:srgbClr val="0A2A38"/>
                </a:solidFill>
                <a:latin typeface="+mn-lt"/>
              </a:rPr>
              <a:t>Smallest share of rows still proven (shorter is better)</a:t>
            </a:r>
          </a:p>
        </c:rich>
      </c:tx>
      <c:layout/>
      <c:overlay val="0"/>
    </c:title>
    <c:autoTitleDeleted val="0"/>
    <c:plotArea>
      <c:layout/>
      <c:barChart>
        <c:barDir val="bar"/>
        <c:grouping val="clustered"/>
        <c:varyColors val="0"/>
        <c:ser>
          <c:idx val="0"/>
          <c:order val="0"/>
          <c:tx>
            <c:strRef>
              <c:f>Sheet1!$B$1</c:f>
              <c:strCache>
                <c:ptCount val="1"/>
                <c:pt idx="0">
                  <c:v>Before the fix</c:v>
                </c:pt>
              </c:strCache>
            </c:strRef>
          </c:tx>
          <c:spPr>
            <a:solidFill>
              <a:srgbClr val="E8772E"/>
            </a:solidFill>
            <a:effectLst/>
          </c:spPr>
          <c:invertIfNegative val="0"/>
          <c:dLbls>
            <c:numFmt formatCode="0&quot;%&quot;" sourceLinked="0"/>
            <c:txPr>
              <a:bodyPr/>
              <a:lstStyle/>
              <a:p>
                <a:pPr>
                  <a:defRPr b="0" i="0" strike="noStrike" sz="1100" u="none">
                    <a:solidFill>
                      <a:srgbClr val="0A2A38"/>
                    </a:solidFill>
                    <a:latin typeface="+mn-lt"/>
                  </a:defRPr>
                </a:pPr>
              </a:p>
            </c:txPr>
            <c:showLegendKey val="0"/>
            <c:showVal val="1"/>
            <c:showCatName val="0"/>
            <c:showSerName val="0"/>
            <c:showPercent val="0"/>
            <c:showBubbleSize val="0"/>
            <c:showLeaderLines val="0"/>
          </c:dLbls>
          <c:cat>
            <c:multiLvlStrRef>
              <c:f>Sheet1!$A$2:$A$6</c:f>
              <c:multiLvlStrCache>
                <c:ptCount val="5"/>
                <c:lvl>
                  <c:pt idx="0">
                    <c:v>Unit change x100</c:v>
                  </c:pt>
                  <c:pt idx="1">
                    <c:v>Rows loaded twice</c:v>
                  </c:pt>
                  <c:pt idx="2">
                    <c:v>Merchant fan-out</c:v>
                  </c:pt>
                  <c:pt idx="3">
                    <c:v>IST as UTC</c:v>
                  </c:pt>
                  <c:pt idx="4">
                    <c:v>New category code</c:v>
                  </c:pt>
                </c:lvl>
              </c:multiLvlStrCache>
            </c:multiLvlStrRef>
          </c:cat>
          <c:val>
            <c:numRef>
              <c:f>Sheet1!$B$2:$B$6</c:f>
              <c:numCache>
                <c:formatCode>General</c:formatCode>
                <c:ptCount val="5"/>
                <c:pt idx="0">
                  <c:v>100</c:v>
                </c:pt>
                <c:pt idx="1">
                  <c:v>2</c:v>
                </c:pt>
                <c:pt idx="2">
                  <c:v>2</c:v>
                </c:pt>
                <c:pt idx="3">
                  <c:v>100</c:v>
                </c:pt>
                <c:pt idx="4">
                  <c:v>5</c:v>
                </c:pt>
              </c:numCache>
            </c:numRef>
          </c:val>
        </c:ser>
        <c:ser>
          <c:idx val="1"/>
          <c:order val="1"/>
          <c:tx>
            <c:strRef>
              <c:f>Sheet1!$C$1</c:f>
              <c:strCache>
                <c:ptCount val="1"/>
                <c:pt idx="0">
                  <c:v>After the fix</c:v>
                </c:pt>
              </c:strCache>
            </c:strRef>
          </c:tx>
          <c:spPr>
            <a:solidFill>
              <a:srgbClr val="6AB541"/>
            </a:solidFill>
            <a:effectLst/>
          </c:spPr>
          <c:invertIfNegative val="0"/>
          <c:dLbls>
            <c:numFmt formatCode="0&quot;%&quot;" sourceLinked="0"/>
            <c:txPr>
              <a:bodyPr/>
              <a:lstStyle/>
              <a:p>
                <a:pPr>
                  <a:defRPr b="0" i="0" strike="noStrike" sz="1100" u="none">
                    <a:solidFill>
                      <a:srgbClr val="0A2A38"/>
                    </a:solidFill>
                    <a:latin typeface="+mn-lt"/>
                  </a:defRPr>
                </a:pPr>
              </a:p>
            </c:txPr>
            <c:showLegendKey val="0"/>
            <c:showVal val="1"/>
            <c:showCatName val="0"/>
            <c:showSerName val="0"/>
            <c:showPercent val="0"/>
            <c:showBubbleSize val="0"/>
            <c:showLeaderLines val="0"/>
          </c:dLbls>
          <c:cat>
            <c:multiLvlStrRef>
              <c:f>Sheet1!$A$2:$A$6</c:f>
              <c:multiLvlStrCache>
                <c:ptCount val="5"/>
                <c:lvl>
                  <c:pt idx="0">
                    <c:v>Unit change x100</c:v>
                  </c:pt>
                  <c:pt idx="1">
                    <c:v>Rows loaded twice</c:v>
                  </c:pt>
                  <c:pt idx="2">
                    <c:v>Merchant fan-out</c:v>
                  </c:pt>
                  <c:pt idx="3">
                    <c:v>IST as UTC</c:v>
                  </c:pt>
                  <c:pt idx="4">
                    <c:v>New category code</c:v>
                  </c:pt>
                </c:lvl>
              </c:multiLvlStrCache>
            </c:multiLvlStrRef>
          </c:cat>
          <c:val>
            <c:numRef>
              <c:f>Sheet1!$C$2:$C$6</c:f>
              <c:numCache>
                <c:formatCode>General</c:formatCode>
                <c:ptCount val="5"/>
                <c:pt idx="0">
                  <c:v>2</c:v>
                </c:pt>
                <c:pt idx="1">
                  <c:v>2</c:v>
                </c:pt>
                <c:pt idx="2">
                  <c:v>2</c:v>
                </c:pt>
                <c:pt idx="3">
                  <c:v>100</c:v>
                </c:pt>
                <c:pt idx="4">
                  <c:v>5</c:v>
                </c:pt>
              </c:numCache>
            </c:numRef>
          </c:val>
        </c:ser>
        <c:dLbls>
          <c:numFmt formatCode="0&quot;%&quot;" sourceLinked="0"/>
          <c:txPr>
            <a:bodyPr/>
            <a:lstStyle/>
            <a:p>
              <a:pPr>
                <a:defRPr b="0" i="0" strike="noStrike" sz="1100" u="none">
                  <a:solidFill>
                    <a:srgbClr val="0A2A3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A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A38"/>
                </a:solidFill>
                <a:latin typeface="+mn-lt"/>
              </a:defRPr>
            </a:pPr>
            <a:r>
              <a:rPr sz="1300" b="0" i="0" u="none" strike="noStrike">
                <a:solidFill>
                  <a:srgbClr val="0A2A38"/>
                </a:solidFill>
                <a:latin typeface="+mn-lt"/>
              </a:rPr>
              <a:t>Deliberately wrong corrections shown to the gate</a:t>
            </a:r>
          </a:p>
        </c:rich>
      </c:tx>
      <c:layout/>
      <c:overlay val="0"/>
    </c:title>
    <c:autoTitleDeleted val="0"/>
    <c:plotArea>
      <c:layout/>
      <c:barChart>
        <c:barDir val="col"/>
        <c:grouping val="clustered"/>
        <c:varyColors val="0"/>
        <c:ser>
          <c:idx val="0"/>
          <c:order val="0"/>
          <c:tx>
            <c:strRef>
              <c:f>Sheet1!$B$1</c:f>
              <c:strCache>
                <c:ptCount val="1"/>
                <c:pt idx="0">
                  <c:v>Wrong fixes tried</c:v>
                </c:pt>
              </c:strCache>
            </c:strRef>
          </c:tx>
          <c:spPr>
            <a:solidFill>
              <a:srgbClr val="5B7684"/>
            </a:solidFill>
            <a:effectLst/>
          </c:spPr>
          <c:invertIfNegative val="0"/>
          <c:dLbls>
            <c:numFmt formatCode="#,##0"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Sheet1!$A$2:$A$5</c:f>
              <c:multiLvlStrCache>
                <c:ptCount val="4"/>
                <c:lvl>
                  <c:pt idx="0">
                    <c:v>Wrong factor</c:v>
                  </c:pt>
                  <c:pt idx="1">
                    <c:v>Applied to every day</c:v>
                  </c:pt>
                  <c:pt idx="2">
                    <c:v>Wrong gateway</c:v>
                  </c:pt>
                  <c:pt idx="3">
                    <c:v>A different cause</c:v>
                  </c:pt>
                </c:lvl>
              </c:multiLvlStrCache>
            </c:multiLvlStrRef>
          </c:cat>
          <c:val>
            <c:numRef>
              <c:f>Sheet1!$B$2:$B$5</c:f>
              <c:numCache>
                <c:formatCode>General</c:formatCode>
                <c:ptCount val="4"/>
                <c:pt idx="0">
                  <c:v>10</c:v>
                </c:pt>
                <c:pt idx="1">
                  <c:v>5</c:v>
                </c:pt>
                <c:pt idx="2">
                  <c:v>30</c:v>
                </c:pt>
                <c:pt idx="3">
                  <c:v>190</c:v>
                </c:pt>
              </c:numCache>
            </c:numRef>
          </c:val>
        </c:ser>
        <c:ser>
          <c:idx val="1"/>
          <c:order val="1"/>
          <c:tx>
            <c:strRef>
              <c:f>Sheet1!$C$1</c:f>
              <c:strCache>
                <c:ptCount val="1"/>
                <c:pt idx="0">
                  <c:v>Rejected by the gate</c:v>
                </c:pt>
              </c:strCache>
            </c:strRef>
          </c:tx>
          <c:spPr>
            <a:solidFill>
              <a:srgbClr val="6AB541"/>
            </a:solidFill>
            <a:effectLst/>
          </c:spPr>
          <c:invertIfNegative val="0"/>
          <c:dLbls>
            <c:numFmt formatCode="#,##0"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Sheet1!$A$2:$A$5</c:f>
              <c:multiLvlStrCache>
                <c:ptCount val="4"/>
                <c:lvl>
                  <c:pt idx="0">
                    <c:v>Wrong factor</c:v>
                  </c:pt>
                  <c:pt idx="1">
                    <c:v>Applied to every day</c:v>
                  </c:pt>
                  <c:pt idx="2">
                    <c:v>Wrong gateway</c:v>
                  </c:pt>
                  <c:pt idx="3">
                    <c:v>A different cause</c:v>
                  </c:pt>
                </c:lvl>
              </c:multiLvlStrCache>
            </c:multiLvlStrRef>
          </c:cat>
          <c:val>
            <c:numRef>
              <c:f>Sheet1!$C$2:$C$5</c:f>
              <c:numCache>
                <c:formatCode>General</c:formatCode>
                <c:ptCount val="4"/>
                <c:pt idx="0">
                  <c:v>6</c:v>
                </c:pt>
                <c:pt idx="1">
                  <c:v>5</c:v>
                </c:pt>
                <c:pt idx="2">
                  <c:v>30</c:v>
                </c:pt>
                <c:pt idx="3">
                  <c:v>184</c:v>
                </c:pt>
              </c:numCache>
            </c:numRef>
          </c:val>
        </c:ser>
        <c:dLbls>
          <c:numFmt formatCode="#,##0"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2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A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A38"/>
                </a:solidFill>
                <a:latin typeface="+mn-lt"/>
              </a:defRPr>
            </a:pPr>
            <a:r>
              <a:rPr sz="1300" b="0" i="0" u="none" strike="noStrike">
                <a:solidFill>
                  <a:srgbClr val="0A2A38"/>
                </a:solidFill>
                <a:latin typeface="+mn-lt"/>
              </a:rPr>
              <a:t>Average basket, 16 held-out runs</a:t>
            </a:r>
          </a:p>
        </c:rich>
      </c:tx>
      <c:layout/>
      <c:overlay val="0"/>
    </c:title>
    <c:autoTitleDeleted val="0"/>
    <c:plotArea>
      <c:layout/>
      <c:barChart>
        <c:barDir val="col"/>
        <c:grouping val="clustered"/>
        <c:varyColors val="0"/>
        <c:ser>
          <c:idx val="0"/>
          <c:order val="0"/>
          <c:tx>
            <c:strRef>
              <c:f>Sheet1!$B$1</c:f>
              <c:strCache>
                <c:ptCount val="1"/>
                <c:pt idx="0">
                  <c:v>Before the fix</c:v>
                </c:pt>
              </c:strCache>
            </c:strRef>
          </c:tx>
          <c:spPr>
            <a:solidFill>
              <a:srgbClr val="E8772E"/>
            </a:solidFill>
            <a:effectLst/>
          </c:spPr>
          <c:invertIfNegative val="0"/>
          <c:dLbls>
            <c:numFmt formatCode="#,##0"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Sheet1!$A$2:$A$4</c:f>
              <c:multiLvlStrCache>
                <c:ptCount val="3"/>
                <c:lvl>
                  <c:pt idx="0">
                    <c:v>Held, right</c:v>
                  </c:pt>
                  <c:pt idx="1">
                    <c:v>Published, right</c:v>
                  </c:pt>
                  <c:pt idx="2">
                    <c:v>Published WRONG</c:v>
                  </c:pt>
                </c:lvl>
              </c:multiLvlStrCache>
            </c:multiLvlStrRef>
          </c:cat>
          <c:val>
            <c:numRef>
              <c:f>Sheet1!$B$2:$B$4</c:f>
              <c:numCache>
                <c:formatCode>General</c:formatCode>
                <c:ptCount val="3"/>
                <c:pt idx="0">
                  <c:v>8</c:v>
                </c:pt>
                <c:pt idx="1">
                  <c:v>2</c:v>
                </c:pt>
                <c:pt idx="2">
                  <c:v>6</c:v>
                </c:pt>
              </c:numCache>
            </c:numRef>
          </c:val>
        </c:ser>
        <c:ser>
          <c:idx val="1"/>
          <c:order val="1"/>
          <c:tx>
            <c:strRef>
              <c:f>Sheet1!$C$1</c:f>
              <c:strCache>
                <c:ptCount val="1"/>
                <c:pt idx="0">
                  <c:v>After the fix</c:v>
                </c:pt>
              </c:strCache>
            </c:strRef>
          </c:tx>
          <c:spPr>
            <a:solidFill>
              <a:srgbClr val="6AB541"/>
            </a:solidFill>
            <a:effectLst/>
          </c:spPr>
          <c:invertIfNegative val="0"/>
          <c:dLbls>
            <c:numFmt formatCode="#,##0"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cat>
            <c:multiLvlStrRef>
              <c:f>Sheet1!$A$2:$A$4</c:f>
              <c:multiLvlStrCache>
                <c:ptCount val="3"/>
                <c:lvl>
                  <c:pt idx="0">
                    <c:v>Held, right</c:v>
                  </c:pt>
                  <c:pt idx="1">
                    <c:v>Published, right</c:v>
                  </c:pt>
                  <c:pt idx="2">
                    <c:v>Published WRONG</c:v>
                  </c:pt>
                </c:lvl>
              </c:multiLvlStrCache>
            </c:multiLvlStrRef>
          </c:cat>
          <c:val>
            <c:numRef>
              <c:f>Sheet1!$C$2:$C$4</c:f>
              <c:numCache>
                <c:formatCode>General</c:formatCode>
                <c:ptCount val="3"/>
                <c:pt idx="0">
                  <c:v>14</c:v>
                </c:pt>
                <c:pt idx="1">
                  <c:v>2</c:v>
                </c:pt>
                <c:pt idx="2">
                  <c:v>0</c:v>
                </c:pt>
              </c:numCache>
            </c:numRef>
          </c:val>
        </c:ser>
        <c:dLbls>
          <c:numFmt formatCode="#,##0" sourceLinked="0"/>
          <c:txPr>
            <a:bodyPr/>
            <a:lstStyle/>
            <a:p>
              <a:pPr>
                <a:defRPr b="1" i="0" strike="noStrike" sz="1300" u="none">
                  <a:solidFill>
                    <a:srgbClr val="0A2A3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1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A2A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2A38"/>
                </a:solidFill>
                <a:latin typeface="+mn-lt"/>
              </a:defRPr>
            </a:pPr>
            <a:r>
              <a:rPr sz="1400" b="0" i="0" u="none" strike="noStrike">
                <a:solidFill>
                  <a:srgbClr val="0A2A38"/>
                </a:solidFill>
                <a:latin typeface="+mn-lt"/>
              </a:rPr>
              <a:t>Gate time, first run after a fresh load, IST case</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1C7293"/>
            </a:solidFill>
            <a:effectLst/>
          </c:spPr>
          <c:invertIfNegative val="0"/>
          <c:dLbls>
            <c:numFmt formatCode="0.0&quot; s&quot;" sourceLinked="0"/>
            <c:txPr>
              <a:bodyPr/>
              <a:lstStyle/>
              <a:p>
                <a:pPr>
                  <a:defRPr b="1" i="0" strike="noStrike" sz="1600" u="none">
                    <a:solidFill>
                      <a:srgbClr val="0A2A38"/>
                    </a:solidFill>
                    <a:latin typeface="+mn-lt"/>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1C7293"/>
              </a:solidFill>
              <a:effectLst/>
            </c:spPr>
          </c:dPt>
          <c:dPt>
            <c:idx val="3"/>
            <c:invertIfNegative val="0"/>
            <c:bubble3D val="0"/>
            <c:spPr>
              <a:solidFill>
                <a:srgbClr val="6AB541"/>
              </a:solidFill>
              <a:effectLst/>
            </c:spPr>
          </c:dPt>
          <c:cat>
            <c:multiLvlStrRef>
              <c:f>Sheet1!$A$2:$A$5</c:f>
              <c:multiLvlStrCache>
                <c:ptCount val="4"/>
                <c:lvl>
                  <c:pt idx="0">
                    <c:v>0.86M rows (20k a day)</c:v>
                  </c:pt>
                  <c:pt idx="1">
                    <c:v>4.3M rows (100k)</c:v>
                  </c:pt>
                  <c:pt idx="2">
                    <c:v>8.6M rows (200k)</c:v>
                  </c:pt>
                  <c:pt idx="3">
                    <c:v>17.3M rows (400k)</c:v>
                  </c:pt>
                </c:lvl>
              </c:multiLvlStrCache>
            </c:multiLvlStrRef>
          </c:cat>
          <c:val>
            <c:numRef>
              <c:f>Sheet1!$B$2:$B$5</c:f>
              <c:numCache>
                <c:formatCode>General</c:formatCode>
                <c:ptCount val="4"/>
                <c:pt idx="0">
                  <c:v>4.5</c:v>
                </c:pt>
                <c:pt idx="1">
                  <c:v>7.2</c:v>
                </c:pt>
                <c:pt idx="2">
                  <c:v>9</c:v>
                </c:pt>
                <c:pt idx="3">
                  <c:v>15.8</c:v>
                </c:pt>
              </c:numCache>
            </c:numRef>
          </c:val>
        </c:ser>
        <c:dLbls>
          <c:numFmt formatCode="0.0&quot; s&quot;" sourceLinked="0"/>
          <c:txPr>
            <a:bodyPr/>
            <a:lstStyle/>
            <a:p>
              <a:pPr>
                <a:defRPr b="1" i="0" strike="noStrike" sz="1600" u="none">
                  <a:solidFill>
                    <a:srgbClr val="0A2A3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A2A3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NT">
    <p:bg>
      <p:bgPr>
        <a:solidFill>
          <a:srgbClr val="0C3D51"/>
        </a:solidFill>
      </p:bgPr>
    </p:bg>
    <p:spTree>
      <p:nvGrpSpPr>
        <p:cNvPr id="1" name=""/>
        <p:cNvGrpSpPr/>
        <p:nvPr/>
      </p:nvGrpSpPr>
      <p:grpSpPr>
        <a:xfrm>
          <a:off x="0" y="0"/>
          <a:ext cx="0" cy="0"/>
          <a:chOff x="0" y="0"/>
          <a:chExt cx="0" cy="0"/>
        </a:xfrm>
      </p:grpSpPr>
      <p:sp>
        <p:nvSpPr>
          <p:cNvPr id="2" name="Text 0"/>
          <p:cNvSpPr txBox="1"/>
          <p:nvPr/>
        </p:nvSpPr>
        <p:spPr>
          <a:xfrm>
            <a:off x="548640" y="6437376"/>
            <a:ext cx="5486400" cy="256032"/>
          </a:xfrm>
          <a:prstGeom prst="rect">
            <a:avLst/>
          </a:prstGeom>
          <a:noFill/>
          <a:ln/>
        </p:spPr>
        <p:txBody>
          <a:bodyPr wrap="square" lIns="0" tIns="0" rIns="0" bIns="0" rtlCol="0" anchor="ctr"/>
          <a:lstStyle/>
          <a:p>
            <a:pPr indent="0" marL="0">
              <a:buNone/>
            </a:pPr>
            <a:r>
              <a:rPr lang="en-US" sz="1000" dirty="0">
                <a:solidFill>
                  <a:srgbClr val="9CC3D1"/>
                </a:solidFill>
              </a:rPr>
              <a:t>Receipts   |   ExaThon India 2026, Track 4</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C3D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C3D5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9601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txBox="1"/>
          <p:nvPr/>
        </p:nvSpPr>
        <p:spPr>
          <a:xfrm>
            <a:off x="548640" y="6437376"/>
            <a:ext cx="5486400" cy="256032"/>
          </a:xfrm>
          <a:prstGeom prst="rect">
            <a:avLst/>
          </a:prstGeom>
          <a:noFill/>
          <a:ln/>
        </p:spPr>
        <p:txBody>
          <a:bodyPr wrap="square" lIns="0" tIns="0" rIns="0" bIns="0" rtlCol="0" anchor="ctr"/>
          <a:lstStyle/>
          <a:p>
            <a:pPr indent="0" marL="0">
              <a:buNone/>
            </a:pPr>
            <a:r>
              <a:rPr lang="en-US" sz="1000" dirty="0">
                <a:solidFill>
                  <a:srgbClr val="9CC3D1"/>
                </a:solidFill>
              </a:rPr>
              <a:t>Receipts   |   ExaThon India 2026, Track 4</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C3D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EEF3F5"/>
        </a:solidFill>
      </p:bgPr>
    </p:bg>
    <p:spTree>
      <p:nvGrpSpPr>
        <p:cNvPr id="1" name=""/>
        <p:cNvGrpSpPr/>
        <p:nvPr/>
      </p:nvGrpSpPr>
      <p:grpSpPr>
        <a:xfrm>
          <a:off x="0" y="0"/>
          <a:ext cx="0" cy="0"/>
          <a:chOff x="0" y="0"/>
          <a:chExt cx="0" cy="0"/>
        </a:xfrm>
      </p:grpSpPr>
      <p:sp>
        <p:nvSpPr>
          <p:cNvPr id="2" name="Shape 0"/>
          <p:cNvSpPr/>
          <p:nvPr/>
        </p:nvSpPr>
        <p:spPr>
          <a:xfrm>
            <a:off x="0" y="0"/>
            <a:ext cx="12191695" cy="1298448"/>
          </a:xfrm>
          <a:prstGeom prst="rect">
            <a:avLst/>
          </a:prstGeom>
          <a:solidFill>
            <a:srgbClr val="0C3D51"/>
          </a:solidFill>
          <a:ln w="12700">
            <a:solidFill>
              <a:srgbClr val="0C3D51"/>
            </a:solidFill>
            <a:prstDash val="solid"/>
          </a:ln>
        </p:spPr>
      </p:sp>
      <p:sp>
        <p:nvSpPr>
          <p:cNvPr id="3" name="Shape 1"/>
          <p:cNvSpPr/>
          <p:nvPr/>
        </p:nvSpPr>
        <p:spPr>
          <a:xfrm>
            <a:off x="0" y="1298448"/>
            <a:ext cx="12191695" cy="54864"/>
          </a:xfrm>
          <a:prstGeom prst="rect">
            <a:avLst/>
          </a:prstGeom>
          <a:solidFill>
            <a:srgbClr val="6AB541"/>
          </a:solidFill>
          <a:ln w="12700">
            <a:solidFill>
              <a:srgbClr val="6AB541"/>
            </a:solidFill>
            <a:prstDash val="solid"/>
          </a:ln>
        </p:spPr>
      </p:sp>
      <p:sp>
        <p:nvSpPr>
          <p:cNvPr id="4" name="Text 2"/>
          <p:cNvSpPr/>
          <p:nvPr>
            <p:ph idx="102" type="title" hasCustomPrompt="1"/>
          </p:nvPr>
        </p:nvSpPr>
        <p:spPr>
          <a:xfrm>
            <a:off x="548640" y="384048"/>
            <a:ext cx="11064240" cy="9601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5" name="Text 2"/>
          <p:cNvSpPr txBox="1"/>
          <p:nvPr/>
        </p:nvSpPr>
        <p:spPr>
          <a:xfrm>
            <a:off x="548640" y="6437376"/>
            <a:ext cx="5486400" cy="256032"/>
          </a:xfrm>
          <a:prstGeom prst="rect">
            <a:avLst/>
          </a:prstGeom>
          <a:noFill/>
          <a:ln/>
        </p:spPr>
        <p:txBody>
          <a:bodyPr wrap="square" lIns="0" tIns="0" rIns="0" bIns="0" rtlCol="0" anchor="ctr"/>
          <a:lstStyle/>
          <a:p>
            <a:pPr indent="0" marL="0">
              <a:buNone/>
            </a:pPr>
            <a:r>
              <a:rPr lang="en-US" sz="1000" dirty="0">
                <a:solidFill>
                  <a:srgbClr val="5B7684"/>
                </a:solidFill>
              </a:rPr>
              <a:t>Receipts   |   ExaThon India 2026, Track 4</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C3D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6766560" cy="1371600"/>
          </a:xfrm>
          <a:prstGeom prst="rect">
            <a:avLst/>
          </a:prstGeom>
          <a:noFill/>
          <a:ln/>
        </p:spPr>
        <p:txBody>
          <a:bodyPr wrap="square" lIns="0" tIns="0" rIns="0" bIns="0" rtlCol="0" anchor="t"/>
          <a:lstStyle/>
          <a:p>
            <a:pPr indent="0" marL="0">
              <a:buNone/>
            </a:pPr>
            <a:r>
              <a:rPr lang="en-US" sz="8800" b="1" dirty="0">
                <a:solidFill>
                  <a:schemeClr val="bg1"/>
                </a:solidFill>
                <a:latin typeface="+mj-lt" pitchFamily="34" charset="0"/>
                <a:ea typeface="+mj-lt" pitchFamily="34" charset="-122"/>
                <a:cs typeface="+mj-lt" pitchFamily="34" charset="-120"/>
              </a:rPr>
              <a:t>Receipts</a:t>
            </a:r>
            <a:endParaRPr lang="en-US" sz="8800" dirty="0"/>
          </a:p>
        </p:txBody>
      </p:sp>
      <p:sp>
        <p:nvSpPr>
          <p:cNvPr id="3" name="Text 1"/>
          <p:cNvSpPr txBox="1"/>
          <p:nvPr/>
        </p:nvSpPr>
        <p:spPr>
          <a:xfrm>
            <a:off x="594360" y="2971800"/>
            <a:ext cx="6583680" cy="1737360"/>
          </a:xfrm>
          <a:prstGeom prst="rect">
            <a:avLst/>
          </a:prstGeom>
          <a:noFill/>
          <a:ln/>
        </p:spPr>
        <p:txBody>
          <a:bodyPr wrap="square" lIns="0" tIns="0" rIns="0" bIns="0" rtlCol="0" anchor="t"/>
          <a:lstStyle/>
          <a:p>
            <a:pPr indent="0" marL="0">
              <a:buNone/>
            </a:pPr>
            <a:r>
              <a:rPr lang="en-US" sz="2400" dirty="0">
                <a:solidFill>
                  <a:srgbClr val="DDE8EC"/>
                </a:solidFill>
              </a:rPr>
              <a:t>Hold the number.</a:t>
            </a:r>
            <a:endParaRPr lang="en-US" sz="2400" dirty="0"/>
          </a:p>
          <a:p>
            <a:pPr indent="0" marL="0">
              <a:buNone/>
            </a:pPr>
            <a:r>
              <a:rPr lang="en-US" sz="2400" dirty="0">
                <a:solidFill>
                  <a:srgbClr val="DDE8EC"/>
                </a:solidFill>
              </a:rPr>
              <a:t>Prove why it moved.</a:t>
            </a:r>
            <a:endParaRPr lang="en-US" sz="2400" dirty="0"/>
          </a:p>
          <a:p>
            <a:pPr indent="0" marL="0">
              <a:buNone/>
            </a:pPr>
            <a:r>
              <a:rPr lang="en-US" sz="2400" dirty="0">
                <a:solidFill>
                  <a:srgbClr val="DDE8EC"/>
                </a:solidFill>
              </a:rPr>
              <a:t>Tell people and AI agents whether to trust it.</a:t>
            </a:r>
            <a:endParaRPr lang="en-US" sz="2400" dirty="0"/>
          </a:p>
        </p:txBody>
      </p:sp>
      <p:sp>
        <p:nvSpPr>
          <p:cNvPr id="4" name="Text 2"/>
          <p:cNvSpPr txBox="1"/>
          <p:nvPr/>
        </p:nvSpPr>
        <p:spPr>
          <a:xfrm>
            <a:off x="594360" y="5120640"/>
            <a:ext cx="6766560" cy="320040"/>
          </a:xfrm>
          <a:prstGeom prst="rect">
            <a:avLst/>
          </a:prstGeom>
          <a:noFill/>
          <a:ln/>
        </p:spPr>
        <p:txBody>
          <a:bodyPr wrap="square" lIns="0" tIns="0" rIns="0" bIns="0" rtlCol="0" anchor="t"/>
          <a:lstStyle/>
          <a:p>
            <a:pPr indent="0" marL="0">
              <a:buNone/>
            </a:pPr>
            <a:r>
              <a:rPr lang="en-US" sz="1600" b="1" dirty="0">
                <a:solidFill>
                  <a:schemeClr val="accent1"/>
                </a:solidFill>
              </a:rPr>
              <a:t>ExaThon India 2026   |   Track 4: The Work Behind the Work</a:t>
            </a:r>
            <a:endParaRPr lang="en-US" sz="1600" dirty="0"/>
          </a:p>
        </p:txBody>
      </p:sp>
      <p:sp>
        <p:nvSpPr>
          <p:cNvPr id="5" name="Text 3"/>
          <p:cNvSpPr txBox="1"/>
          <p:nvPr/>
        </p:nvSpPr>
        <p:spPr>
          <a:xfrm>
            <a:off x="594360" y="5532120"/>
            <a:ext cx="6766560" cy="320040"/>
          </a:xfrm>
          <a:prstGeom prst="rect">
            <a:avLst/>
          </a:prstGeom>
          <a:noFill/>
          <a:ln/>
        </p:spPr>
        <p:txBody>
          <a:bodyPr wrap="square" lIns="0" tIns="0" rIns="0" bIns="0" rtlCol="0" anchor="t"/>
          <a:lstStyle/>
          <a:p>
            <a:pPr indent="0" marL="0">
              <a:buNone/>
            </a:pPr>
            <a:r>
              <a:rPr lang="en-US" sz="1400" dirty="0">
                <a:solidFill>
                  <a:srgbClr val="9CC3D1"/>
                </a:solidFill>
              </a:rPr>
              <a:t>Aakash Singh Mutum   |   github.com/AakashMutum/receipts</a:t>
            </a:r>
            <a:endParaRPr lang="en-US" sz="1400" dirty="0"/>
          </a:p>
        </p:txBody>
      </p:sp>
      <p:sp>
        <p:nvSpPr>
          <p:cNvPr id="6" name="!!card"/>
          <p:cNvSpPr/>
          <p:nvPr/>
        </p:nvSpPr>
        <p:spPr>
          <a:xfrm>
            <a:off x="7680960" y="822960"/>
            <a:ext cx="4023360" cy="5074920"/>
          </a:xfrm>
          <a:prstGeom prst="rect">
            <a:avLst/>
          </a:prstGeom>
          <a:solidFill>
            <a:schemeClr val="bg2"/>
          </a:solidFill>
          <a:ln w="12700">
            <a:solidFill>
              <a:srgbClr val="EEF3F5"/>
            </a:solidFill>
            <a:prstDash val="solid"/>
          </a:ln>
        </p:spPr>
      </p:sp>
      <p:pic>
        <p:nvPicPr>
          <p:cNvPr id="7" name="!!edge" descr="preencoded.png">    </p:cNvPr>
          <p:cNvPicPr>
            <a:picLocks noChangeAspect="1"/>
          </p:cNvPicPr>
          <p:nvPr/>
        </p:nvPicPr>
        <p:blipFill>
          <a:blip r:embed="rId1"/>
          <a:stretch>
            <a:fillRect/>
          </a:stretch>
        </p:blipFill>
        <p:spPr>
          <a:xfrm>
            <a:off x="7680960" y="5897880"/>
            <a:ext cx="4023360" cy="201168"/>
          </a:xfrm>
          <a:prstGeom prst="rect">
            <a:avLst/>
          </a:prstGeom>
        </p:spPr>
      </p:pic>
      <p:sp>
        <p:nvSpPr>
          <p:cNvPr id="8" name="Text 5"/>
          <p:cNvSpPr txBox="1"/>
          <p:nvPr/>
        </p:nvSpPr>
        <p:spPr>
          <a:xfrm>
            <a:off x="7955280" y="1097280"/>
            <a:ext cx="3474720" cy="32004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REVENUE  20 OCT 2026</a:t>
            </a:r>
            <a:endParaRPr lang="en-US" sz="1600" dirty="0"/>
          </a:p>
        </p:txBody>
      </p:sp>
      <p:sp>
        <p:nvSpPr>
          <p:cNvPr id="9" name="Text 6"/>
          <p:cNvSpPr txBox="1"/>
          <p:nvPr/>
        </p:nvSpPr>
        <p:spPr>
          <a:xfrm>
            <a:off x="7955280" y="1645920"/>
            <a:ext cx="3566160" cy="137160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pipeline says    2.69 crore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usual, 14 days   3.32 crore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normal range     3.12 to 3.53</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change           -19.2%</a:t>
            </a:r>
            <a:endParaRPr lang="en-US" sz="1400" dirty="0"/>
          </a:p>
        </p:txBody>
      </p:sp>
      <p:sp>
        <p:nvSpPr>
          <p:cNvPr id="10" name="Text 7"/>
          <p:cNvSpPr txBox="1"/>
          <p:nvPr/>
        </p:nvSpPr>
        <p:spPr>
          <a:xfrm>
            <a:off x="7955280" y="3337560"/>
            <a:ext cx="3566160" cy="137160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undo clock shift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-&gt; 3.21 crore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history  unchanged</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verdict  proven fault</a:t>
            </a:r>
            <a:endParaRPr lang="en-US" sz="1400" dirty="0"/>
          </a:p>
        </p:txBody>
      </p:sp>
      <p:sp>
        <p:nvSpPr>
          <p:cNvPr id="11" name="!!stamp"/>
          <p:cNvSpPr/>
          <p:nvPr/>
        </p:nvSpPr>
        <p:spPr>
          <a:xfrm rot="-480000">
            <a:off x="9281160" y="4663440"/>
            <a:ext cx="2103120" cy="777240"/>
          </a:xfrm>
          <a:prstGeom prst="roundRect">
            <a:avLst>
              <a:gd name="adj" fmla="val 5882"/>
            </a:avLst>
          </a:prstGeom>
          <a:solidFill>
            <a:schemeClr val="bg1">
              <a:alpha val="0"/>
            </a:schemeClr>
          </a:solidFill>
          <a:ln w="38100">
            <a:solidFill>
              <a:schemeClr val="accent2"/>
            </a:solidFill>
            <a:prstDash val="solid"/>
          </a:ln>
        </p:spPr>
      </p:sp>
      <p:sp>
        <p:nvSpPr>
          <p:cNvPr id="12" name="!!stampt"/>
          <p:cNvSpPr txBox="1"/>
          <p:nvPr/>
        </p:nvSpPr>
        <p:spPr>
          <a:xfrm rot="-480000">
            <a:off x="9281160" y="4663440"/>
            <a:ext cx="2103120" cy="777240"/>
          </a:xfrm>
          <a:prstGeom prst="rect">
            <a:avLst/>
          </a:prstGeom>
          <a:noFill/>
          <a:ln/>
        </p:spPr>
        <p:txBody>
          <a:bodyPr wrap="square" lIns="0" tIns="0" rIns="0" bIns="0" rtlCol="0" anchor="ctr"/>
          <a:lstStyle/>
          <a:p>
            <a:pPr algn="ctr" indent="0" marL="0">
              <a:buNone/>
            </a:pPr>
            <a:r>
              <a:rPr lang="en-US" sz="2800" b="1" dirty="0">
                <a:solidFill>
                  <a:schemeClr val="accent2"/>
                </a:solidFill>
              </a:rPr>
              <a:t>HELD</a:t>
            </a:r>
            <a:endParaRPr lang="en-US" sz="28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C3D1"/>
                </a:solidFill>
              </a:defRPr>
            </a:lvl1pPr>
          </a:lstStyle>
          <a:p>
            <a:pPr algn="l"/>
            <a:fld id="{F7021451-1387-4CA6-816F-3879F97B5CBC}" type="slidenum">
              <a:rPr b="0" lang="en-US"/>
              <a:t>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097280"/>
            <a:ext cx="8412480" cy="265176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A finance analyst at an Indian fintech marketplace can't tell whether a sudden change in daily revenue is real or a silent data bug, because the number passes through several tables and every check says green.</a:t>
            </a:r>
            <a:endParaRPr lang="en-US" sz="3000" dirty="0"/>
          </a:p>
        </p:txBody>
      </p:sp>
      <p:sp>
        <p:nvSpPr>
          <p:cNvPr id="3" name="Text 1"/>
          <p:cNvSpPr txBox="1"/>
          <p:nvPr/>
        </p:nvSpPr>
        <p:spPr>
          <a:xfrm>
            <a:off x="548640" y="3977640"/>
            <a:ext cx="7863840" cy="1280160"/>
          </a:xfrm>
          <a:prstGeom prst="rect">
            <a:avLst/>
          </a:prstGeom>
          <a:noFill/>
          <a:ln/>
        </p:spPr>
        <p:txBody>
          <a:bodyPr wrap="square" lIns="0" tIns="0" rIns="0" bIns="0" rtlCol="0" anchor="t"/>
          <a:lstStyle/>
          <a:p>
            <a:pPr indent="0" marL="0">
              <a:buNone/>
            </a:pPr>
            <a:r>
              <a:rPr lang="en-US" sz="2400" dirty="0">
                <a:solidFill>
                  <a:schemeClr val="accent1"/>
                </a:solidFill>
              </a:rPr>
              <a:t>If this worked, she'd know within minutes which upstream fault caused it, with proof, instead of guessing for two days.</a:t>
            </a:r>
            <a:endParaRPr lang="en-US" sz="2400" dirty="0"/>
          </a:p>
        </p:txBody>
      </p:sp>
      <p:sp>
        <p:nvSpPr>
          <p:cNvPr id="4" name="Text 2"/>
          <p:cNvSpPr txBox="1"/>
          <p:nvPr/>
        </p:nvSpPr>
        <p:spPr>
          <a:xfrm>
            <a:off x="548640" y="5577840"/>
            <a:ext cx="5486400" cy="274320"/>
          </a:xfrm>
          <a:prstGeom prst="rect">
            <a:avLst/>
          </a:prstGeom>
          <a:noFill/>
          <a:ln/>
        </p:spPr>
        <p:txBody>
          <a:bodyPr wrap="square" lIns="0" tIns="0" rIns="0" bIns="0" rtlCol="0" anchor="t"/>
          <a:lstStyle/>
          <a:p>
            <a:pPr indent="0" marL="0">
              <a:buNone/>
            </a:pPr>
            <a:r>
              <a:rPr lang="en-US" sz="1200" dirty="0">
                <a:solidFill>
                  <a:srgbClr val="9CC3D1"/>
                </a:solidFill>
              </a:rPr>
              <a:t>Problem statement for ExaThon India 2026</a:t>
            </a:r>
            <a:endParaRPr lang="en-US" sz="1200" dirty="0"/>
          </a:p>
        </p:txBody>
      </p:sp>
      <p:sp>
        <p:nvSpPr>
          <p:cNvPr id="5" name="!!card"/>
          <p:cNvSpPr/>
          <p:nvPr/>
        </p:nvSpPr>
        <p:spPr>
          <a:xfrm>
            <a:off x="9418320" y="4297680"/>
            <a:ext cx="2194560" cy="1737360"/>
          </a:xfrm>
          <a:prstGeom prst="rect">
            <a:avLst/>
          </a:prstGeom>
          <a:solidFill>
            <a:schemeClr val="bg2"/>
          </a:solidFill>
          <a:ln w="12700">
            <a:solidFill>
              <a:srgbClr val="EEF3F5"/>
            </a:solidFill>
            <a:prstDash val="solid"/>
          </a:ln>
        </p:spPr>
      </p:sp>
      <p:pic>
        <p:nvPicPr>
          <p:cNvPr id="6" name="!!edge" descr="preencoded.png">    </p:cNvPr>
          <p:cNvPicPr>
            <a:picLocks noChangeAspect="1"/>
          </p:cNvPicPr>
          <p:nvPr/>
        </p:nvPicPr>
        <p:blipFill>
          <a:blip r:embed="rId1"/>
          <a:stretch>
            <a:fillRect/>
          </a:stretch>
        </p:blipFill>
        <p:spPr>
          <a:xfrm>
            <a:off x="9418320" y="6035040"/>
            <a:ext cx="2194560" cy="109728"/>
          </a:xfrm>
          <a:prstGeom prst="rect">
            <a:avLst/>
          </a:prstGeom>
        </p:spPr>
      </p:pic>
      <p:sp>
        <p:nvSpPr>
          <p:cNvPr id="7" name="!!stamp"/>
          <p:cNvSpPr/>
          <p:nvPr/>
        </p:nvSpPr>
        <p:spPr>
          <a:xfrm rot="-480000">
            <a:off x="9646920" y="4892040"/>
            <a:ext cx="1737360" cy="548640"/>
          </a:xfrm>
          <a:prstGeom prst="roundRect">
            <a:avLst>
              <a:gd name="adj" fmla="val 8333"/>
            </a:avLst>
          </a:prstGeom>
          <a:solidFill>
            <a:schemeClr val="bg1">
              <a:alpha val="0"/>
            </a:schemeClr>
          </a:solidFill>
          <a:ln w="38100">
            <a:solidFill>
              <a:schemeClr val="accent2"/>
            </a:solidFill>
            <a:prstDash val="solid"/>
          </a:ln>
        </p:spPr>
      </p:sp>
      <p:sp>
        <p:nvSpPr>
          <p:cNvPr id="8" name="!!stampt"/>
          <p:cNvSpPr txBox="1"/>
          <p:nvPr/>
        </p:nvSpPr>
        <p:spPr>
          <a:xfrm rot="-480000">
            <a:off x="9646920" y="4892040"/>
            <a:ext cx="1737360" cy="548640"/>
          </a:xfrm>
          <a:prstGeom prst="rect">
            <a:avLst/>
          </a:prstGeom>
          <a:noFill/>
          <a:ln/>
        </p:spPr>
        <p:txBody>
          <a:bodyPr wrap="square" lIns="0" tIns="0" rIns="0" bIns="0" rtlCol="0" anchor="ctr"/>
          <a:lstStyle/>
          <a:p>
            <a:pPr algn="ctr" indent="0" marL="0">
              <a:buNone/>
            </a:pPr>
            <a:r>
              <a:rPr lang="en-US" sz="1800" b="1" dirty="0">
                <a:solidFill>
                  <a:schemeClr val="accent2"/>
                </a:solidFill>
              </a:rPr>
              <a:t>HELD</a:t>
            </a:r>
            <a:endParaRPr lang="en-US" sz="18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C3D1"/>
                </a:solidFill>
              </a:defRPr>
            </a:lvl1pPr>
          </a:lstStyle>
          <a:p>
            <a:pPr algn="l"/>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Bad numbers cost days, and the business notices first</a:t>
            </a:r>
            <a:endParaRPr lang="en-US" sz="3400" dirty="0"/>
          </a:p>
        </p:txBody>
      </p:sp>
      <p:sp>
        <p:nvSpPr>
          <p:cNvPr id="3" name="Shape 1"/>
          <p:cNvSpPr/>
          <p:nvPr/>
        </p:nvSpPr>
        <p:spPr>
          <a:xfrm>
            <a:off x="548640" y="1691640"/>
            <a:ext cx="2606040" cy="2743200"/>
          </a:xfrm>
          <a:prstGeom prst="roundRect">
            <a:avLst>
              <a:gd name="adj" fmla="val 28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49808" y="1828800"/>
            <a:ext cx="2240280" cy="868680"/>
          </a:xfrm>
          <a:prstGeom prst="rect">
            <a:avLst/>
          </a:prstGeom>
          <a:noFill/>
          <a:ln/>
        </p:spPr>
        <p:txBody>
          <a:bodyPr wrap="square" lIns="0" tIns="0" rIns="0" bIns="0" rtlCol="0" anchor="t"/>
          <a:lstStyle/>
          <a:p>
            <a:pPr indent="0" marL="0">
              <a:buNone/>
            </a:pPr>
            <a:r>
              <a:rPr lang="en-US" sz="4800" b="1" dirty="0">
                <a:solidFill>
                  <a:schemeClr val="accent3"/>
                </a:solidFill>
                <a:latin typeface="+mj-lt" pitchFamily="34" charset="0"/>
                <a:ea typeface="+mj-lt" pitchFamily="34" charset="-122"/>
                <a:cs typeface="+mj-lt" pitchFamily="34" charset="-120"/>
              </a:rPr>
              <a:t>$12.9M</a:t>
            </a:r>
            <a:endParaRPr lang="en-US" sz="4800" dirty="0"/>
          </a:p>
        </p:txBody>
      </p:sp>
      <p:sp>
        <p:nvSpPr>
          <p:cNvPr id="5" name="Text 3"/>
          <p:cNvSpPr txBox="1"/>
          <p:nvPr/>
        </p:nvSpPr>
        <p:spPr>
          <a:xfrm>
            <a:off x="749808" y="2788920"/>
            <a:ext cx="2240280" cy="1234440"/>
          </a:xfrm>
          <a:prstGeom prst="rect">
            <a:avLst/>
          </a:prstGeom>
          <a:noFill/>
          <a:ln/>
        </p:spPr>
        <p:txBody>
          <a:bodyPr wrap="square" lIns="0" tIns="0" rIns="0" bIns="0" rtlCol="0" anchor="t"/>
          <a:lstStyle/>
          <a:p>
            <a:pPr indent="0" marL="0">
              <a:buNone/>
            </a:pPr>
            <a:r>
              <a:rPr lang="en-US" sz="1400" dirty="0">
                <a:solidFill>
                  <a:schemeClr val="tx1"/>
                </a:solidFill>
              </a:rPr>
              <a:t>average yearly cost of poor data quality per organisation, at least</a:t>
            </a:r>
            <a:endParaRPr lang="en-US" sz="1400" dirty="0"/>
          </a:p>
        </p:txBody>
      </p:sp>
      <p:sp>
        <p:nvSpPr>
          <p:cNvPr id="6" name="Text 4"/>
          <p:cNvSpPr txBox="1"/>
          <p:nvPr/>
        </p:nvSpPr>
        <p:spPr>
          <a:xfrm>
            <a:off x="749808" y="4069080"/>
            <a:ext cx="914400" cy="228600"/>
          </a:xfrm>
          <a:prstGeom prst="rect">
            <a:avLst/>
          </a:prstGeom>
          <a:noFill/>
          <a:ln/>
        </p:spPr>
        <p:txBody>
          <a:bodyPr wrap="square" lIns="0" tIns="0" rIns="0" bIns="0" rtlCol="0" anchor="t"/>
          <a:lstStyle/>
          <a:p>
            <a:pPr indent="0" marL="0">
              <a:buNone/>
            </a:pPr>
            <a:r>
              <a:rPr lang="en-US" sz="1100" dirty="0">
                <a:solidFill>
                  <a:srgbClr val="5B7684"/>
                </a:solidFill>
              </a:rPr>
              <a:t>[1]</a:t>
            </a:r>
            <a:endParaRPr lang="en-US" sz="1100" dirty="0"/>
          </a:p>
        </p:txBody>
      </p:sp>
      <p:sp>
        <p:nvSpPr>
          <p:cNvPr id="7" name="Shape 5"/>
          <p:cNvSpPr/>
          <p:nvPr/>
        </p:nvSpPr>
        <p:spPr>
          <a:xfrm>
            <a:off x="3364992" y="1691640"/>
            <a:ext cx="2606040" cy="2743200"/>
          </a:xfrm>
          <a:prstGeom prst="roundRect">
            <a:avLst>
              <a:gd name="adj" fmla="val 28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3566160" y="1828800"/>
            <a:ext cx="2240280" cy="868680"/>
          </a:xfrm>
          <a:prstGeom prst="rect">
            <a:avLst/>
          </a:prstGeom>
          <a:noFill/>
          <a:ln/>
        </p:spPr>
        <p:txBody>
          <a:bodyPr wrap="square" lIns="0" tIns="0" rIns="0" bIns="0" rtlCol="0" anchor="t"/>
          <a:lstStyle/>
          <a:p>
            <a:pPr indent="0" marL="0">
              <a:buNone/>
            </a:pPr>
            <a:r>
              <a:rPr lang="en-US" sz="4800" b="1" dirty="0">
                <a:solidFill>
                  <a:schemeClr val="accent2"/>
                </a:solidFill>
                <a:latin typeface="+mj-lt" pitchFamily="34" charset="0"/>
                <a:ea typeface="+mj-lt" pitchFamily="34" charset="-122"/>
                <a:cs typeface="+mj-lt" pitchFamily="34" charset="-120"/>
              </a:rPr>
              <a:t>15 h</a:t>
            </a:r>
            <a:endParaRPr lang="en-US" sz="4800" dirty="0"/>
          </a:p>
        </p:txBody>
      </p:sp>
      <p:sp>
        <p:nvSpPr>
          <p:cNvPr id="9" name="Text 7"/>
          <p:cNvSpPr txBox="1"/>
          <p:nvPr/>
        </p:nvSpPr>
        <p:spPr>
          <a:xfrm>
            <a:off x="3566160" y="2788920"/>
            <a:ext cx="2240280" cy="1234440"/>
          </a:xfrm>
          <a:prstGeom prst="rect">
            <a:avLst/>
          </a:prstGeom>
          <a:noFill/>
          <a:ln/>
        </p:spPr>
        <p:txBody>
          <a:bodyPr wrap="square" lIns="0" tIns="0" rIns="0" bIns="0" rtlCol="0" anchor="t"/>
          <a:lstStyle/>
          <a:p>
            <a:pPr indent="0" marL="0">
              <a:buNone/>
            </a:pPr>
            <a:r>
              <a:rPr lang="en-US" sz="1400" dirty="0">
                <a:solidFill>
                  <a:schemeClr val="tx1"/>
                </a:solidFill>
              </a:rPr>
              <a:t>average time to resolve one data incident, up 166% in a year</a:t>
            </a:r>
            <a:endParaRPr lang="en-US" sz="1400" dirty="0"/>
          </a:p>
        </p:txBody>
      </p:sp>
      <p:sp>
        <p:nvSpPr>
          <p:cNvPr id="10" name="Text 8"/>
          <p:cNvSpPr txBox="1"/>
          <p:nvPr/>
        </p:nvSpPr>
        <p:spPr>
          <a:xfrm>
            <a:off x="3566160" y="4069080"/>
            <a:ext cx="914400" cy="228600"/>
          </a:xfrm>
          <a:prstGeom prst="rect">
            <a:avLst/>
          </a:prstGeom>
          <a:noFill/>
          <a:ln/>
        </p:spPr>
        <p:txBody>
          <a:bodyPr wrap="square" lIns="0" tIns="0" rIns="0" bIns="0" rtlCol="0" anchor="t"/>
          <a:lstStyle/>
          <a:p>
            <a:pPr indent="0" marL="0">
              <a:buNone/>
            </a:pPr>
            <a:r>
              <a:rPr lang="en-US" sz="1100" dirty="0">
                <a:solidFill>
                  <a:srgbClr val="5B7684"/>
                </a:solidFill>
              </a:rPr>
              <a:t>[2]</a:t>
            </a:r>
            <a:endParaRPr lang="en-US" sz="1100" dirty="0"/>
          </a:p>
        </p:txBody>
      </p:sp>
      <p:sp>
        <p:nvSpPr>
          <p:cNvPr id="11" name="Shape 9"/>
          <p:cNvSpPr/>
          <p:nvPr/>
        </p:nvSpPr>
        <p:spPr>
          <a:xfrm>
            <a:off x="6181344" y="1691640"/>
            <a:ext cx="2606040" cy="2743200"/>
          </a:xfrm>
          <a:prstGeom prst="roundRect">
            <a:avLst>
              <a:gd name="adj" fmla="val 28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6382512" y="1828800"/>
            <a:ext cx="2240280" cy="868680"/>
          </a:xfrm>
          <a:prstGeom prst="rect">
            <a:avLst/>
          </a:prstGeom>
          <a:noFill/>
          <a:ln/>
        </p:spPr>
        <p:txBody>
          <a:bodyPr wrap="square" lIns="0" tIns="0" rIns="0" bIns="0" rtlCol="0" anchor="t"/>
          <a:lstStyle/>
          <a:p>
            <a:pPr indent="0" marL="0">
              <a:buNone/>
            </a:pPr>
            <a:r>
              <a:rPr lang="en-US" sz="4800" b="1" dirty="0">
                <a:solidFill>
                  <a:schemeClr val="accent2"/>
                </a:solidFill>
                <a:latin typeface="+mj-lt" pitchFamily="34" charset="0"/>
                <a:ea typeface="+mj-lt" pitchFamily="34" charset="-122"/>
                <a:cs typeface="+mj-lt" pitchFamily="34" charset="-120"/>
              </a:rPr>
              <a:t>74%</a:t>
            </a:r>
            <a:endParaRPr lang="en-US" sz="4800" dirty="0"/>
          </a:p>
        </p:txBody>
      </p:sp>
      <p:sp>
        <p:nvSpPr>
          <p:cNvPr id="13" name="Text 11"/>
          <p:cNvSpPr txBox="1"/>
          <p:nvPr/>
        </p:nvSpPr>
        <p:spPr>
          <a:xfrm>
            <a:off x="6382512" y="2788920"/>
            <a:ext cx="2240280" cy="1234440"/>
          </a:xfrm>
          <a:prstGeom prst="rect">
            <a:avLst/>
          </a:prstGeom>
          <a:noFill/>
          <a:ln/>
        </p:spPr>
        <p:txBody>
          <a:bodyPr wrap="square" lIns="0" tIns="0" rIns="0" bIns="0" rtlCol="0" anchor="t"/>
          <a:lstStyle/>
          <a:p>
            <a:pPr indent="0" marL="0">
              <a:buNone/>
            </a:pPr>
            <a:r>
              <a:rPr lang="en-US" sz="1400" dirty="0">
                <a:solidFill>
                  <a:schemeClr val="tx1"/>
                </a:solidFill>
              </a:rPr>
              <a:t>of data professionals say the business usually finds data issues before the data team does</a:t>
            </a:r>
            <a:endParaRPr lang="en-US" sz="1400" dirty="0"/>
          </a:p>
        </p:txBody>
      </p:sp>
      <p:sp>
        <p:nvSpPr>
          <p:cNvPr id="14" name="Text 12"/>
          <p:cNvSpPr txBox="1"/>
          <p:nvPr/>
        </p:nvSpPr>
        <p:spPr>
          <a:xfrm>
            <a:off x="6382512" y="4069080"/>
            <a:ext cx="914400" cy="228600"/>
          </a:xfrm>
          <a:prstGeom prst="rect">
            <a:avLst/>
          </a:prstGeom>
          <a:noFill/>
          <a:ln/>
        </p:spPr>
        <p:txBody>
          <a:bodyPr wrap="square" lIns="0" tIns="0" rIns="0" bIns="0" rtlCol="0" anchor="t"/>
          <a:lstStyle/>
          <a:p>
            <a:pPr indent="0" marL="0">
              <a:buNone/>
            </a:pPr>
            <a:r>
              <a:rPr lang="en-US" sz="1100" dirty="0">
                <a:solidFill>
                  <a:srgbClr val="5B7684"/>
                </a:solidFill>
              </a:rPr>
              <a:t>[2]</a:t>
            </a:r>
            <a:endParaRPr lang="en-US" sz="1100" dirty="0"/>
          </a:p>
        </p:txBody>
      </p:sp>
      <p:sp>
        <p:nvSpPr>
          <p:cNvPr id="15" name="Shape 13"/>
          <p:cNvSpPr/>
          <p:nvPr/>
        </p:nvSpPr>
        <p:spPr>
          <a:xfrm>
            <a:off x="8997696" y="1691640"/>
            <a:ext cx="2606040" cy="2743200"/>
          </a:xfrm>
          <a:prstGeom prst="roundRect">
            <a:avLst>
              <a:gd name="adj" fmla="val 28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9198864" y="1828800"/>
            <a:ext cx="2240280" cy="868680"/>
          </a:xfrm>
          <a:prstGeom prst="rect">
            <a:avLst/>
          </a:prstGeom>
          <a:noFill/>
          <a:ln/>
        </p:spPr>
        <p:txBody>
          <a:bodyPr wrap="square" lIns="0" tIns="0" rIns="0" bIns="0" rtlCol="0" anchor="t"/>
          <a:lstStyle/>
          <a:p>
            <a:pPr indent="0" marL="0">
              <a:buNone/>
            </a:pPr>
            <a:r>
              <a:rPr lang="en-US" sz="4800" b="1" dirty="0">
                <a:solidFill>
                  <a:schemeClr val="accent3"/>
                </a:solidFill>
                <a:latin typeface="+mj-lt" pitchFamily="34" charset="0"/>
                <a:ea typeface="+mj-lt" pitchFamily="34" charset="-122"/>
                <a:cs typeface="+mj-lt" pitchFamily="34" charset="-120"/>
              </a:rPr>
              <a:t>31%</a:t>
            </a:r>
            <a:endParaRPr lang="en-US" sz="4800" dirty="0"/>
          </a:p>
        </p:txBody>
      </p:sp>
      <p:sp>
        <p:nvSpPr>
          <p:cNvPr id="17" name="Text 15"/>
          <p:cNvSpPr txBox="1"/>
          <p:nvPr/>
        </p:nvSpPr>
        <p:spPr>
          <a:xfrm>
            <a:off x="9198864" y="2788920"/>
            <a:ext cx="2240280" cy="1234440"/>
          </a:xfrm>
          <a:prstGeom prst="rect">
            <a:avLst/>
          </a:prstGeom>
          <a:noFill/>
          <a:ln/>
        </p:spPr>
        <p:txBody>
          <a:bodyPr wrap="square" lIns="0" tIns="0" rIns="0" bIns="0" rtlCol="0" anchor="t"/>
          <a:lstStyle/>
          <a:p>
            <a:pPr indent="0" marL="0">
              <a:buNone/>
            </a:pPr>
            <a:r>
              <a:rPr lang="en-US" sz="1400" dirty="0">
                <a:solidFill>
                  <a:schemeClr val="tx1"/>
                </a:solidFill>
              </a:rPr>
              <a:t>of revenue affected by data quality issues, the average of respondents' own estimates</a:t>
            </a:r>
            <a:endParaRPr lang="en-US" sz="1400" dirty="0"/>
          </a:p>
        </p:txBody>
      </p:sp>
      <p:sp>
        <p:nvSpPr>
          <p:cNvPr id="18" name="Text 16"/>
          <p:cNvSpPr txBox="1"/>
          <p:nvPr/>
        </p:nvSpPr>
        <p:spPr>
          <a:xfrm>
            <a:off x="9198864" y="4069080"/>
            <a:ext cx="914400" cy="228600"/>
          </a:xfrm>
          <a:prstGeom prst="rect">
            <a:avLst/>
          </a:prstGeom>
          <a:noFill/>
          <a:ln/>
        </p:spPr>
        <p:txBody>
          <a:bodyPr wrap="square" lIns="0" tIns="0" rIns="0" bIns="0" rtlCol="0" anchor="t"/>
          <a:lstStyle/>
          <a:p>
            <a:pPr indent="0" marL="0">
              <a:buNone/>
            </a:pPr>
            <a:r>
              <a:rPr lang="en-US" sz="1100" dirty="0">
                <a:solidFill>
                  <a:srgbClr val="5B7684"/>
                </a:solidFill>
              </a:rPr>
              <a:t>[2]</a:t>
            </a:r>
            <a:endParaRPr lang="en-US" sz="1100" dirty="0"/>
          </a:p>
        </p:txBody>
      </p:sp>
      <p:sp>
        <p:nvSpPr>
          <p:cNvPr id="19" name="Text 17"/>
          <p:cNvSpPr txBox="1"/>
          <p:nvPr/>
        </p:nvSpPr>
        <p:spPr>
          <a:xfrm>
            <a:off x="548640" y="4663440"/>
            <a:ext cx="11064240" cy="914400"/>
          </a:xfrm>
          <a:prstGeom prst="rect">
            <a:avLst/>
          </a:prstGeom>
          <a:noFill/>
          <a:ln/>
        </p:spPr>
        <p:txBody>
          <a:bodyPr wrap="square" lIns="0" tIns="0" rIns="0" bIns="0" rtlCol="0" anchor="t"/>
          <a:lstStyle/>
          <a:p>
            <a:pPr indent="0" marL="0">
              <a:buNone/>
            </a:pPr>
            <a:r>
              <a:rPr lang="en-US" sz="1400" dirty="0">
                <a:solidFill>
                  <a:schemeClr val="tx1"/>
                </a:solidFill>
              </a:rPr>
              <a:t>How to read these. [2] is a Wakefield Research survey of 200 data professionals, run for Monte Carlo (a data observability vendor) in March 2023. The figures are self-reported, not audited. [1] is the figure Gartner's own page attributes to Gartner research from 2020. In an earlier survey of 300 professionals, 40% of their time went to checking data quality [3]. We use these to size the problem, not to promise a saving.</a:t>
            </a:r>
            <a:endParaRPr lang="en-US" sz="1400" dirty="0"/>
          </a:p>
        </p:txBody>
      </p:sp>
      <p:sp>
        <p:nvSpPr>
          <p:cNvPr id="20" name="Text 18"/>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Receipts goes after the diagnosis step: which upstream fault moved the number, with proof.</a:t>
            </a:r>
            <a:endParaRPr lang="en-US" sz="18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Every check says green, and the number is still wrong</a:t>
            </a:r>
            <a:endParaRPr lang="en-US" sz="3400" dirty="0"/>
          </a:p>
        </p:txBody>
      </p:sp>
      <p:sp>
        <p:nvSpPr>
          <p:cNvPr id="3" name="Shape 1"/>
          <p:cNvSpPr/>
          <p:nvPr/>
        </p:nvSpPr>
        <p:spPr>
          <a:xfrm>
            <a:off x="548640" y="1691640"/>
            <a:ext cx="3566160" cy="2011680"/>
          </a:xfrm>
          <a:prstGeom prst="roundRect">
            <a:avLst>
              <a:gd name="adj" fmla="val 363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49808" y="1892808"/>
            <a:ext cx="1920240"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Paise as rupees</a:t>
            </a:r>
            <a:endParaRPr lang="en-US" sz="1800" dirty="0"/>
          </a:p>
        </p:txBody>
      </p:sp>
      <p:sp>
        <p:nvSpPr>
          <p:cNvPr id="5" name="Text 3"/>
          <p:cNvSpPr txBox="1"/>
          <p:nvPr/>
        </p:nvSpPr>
        <p:spPr>
          <a:xfrm>
            <a:off x="2697480" y="1874520"/>
            <a:ext cx="123444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mj-lt" pitchFamily="34" charset="0"/>
                <a:ea typeface="+mj-lt" pitchFamily="34" charset="-122"/>
                <a:cs typeface="+mj-lt" pitchFamily="34" charset="-120"/>
              </a:rPr>
              <a:t>+447%</a:t>
            </a:r>
            <a:endParaRPr lang="en-US" sz="2400" dirty="0"/>
          </a:p>
        </p:txBody>
      </p:sp>
      <p:sp>
        <p:nvSpPr>
          <p:cNvPr id="6" name="Text 4"/>
          <p:cNvSpPr txBox="1"/>
          <p:nvPr/>
        </p:nvSpPr>
        <p:spPr>
          <a:xfrm>
            <a:off x="749808" y="2560320"/>
            <a:ext cx="3154680" cy="1005840"/>
          </a:xfrm>
          <a:prstGeom prst="rect">
            <a:avLst/>
          </a:prstGeom>
          <a:noFill/>
          <a:ln/>
        </p:spPr>
        <p:txBody>
          <a:bodyPr wrap="square" lIns="0" tIns="0" rIns="0" bIns="0" rtlCol="0" anchor="t"/>
          <a:lstStyle/>
          <a:p>
            <a:pPr indent="0" marL="0">
              <a:buNone/>
            </a:pPr>
            <a:r>
              <a:rPr lang="en-US" sz="1400" dirty="0">
                <a:solidFill>
                  <a:schemeClr val="tx1"/>
                </a:solidFill>
              </a:rPr>
              <a:t>A gateway sends amounts in paise. No nulls, same row count.</a:t>
            </a:r>
            <a:endParaRPr lang="en-US" sz="1400" dirty="0"/>
          </a:p>
        </p:txBody>
      </p:sp>
      <p:sp>
        <p:nvSpPr>
          <p:cNvPr id="7" name="Shape 5"/>
          <p:cNvSpPr/>
          <p:nvPr/>
        </p:nvSpPr>
        <p:spPr>
          <a:xfrm>
            <a:off x="4297680" y="1691640"/>
            <a:ext cx="3566160" cy="2011680"/>
          </a:xfrm>
          <a:prstGeom prst="roundRect">
            <a:avLst>
              <a:gd name="adj" fmla="val 363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498848" y="1892808"/>
            <a:ext cx="1920240"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File loaded twice</a:t>
            </a:r>
            <a:endParaRPr lang="en-US" sz="1800" dirty="0"/>
          </a:p>
        </p:txBody>
      </p:sp>
      <p:sp>
        <p:nvSpPr>
          <p:cNvPr id="9" name="Text 7"/>
          <p:cNvSpPr txBox="1"/>
          <p:nvPr/>
        </p:nvSpPr>
        <p:spPr>
          <a:xfrm>
            <a:off x="6446520" y="1874520"/>
            <a:ext cx="123444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mj-lt" pitchFamily="34" charset="0"/>
                <a:ea typeface="+mj-lt" pitchFamily="34" charset="-122"/>
                <a:cs typeface="+mj-lt" pitchFamily="34" charset="-120"/>
              </a:rPr>
              <a:t>+12.3%</a:t>
            </a:r>
            <a:endParaRPr lang="en-US" sz="2400" dirty="0"/>
          </a:p>
        </p:txBody>
      </p:sp>
      <p:sp>
        <p:nvSpPr>
          <p:cNvPr id="10" name="Text 8"/>
          <p:cNvSpPr txBox="1"/>
          <p:nvPr/>
        </p:nvSpPr>
        <p:spPr>
          <a:xfrm>
            <a:off x="4498848" y="2560320"/>
            <a:ext cx="3154680" cy="1005840"/>
          </a:xfrm>
          <a:prstGeom prst="rect">
            <a:avLst/>
          </a:prstGeom>
          <a:noFill/>
          <a:ln/>
        </p:spPr>
        <p:txBody>
          <a:bodyPr wrap="square" lIns="0" tIns="0" rIns="0" bIns="0" rtlCol="0" anchor="t"/>
          <a:lstStyle/>
          <a:p>
            <a:pPr indent="0" marL="0">
              <a:buNone/>
            </a:pPr>
            <a:r>
              <a:rPr lang="en-US" sz="1400" dirty="0">
                <a:solidFill>
                  <a:schemeClr val="tx1"/>
                </a:solidFill>
              </a:rPr>
              <a:t>A payment file lands two times. Row counts look busy, not broken.</a:t>
            </a:r>
            <a:endParaRPr lang="en-US" sz="1400" dirty="0"/>
          </a:p>
        </p:txBody>
      </p:sp>
      <p:sp>
        <p:nvSpPr>
          <p:cNvPr id="11" name="Shape 9"/>
          <p:cNvSpPr/>
          <p:nvPr/>
        </p:nvSpPr>
        <p:spPr>
          <a:xfrm>
            <a:off x="8046720" y="1691640"/>
            <a:ext cx="3566160" cy="2011680"/>
          </a:xfrm>
          <a:prstGeom prst="roundRect">
            <a:avLst>
              <a:gd name="adj" fmla="val 363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8247888" y="1892808"/>
            <a:ext cx="1920240"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Join fan-out</a:t>
            </a:r>
            <a:endParaRPr lang="en-US" sz="1800" dirty="0"/>
          </a:p>
        </p:txBody>
      </p:sp>
      <p:sp>
        <p:nvSpPr>
          <p:cNvPr id="13" name="Text 11"/>
          <p:cNvSpPr txBox="1"/>
          <p:nvPr/>
        </p:nvSpPr>
        <p:spPr>
          <a:xfrm>
            <a:off x="10195560" y="1874520"/>
            <a:ext cx="123444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mj-lt" pitchFamily="34" charset="0"/>
                <a:ea typeface="+mj-lt" pitchFamily="34" charset="-122"/>
                <a:cs typeface="+mj-lt" pitchFamily="34" charset="-120"/>
              </a:rPr>
              <a:t>+20.8%</a:t>
            </a:r>
            <a:endParaRPr lang="en-US" sz="2400" dirty="0"/>
          </a:p>
        </p:txBody>
      </p:sp>
      <p:sp>
        <p:nvSpPr>
          <p:cNvPr id="14" name="Text 12"/>
          <p:cNvSpPr txBox="1"/>
          <p:nvPr/>
        </p:nvSpPr>
        <p:spPr>
          <a:xfrm>
            <a:off x="8247888" y="2560320"/>
            <a:ext cx="3154680" cy="1005840"/>
          </a:xfrm>
          <a:prstGeom prst="rect">
            <a:avLst/>
          </a:prstGeom>
          <a:noFill/>
          <a:ln/>
        </p:spPr>
        <p:txBody>
          <a:bodyPr wrap="square" lIns="0" tIns="0" rIns="0" bIns="0" rtlCol="0" anchor="t"/>
          <a:lstStyle/>
          <a:p>
            <a:pPr indent="0" marL="0">
              <a:buNone/>
            </a:pPr>
            <a:r>
              <a:rPr lang="en-US" sz="1400" dirty="0">
                <a:solidFill>
                  <a:schemeClr val="tx1"/>
                </a:solidFill>
              </a:rPr>
              <a:t>A lookup table gains duplicate keys and the join multiplies rows.</a:t>
            </a:r>
            <a:endParaRPr lang="en-US" sz="1400" dirty="0"/>
          </a:p>
        </p:txBody>
      </p:sp>
      <p:sp>
        <p:nvSpPr>
          <p:cNvPr id="15" name="Shape 13"/>
          <p:cNvSpPr/>
          <p:nvPr/>
        </p:nvSpPr>
        <p:spPr>
          <a:xfrm>
            <a:off x="548640" y="3886200"/>
            <a:ext cx="3566160" cy="2011680"/>
          </a:xfrm>
          <a:prstGeom prst="roundRect">
            <a:avLst>
              <a:gd name="adj" fmla="val 363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49808" y="4087368"/>
            <a:ext cx="1920240"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Stale FX feed</a:t>
            </a:r>
            <a:endParaRPr lang="en-US" sz="1800" dirty="0"/>
          </a:p>
        </p:txBody>
      </p:sp>
      <p:sp>
        <p:nvSpPr>
          <p:cNvPr id="17" name="Text 15"/>
          <p:cNvSpPr txBox="1"/>
          <p:nvPr/>
        </p:nvSpPr>
        <p:spPr>
          <a:xfrm>
            <a:off x="2697480" y="4069080"/>
            <a:ext cx="123444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mj-lt" pitchFamily="34" charset="0"/>
                <a:ea typeface="+mj-lt" pitchFamily="34" charset="-122"/>
                <a:cs typeface="+mj-lt" pitchFamily="34" charset="-120"/>
              </a:rPr>
              <a:t>-8.7%</a:t>
            </a:r>
            <a:endParaRPr lang="en-US" sz="2400" dirty="0"/>
          </a:p>
        </p:txBody>
      </p:sp>
      <p:sp>
        <p:nvSpPr>
          <p:cNvPr id="18" name="Text 16"/>
          <p:cNvSpPr txBox="1"/>
          <p:nvPr/>
        </p:nvSpPr>
        <p:spPr>
          <a:xfrm>
            <a:off x="749808" y="4754880"/>
            <a:ext cx="3154680" cy="1005840"/>
          </a:xfrm>
          <a:prstGeom prst="rect">
            <a:avLst/>
          </a:prstGeom>
          <a:noFill/>
          <a:ln/>
        </p:spPr>
        <p:txBody>
          <a:bodyPr wrap="square" lIns="0" tIns="0" rIns="0" bIns="0" rtlCol="0" anchor="t"/>
          <a:lstStyle/>
          <a:p>
            <a:pPr indent="0" marL="0">
              <a:buNone/>
            </a:pPr>
            <a:r>
              <a:rPr lang="en-US" sz="1400" dirty="0">
                <a:solidFill>
                  <a:schemeClr val="tx1"/>
                </a:solidFill>
              </a:rPr>
              <a:t>Today's exchange rate never arrived, so USD uses an old rate.</a:t>
            </a:r>
            <a:endParaRPr lang="en-US" sz="1400" dirty="0"/>
          </a:p>
        </p:txBody>
      </p:sp>
      <p:sp>
        <p:nvSpPr>
          <p:cNvPr id="19" name="Shape 17"/>
          <p:cNvSpPr/>
          <p:nvPr/>
        </p:nvSpPr>
        <p:spPr>
          <a:xfrm>
            <a:off x="4297680" y="3886200"/>
            <a:ext cx="3566160" cy="2011680"/>
          </a:xfrm>
          <a:prstGeom prst="roundRect">
            <a:avLst>
              <a:gd name="adj" fmla="val 363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4498848" y="4087368"/>
            <a:ext cx="1920240"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IST as UTC</a:t>
            </a:r>
            <a:endParaRPr lang="en-US" sz="1800" dirty="0"/>
          </a:p>
        </p:txBody>
      </p:sp>
      <p:sp>
        <p:nvSpPr>
          <p:cNvPr id="21" name="Text 19"/>
          <p:cNvSpPr txBox="1"/>
          <p:nvPr/>
        </p:nvSpPr>
        <p:spPr>
          <a:xfrm>
            <a:off x="6446520" y="4069080"/>
            <a:ext cx="123444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mj-lt" pitchFamily="34" charset="0"/>
                <a:ea typeface="+mj-lt" pitchFamily="34" charset="-122"/>
                <a:cs typeface="+mj-lt" pitchFamily="34" charset="-120"/>
              </a:rPr>
              <a:t>-16.1%</a:t>
            </a:r>
            <a:endParaRPr lang="en-US" sz="2400" dirty="0"/>
          </a:p>
        </p:txBody>
      </p:sp>
      <p:sp>
        <p:nvSpPr>
          <p:cNvPr id="22" name="Text 20"/>
          <p:cNvSpPr txBox="1"/>
          <p:nvPr/>
        </p:nvSpPr>
        <p:spPr>
          <a:xfrm>
            <a:off x="4498848" y="4754880"/>
            <a:ext cx="3154680" cy="1005840"/>
          </a:xfrm>
          <a:prstGeom prst="rect">
            <a:avLst/>
          </a:prstGeom>
          <a:noFill/>
          <a:ln/>
        </p:spPr>
        <p:txBody>
          <a:bodyPr wrap="square" lIns="0" tIns="0" rIns="0" bIns="0" rtlCol="0" anchor="t"/>
          <a:lstStyle/>
          <a:p>
            <a:pPr indent="0" marL="0">
              <a:buNone/>
            </a:pPr>
            <a:r>
              <a:rPr lang="en-US" sz="1400" dirty="0">
                <a:solidFill>
                  <a:schemeClr val="tx1"/>
                </a:solidFill>
              </a:rPr>
              <a:t>A connector writes local time into a UTC column and the evening slides into tomorrow.</a:t>
            </a:r>
            <a:endParaRPr lang="en-US" sz="1400" dirty="0"/>
          </a:p>
        </p:txBody>
      </p:sp>
      <p:sp>
        <p:nvSpPr>
          <p:cNvPr id="23" name="Shape 21"/>
          <p:cNvSpPr/>
          <p:nvPr/>
        </p:nvSpPr>
        <p:spPr>
          <a:xfrm>
            <a:off x="8046720" y="3886200"/>
            <a:ext cx="3566160" cy="2011680"/>
          </a:xfrm>
          <a:prstGeom prst="roundRect">
            <a:avLst>
              <a:gd name="adj" fmla="val 363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8247888" y="4087368"/>
            <a:ext cx="1920240"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New category code</a:t>
            </a:r>
            <a:endParaRPr lang="en-US" sz="1800" dirty="0"/>
          </a:p>
        </p:txBody>
      </p:sp>
      <p:sp>
        <p:nvSpPr>
          <p:cNvPr id="25" name="Text 23"/>
          <p:cNvSpPr txBox="1"/>
          <p:nvPr/>
        </p:nvSpPr>
        <p:spPr>
          <a:xfrm>
            <a:off x="10195560" y="4069080"/>
            <a:ext cx="123444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mj-lt" pitchFamily="34" charset="0"/>
                <a:ea typeface="+mj-lt" pitchFamily="34" charset="-122"/>
                <a:cs typeface="+mj-lt" pitchFamily="34" charset="-120"/>
              </a:rPr>
              <a:t>-17.3%</a:t>
            </a:r>
            <a:endParaRPr lang="en-US" sz="2400" dirty="0"/>
          </a:p>
        </p:txBody>
      </p:sp>
      <p:sp>
        <p:nvSpPr>
          <p:cNvPr id="26" name="Text 24"/>
          <p:cNvSpPr txBox="1"/>
          <p:nvPr/>
        </p:nvSpPr>
        <p:spPr>
          <a:xfrm>
            <a:off x="8247888" y="4754880"/>
            <a:ext cx="3154680" cy="1005840"/>
          </a:xfrm>
          <a:prstGeom prst="rect">
            <a:avLst/>
          </a:prstGeom>
          <a:noFill/>
          <a:ln/>
        </p:spPr>
        <p:txBody>
          <a:bodyPr wrap="square" lIns="0" tIns="0" rIns="0" bIns="0" rtlCol="0" anchor="t"/>
          <a:lstStyle/>
          <a:p>
            <a:pPr indent="0" marL="0">
              <a:buNone/>
            </a:pPr>
            <a:r>
              <a:rPr lang="en-US" sz="1400" dirty="0">
                <a:solidFill>
                  <a:schemeClr val="tx1"/>
                </a:solidFill>
              </a:rPr>
              <a:t>An unknown code drops out of an inner join and those orders vanish.</a:t>
            </a:r>
            <a:endParaRPr lang="en-US" sz="1400" dirty="0"/>
          </a:p>
        </p:txBody>
      </p:sp>
      <p:sp>
        <p:nvSpPr>
          <p:cNvPr id="27" name="Text 25"/>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dirty="0">
                <a:solidFill>
                  <a:srgbClr val="5B7684"/>
                </a:solidFill>
              </a:rPr>
              <a:t>Percent is the effect on daily revenue in our synthetic marketplace, seed 11, 20,000 orders a day [13]. Each fault is a planted version of a common pipeline bug.</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Where Receipts sits among data quality tools</a:t>
            </a:r>
            <a:endParaRPr lang="en-US" sz="3400" dirty="0"/>
          </a:p>
        </p:txBody>
      </p:sp>
      <p:sp>
        <p:nvSpPr>
          <p:cNvPr id="3" name="Text 1"/>
          <p:cNvSpPr txBox="1"/>
          <p:nvPr/>
        </p:nvSpPr>
        <p:spPr>
          <a:xfrm>
            <a:off x="3017520" y="1508760"/>
            <a:ext cx="1627632" cy="777240"/>
          </a:xfrm>
          <a:prstGeom prst="rect">
            <a:avLst/>
          </a:prstGeom>
          <a:noFill/>
          <a:ln/>
        </p:spPr>
        <p:txBody>
          <a:bodyPr wrap="square" lIns="0" tIns="0" rIns="0" bIns="0" rtlCol="0" anchor="b"/>
          <a:lstStyle/>
          <a:p>
            <a:pPr algn="ctr" indent="0" marL="0">
              <a:buNone/>
            </a:pPr>
            <a:r>
              <a:rPr lang="en-US" sz="1200" b="1" dirty="0">
                <a:solidFill>
                  <a:srgbClr val="5B7684"/>
                </a:solidFill>
              </a:rPr>
              <a:t>Checks data against rules or baselines</a:t>
            </a:r>
            <a:endParaRPr lang="en-US" sz="1200" dirty="0"/>
          </a:p>
        </p:txBody>
      </p:sp>
      <p:sp>
        <p:nvSpPr>
          <p:cNvPr id="4" name="Text 2"/>
          <p:cNvSpPr txBox="1"/>
          <p:nvPr/>
        </p:nvSpPr>
        <p:spPr>
          <a:xfrm>
            <a:off x="4736592" y="1508760"/>
            <a:ext cx="1627632" cy="777240"/>
          </a:xfrm>
          <a:prstGeom prst="rect">
            <a:avLst/>
          </a:prstGeom>
          <a:noFill/>
          <a:ln/>
        </p:spPr>
        <p:txBody>
          <a:bodyPr wrap="square" lIns="0" tIns="0" rIns="0" bIns="0" rtlCol="0" anchor="b"/>
          <a:lstStyle/>
          <a:p>
            <a:pPr algn="ctr" indent="0" marL="0">
              <a:buNone/>
            </a:pPr>
            <a:r>
              <a:rPr lang="en-US" sz="1200" b="1" dirty="0">
                <a:solidFill>
                  <a:srgbClr val="5B7684"/>
                </a:solidFill>
              </a:rPr>
              <a:t>Suggests a likely root cause</a:t>
            </a:r>
            <a:endParaRPr lang="en-US" sz="1200" dirty="0"/>
          </a:p>
        </p:txBody>
      </p:sp>
      <p:sp>
        <p:nvSpPr>
          <p:cNvPr id="5" name="Text 3"/>
          <p:cNvSpPr txBox="1"/>
          <p:nvPr/>
        </p:nvSpPr>
        <p:spPr>
          <a:xfrm>
            <a:off x="6455664" y="1508760"/>
            <a:ext cx="1627632" cy="777240"/>
          </a:xfrm>
          <a:prstGeom prst="rect">
            <a:avLst/>
          </a:prstGeom>
          <a:noFill/>
          <a:ln/>
        </p:spPr>
        <p:txBody>
          <a:bodyPr wrap="square" lIns="0" tIns="0" rIns="0" bIns="0" rtlCol="0" anchor="b"/>
          <a:lstStyle/>
          <a:p>
            <a:pPr algn="ctr" indent="0" marL="0">
              <a:buNone/>
            </a:pPr>
            <a:r>
              <a:rPr lang="en-US" sz="1200" b="1" dirty="0">
                <a:solidFill>
                  <a:srgbClr val="5B7684"/>
                </a:solidFill>
              </a:rPr>
              <a:t>Proves the cause by re-running with it undone</a:t>
            </a:r>
            <a:endParaRPr lang="en-US" sz="1200" dirty="0"/>
          </a:p>
        </p:txBody>
      </p:sp>
      <p:sp>
        <p:nvSpPr>
          <p:cNvPr id="6" name="Text 4"/>
          <p:cNvSpPr txBox="1"/>
          <p:nvPr/>
        </p:nvSpPr>
        <p:spPr>
          <a:xfrm>
            <a:off x="8174736" y="1508760"/>
            <a:ext cx="1627632" cy="777240"/>
          </a:xfrm>
          <a:prstGeom prst="rect">
            <a:avLst/>
          </a:prstGeom>
          <a:noFill/>
          <a:ln/>
        </p:spPr>
        <p:txBody>
          <a:bodyPr wrap="square" lIns="0" tIns="0" rIns="0" bIns="0" rtlCol="0" anchor="b"/>
          <a:lstStyle/>
          <a:p>
            <a:pPr algn="ctr" indent="0" marL="0">
              <a:buNone/>
            </a:pPr>
            <a:r>
              <a:rPr lang="en-US" sz="1200" b="1" dirty="0">
                <a:solidFill>
                  <a:srgbClr val="5B7684"/>
                </a:solidFill>
              </a:rPr>
              <a:t>Flag agents read from the database</a:t>
            </a:r>
            <a:endParaRPr lang="en-US" sz="1200" dirty="0"/>
          </a:p>
        </p:txBody>
      </p:sp>
      <p:sp>
        <p:nvSpPr>
          <p:cNvPr id="7" name="Text 5"/>
          <p:cNvSpPr txBox="1"/>
          <p:nvPr/>
        </p:nvSpPr>
        <p:spPr>
          <a:xfrm>
            <a:off x="9893808" y="1508760"/>
            <a:ext cx="1627632" cy="777240"/>
          </a:xfrm>
          <a:prstGeom prst="rect">
            <a:avLst/>
          </a:prstGeom>
          <a:noFill/>
          <a:ln/>
        </p:spPr>
        <p:txBody>
          <a:bodyPr wrap="square" lIns="0" tIns="0" rIns="0" bIns="0" rtlCol="0" anchor="b"/>
          <a:lstStyle/>
          <a:p>
            <a:pPr algn="ctr" indent="0" marL="0">
              <a:buNone/>
            </a:pPr>
            <a:r>
              <a:rPr lang="en-US" sz="1200" b="1" dirty="0">
                <a:solidFill>
                  <a:srgbClr val="5B7684"/>
                </a:solidFill>
              </a:rPr>
              <a:t>Human approval logged with the fix</a:t>
            </a:r>
            <a:endParaRPr lang="en-US" sz="1200" dirty="0"/>
          </a:p>
        </p:txBody>
      </p:sp>
      <p:sp>
        <p:nvSpPr>
          <p:cNvPr id="8" name="Shape 6"/>
          <p:cNvSpPr/>
          <p:nvPr/>
        </p:nvSpPr>
        <p:spPr>
          <a:xfrm>
            <a:off x="548640" y="2377440"/>
            <a:ext cx="11064240" cy="420624"/>
          </a:xfrm>
          <a:prstGeom prst="roundRect">
            <a:avLst>
              <a:gd name="adj" fmla="val 10870"/>
            </a:avLst>
          </a:prstGeom>
          <a:solidFill>
            <a:schemeClr val="tx1"/>
          </a:solidFill>
          <a:ln w="6350">
            <a:solidFill>
              <a:srgbClr val="1C7293"/>
            </a:solidFill>
            <a:prstDash val="solid"/>
          </a:ln>
        </p:spPr>
      </p:sp>
      <p:sp>
        <p:nvSpPr>
          <p:cNvPr id="9" name="Text 7"/>
          <p:cNvSpPr txBox="1"/>
          <p:nvPr/>
        </p:nvSpPr>
        <p:spPr>
          <a:xfrm>
            <a:off x="731520" y="2377440"/>
            <a:ext cx="2194560" cy="420624"/>
          </a:xfrm>
          <a:prstGeom prst="rect">
            <a:avLst/>
          </a:prstGeom>
          <a:noFill/>
          <a:ln/>
        </p:spPr>
        <p:txBody>
          <a:bodyPr wrap="square" lIns="0" tIns="0" rIns="0" bIns="0" rtlCol="0" anchor="ctr"/>
          <a:lstStyle/>
          <a:p>
            <a:pPr indent="0" marL="0">
              <a:buNone/>
            </a:pPr>
            <a:r>
              <a:rPr lang="en-US" sz="1500" b="1" dirty="0">
                <a:solidFill>
                  <a:schemeClr val="bg1"/>
                </a:solidFill>
              </a:rPr>
              <a:t>Great Expectations [7]</a:t>
            </a:r>
            <a:endParaRPr lang="en-US" sz="1500" dirty="0"/>
          </a:p>
        </p:txBody>
      </p:sp>
      <p:sp>
        <p:nvSpPr>
          <p:cNvPr id="10" name="Text 8"/>
          <p:cNvSpPr txBox="1"/>
          <p:nvPr/>
        </p:nvSpPr>
        <p:spPr>
          <a:xfrm>
            <a:off x="3017520" y="2377440"/>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11" name="Text 9"/>
          <p:cNvSpPr txBox="1"/>
          <p:nvPr/>
        </p:nvSpPr>
        <p:spPr>
          <a:xfrm>
            <a:off x="4736592" y="237744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12" name="Text 10"/>
          <p:cNvSpPr txBox="1"/>
          <p:nvPr/>
        </p:nvSpPr>
        <p:spPr>
          <a:xfrm>
            <a:off x="6455664" y="237744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13" name="Text 11"/>
          <p:cNvSpPr txBox="1"/>
          <p:nvPr/>
        </p:nvSpPr>
        <p:spPr>
          <a:xfrm>
            <a:off x="8174736" y="237744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14" name="Text 12"/>
          <p:cNvSpPr txBox="1"/>
          <p:nvPr/>
        </p:nvSpPr>
        <p:spPr>
          <a:xfrm>
            <a:off x="9893808" y="237744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548640" y="2852928"/>
            <a:ext cx="11064240" cy="420624"/>
          </a:xfrm>
          <a:prstGeom prst="roundRect">
            <a:avLst>
              <a:gd name="adj" fmla="val 10870"/>
            </a:avLst>
          </a:prstGeom>
          <a:solidFill>
            <a:schemeClr val="tx1"/>
          </a:solidFill>
          <a:ln w="6350">
            <a:solidFill>
              <a:srgbClr val="1C7293"/>
            </a:solidFill>
            <a:prstDash val="solid"/>
          </a:ln>
        </p:spPr>
      </p:sp>
      <p:sp>
        <p:nvSpPr>
          <p:cNvPr id="16" name="Text 14"/>
          <p:cNvSpPr txBox="1"/>
          <p:nvPr/>
        </p:nvSpPr>
        <p:spPr>
          <a:xfrm>
            <a:off x="731520" y="2852928"/>
            <a:ext cx="2194560" cy="420624"/>
          </a:xfrm>
          <a:prstGeom prst="rect">
            <a:avLst/>
          </a:prstGeom>
          <a:noFill/>
          <a:ln/>
        </p:spPr>
        <p:txBody>
          <a:bodyPr wrap="square" lIns="0" tIns="0" rIns="0" bIns="0" rtlCol="0" anchor="ctr"/>
          <a:lstStyle/>
          <a:p>
            <a:pPr indent="0" marL="0">
              <a:buNone/>
            </a:pPr>
            <a:r>
              <a:rPr lang="en-US" sz="1500" b="1" dirty="0">
                <a:solidFill>
                  <a:schemeClr val="bg1"/>
                </a:solidFill>
              </a:rPr>
              <a:t>Soda [6]</a:t>
            </a:r>
            <a:endParaRPr lang="en-US" sz="1500" dirty="0"/>
          </a:p>
        </p:txBody>
      </p:sp>
      <p:sp>
        <p:nvSpPr>
          <p:cNvPr id="17" name="Text 15"/>
          <p:cNvSpPr txBox="1"/>
          <p:nvPr/>
        </p:nvSpPr>
        <p:spPr>
          <a:xfrm>
            <a:off x="3017520" y="2852928"/>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18" name="Text 16"/>
          <p:cNvSpPr txBox="1"/>
          <p:nvPr/>
        </p:nvSpPr>
        <p:spPr>
          <a:xfrm>
            <a:off x="4736592" y="2852928"/>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19" name="Text 17"/>
          <p:cNvSpPr txBox="1"/>
          <p:nvPr/>
        </p:nvSpPr>
        <p:spPr>
          <a:xfrm>
            <a:off x="6455664" y="2852928"/>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0" name="Text 18"/>
          <p:cNvSpPr txBox="1"/>
          <p:nvPr/>
        </p:nvSpPr>
        <p:spPr>
          <a:xfrm>
            <a:off x="8174736" y="2852928"/>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1" name="Text 19"/>
          <p:cNvSpPr txBox="1"/>
          <p:nvPr/>
        </p:nvSpPr>
        <p:spPr>
          <a:xfrm>
            <a:off x="9893808" y="2852928"/>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548640" y="3328416"/>
            <a:ext cx="11064240" cy="420624"/>
          </a:xfrm>
          <a:prstGeom prst="roundRect">
            <a:avLst>
              <a:gd name="adj" fmla="val 10870"/>
            </a:avLst>
          </a:prstGeom>
          <a:solidFill>
            <a:schemeClr val="tx1"/>
          </a:solidFill>
          <a:ln w="6350">
            <a:solidFill>
              <a:srgbClr val="1C7293"/>
            </a:solidFill>
            <a:prstDash val="solid"/>
          </a:ln>
        </p:spPr>
      </p:sp>
      <p:sp>
        <p:nvSpPr>
          <p:cNvPr id="23" name="Text 21"/>
          <p:cNvSpPr txBox="1"/>
          <p:nvPr/>
        </p:nvSpPr>
        <p:spPr>
          <a:xfrm>
            <a:off x="731520" y="3328416"/>
            <a:ext cx="2194560" cy="420624"/>
          </a:xfrm>
          <a:prstGeom prst="rect">
            <a:avLst/>
          </a:prstGeom>
          <a:noFill/>
          <a:ln/>
        </p:spPr>
        <p:txBody>
          <a:bodyPr wrap="square" lIns="0" tIns="0" rIns="0" bIns="0" rtlCol="0" anchor="ctr"/>
          <a:lstStyle/>
          <a:p>
            <a:pPr indent="0" marL="0">
              <a:buNone/>
            </a:pPr>
            <a:r>
              <a:rPr lang="en-US" sz="1500" b="1" dirty="0">
                <a:solidFill>
                  <a:schemeClr val="bg1"/>
                </a:solidFill>
              </a:rPr>
              <a:t>Elementary [8]</a:t>
            </a:r>
            <a:endParaRPr lang="en-US" sz="1500" dirty="0"/>
          </a:p>
        </p:txBody>
      </p:sp>
      <p:sp>
        <p:nvSpPr>
          <p:cNvPr id="24" name="Text 22"/>
          <p:cNvSpPr txBox="1"/>
          <p:nvPr/>
        </p:nvSpPr>
        <p:spPr>
          <a:xfrm>
            <a:off x="3017520" y="3328416"/>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25" name="Text 23"/>
          <p:cNvSpPr txBox="1"/>
          <p:nvPr/>
        </p:nvSpPr>
        <p:spPr>
          <a:xfrm>
            <a:off x="4736592" y="3328416"/>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6" name="Text 24"/>
          <p:cNvSpPr txBox="1"/>
          <p:nvPr/>
        </p:nvSpPr>
        <p:spPr>
          <a:xfrm>
            <a:off x="6455664" y="3328416"/>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7" name="Text 25"/>
          <p:cNvSpPr txBox="1"/>
          <p:nvPr/>
        </p:nvSpPr>
        <p:spPr>
          <a:xfrm>
            <a:off x="8174736" y="3328416"/>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8" name="Text 26"/>
          <p:cNvSpPr txBox="1"/>
          <p:nvPr/>
        </p:nvSpPr>
        <p:spPr>
          <a:xfrm>
            <a:off x="9893808" y="3328416"/>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29" name="Shape 27"/>
          <p:cNvSpPr/>
          <p:nvPr/>
        </p:nvSpPr>
        <p:spPr>
          <a:xfrm>
            <a:off x="548640" y="3803904"/>
            <a:ext cx="11064240" cy="420624"/>
          </a:xfrm>
          <a:prstGeom prst="roundRect">
            <a:avLst>
              <a:gd name="adj" fmla="val 10870"/>
            </a:avLst>
          </a:prstGeom>
          <a:solidFill>
            <a:schemeClr val="tx1"/>
          </a:solidFill>
          <a:ln w="6350">
            <a:solidFill>
              <a:srgbClr val="1C7293"/>
            </a:solidFill>
            <a:prstDash val="solid"/>
          </a:ln>
        </p:spPr>
      </p:sp>
      <p:sp>
        <p:nvSpPr>
          <p:cNvPr id="30" name="Text 28"/>
          <p:cNvSpPr txBox="1"/>
          <p:nvPr/>
        </p:nvSpPr>
        <p:spPr>
          <a:xfrm>
            <a:off x="731520" y="3803904"/>
            <a:ext cx="2194560" cy="420624"/>
          </a:xfrm>
          <a:prstGeom prst="rect">
            <a:avLst/>
          </a:prstGeom>
          <a:noFill/>
          <a:ln/>
        </p:spPr>
        <p:txBody>
          <a:bodyPr wrap="square" lIns="0" tIns="0" rIns="0" bIns="0" rtlCol="0" anchor="ctr"/>
          <a:lstStyle/>
          <a:p>
            <a:pPr indent="0" marL="0">
              <a:buNone/>
            </a:pPr>
            <a:r>
              <a:rPr lang="en-US" sz="1500" b="1" dirty="0">
                <a:solidFill>
                  <a:schemeClr val="bg1"/>
                </a:solidFill>
              </a:rPr>
              <a:t>Datafold [9]</a:t>
            </a:r>
            <a:endParaRPr lang="en-US" sz="1500" dirty="0"/>
          </a:p>
        </p:txBody>
      </p:sp>
      <p:sp>
        <p:nvSpPr>
          <p:cNvPr id="31" name="Text 29"/>
          <p:cNvSpPr txBox="1"/>
          <p:nvPr/>
        </p:nvSpPr>
        <p:spPr>
          <a:xfrm>
            <a:off x="3017520" y="3803904"/>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32" name="Text 30"/>
          <p:cNvSpPr txBox="1"/>
          <p:nvPr/>
        </p:nvSpPr>
        <p:spPr>
          <a:xfrm>
            <a:off x="4736592" y="3803904"/>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33" name="Text 31"/>
          <p:cNvSpPr txBox="1"/>
          <p:nvPr/>
        </p:nvSpPr>
        <p:spPr>
          <a:xfrm>
            <a:off x="6455664" y="3803904"/>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34" name="Text 32"/>
          <p:cNvSpPr txBox="1"/>
          <p:nvPr/>
        </p:nvSpPr>
        <p:spPr>
          <a:xfrm>
            <a:off x="8174736" y="3803904"/>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35" name="Text 33"/>
          <p:cNvSpPr txBox="1"/>
          <p:nvPr/>
        </p:nvSpPr>
        <p:spPr>
          <a:xfrm>
            <a:off x="9893808" y="3803904"/>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36" name="Shape 34"/>
          <p:cNvSpPr/>
          <p:nvPr/>
        </p:nvSpPr>
        <p:spPr>
          <a:xfrm>
            <a:off x="548640" y="4279392"/>
            <a:ext cx="11064240" cy="420624"/>
          </a:xfrm>
          <a:prstGeom prst="roundRect">
            <a:avLst>
              <a:gd name="adj" fmla="val 10870"/>
            </a:avLst>
          </a:prstGeom>
          <a:solidFill>
            <a:schemeClr val="tx1"/>
          </a:solidFill>
          <a:ln w="6350">
            <a:solidFill>
              <a:srgbClr val="1C7293"/>
            </a:solidFill>
            <a:prstDash val="solid"/>
          </a:ln>
        </p:spPr>
      </p:sp>
      <p:sp>
        <p:nvSpPr>
          <p:cNvPr id="37" name="Text 35"/>
          <p:cNvSpPr txBox="1"/>
          <p:nvPr/>
        </p:nvSpPr>
        <p:spPr>
          <a:xfrm>
            <a:off x="731520" y="4279392"/>
            <a:ext cx="2194560" cy="420624"/>
          </a:xfrm>
          <a:prstGeom prst="rect">
            <a:avLst/>
          </a:prstGeom>
          <a:noFill/>
          <a:ln/>
        </p:spPr>
        <p:txBody>
          <a:bodyPr wrap="square" lIns="0" tIns="0" rIns="0" bIns="0" rtlCol="0" anchor="ctr"/>
          <a:lstStyle/>
          <a:p>
            <a:pPr indent="0" marL="0">
              <a:buNone/>
            </a:pPr>
            <a:r>
              <a:rPr lang="en-US" sz="1500" b="1" dirty="0">
                <a:solidFill>
                  <a:schemeClr val="bg1"/>
                </a:solidFill>
              </a:rPr>
              <a:t>Anomalo [5]</a:t>
            </a:r>
            <a:endParaRPr lang="en-US" sz="1500" dirty="0"/>
          </a:p>
        </p:txBody>
      </p:sp>
      <p:sp>
        <p:nvSpPr>
          <p:cNvPr id="38" name="Text 36"/>
          <p:cNvSpPr txBox="1"/>
          <p:nvPr/>
        </p:nvSpPr>
        <p:spPr>
          <a:xfrm>
            <a:off x="3017520" y="4279392"/>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39" name="Text 37"/>
          <p:cNvSpPr txBox="1"/>
          <p:nvPr/>
        </p:nvSpPr>
        <p:spPr>
          <a:xfrm>
            <a:off x="4736592" y="4279392"/>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40" name="Text 38"/>
          <p:cNvSpPr txBox="1"/>
          <p:nvPr/>
        </p:nvSpPr>
        <p:spPr>
          <a:xfrm>
            <a:off x="6455664" y="4279392"/>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41" name="Text 39"/>
          <p:cNvSpPr txBox="1"/>
          <p:nvPr/>
        </p:nvSpPr>
        <p:spPr>
          <a:xfrm>
            <a:off x="8174736" y="4279392"/>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42" name="Text 40"/>
          <p:cNvSpPr txBox="1"/>
          <p:nvPr/>
        </p:nvSpPr>
        <p:spPr>
          <a:xfrm>
            <a:off x="9893808" y="4279392"/>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43" name="Shape 41"/>
          <p:cNvSpPr/>
          <p:nvPr/>
        </p:nvSpPr>
        <p:spPr>
          <a:xfrm>
            <a:off x="548640" y="4754880"/>
            <a:ext cx="11064240" cy="420624"/>
          </a:xfrm>
          <a:prstGeom prst="roundRect">
            <a:avLst>
              <a:gd name="adj" fmla="val 10870"/>
            </a:avLst>
          </a:prstGeom>
          <a:solidFill>
            <a:schemeClr val="tx1"/>
          </a:solidFill>
          <a:ln w="6350">
            <a:solidFill>
              <a:srgbClr val="1C7293"/>
            </a:solidFill>
            <a:prstDash val="solid"/>
          </a:ln>
        </p:spPr>
      </p:sp>
      <p:sp>
        <p:nvSpPr>
          <p:cNvPr id="44" name="Text 42"/>
          <p:cNvSpPr txBox="1"/>
          <p:nvPr/>
        </p:nvSpPr>
        <p:spPr>
          <a:xfrm>
            <a:off x="731520" y="4754880"/>
            <a:ext cx="2194560" cy="420624"/>
          </a:xfrm>
          <a:prstGeom prst="rect">
            <a:avLst/>
          </a:prstGeom>
          <a:noFill/>
          <a:ln/>
        </p:spPr>
        <p:txBody>
          <a:bodyPr wrap="square" lIns="0" tIns="0" rIns="0" bIns="0" rtlCol="0" anchor="ctr"/>
          <a:lstStyle/>
          <a:p>
            <a:pPr indent="0" marL="0">
              <a:buNone/>
            </a:pPr>
            <a:r>
              <a:rPr lang="en-US" sz="1500" b="1" dirty="0">
                <a:solidFill>
                  <a:schemeClr val="bg1"/>
                </a:solidFill>
              </a:rPr>
              <a:t>Monte Carlo [4]</a:t>
            </a:r>
            <a:endParaRPr lang="en-US" sz="1500" dirty="0"/>
          </a:p>
        </p:txBody>
      </p:sp>
      <p:sp>
        <p:nvSpPr>
          <p:cNvPr id="45" name="Text 43"/>
          <p:cNvSpPr txBox="1"/>
          <p:nvPr/>
        </p:nvSpPr>
        <p:spPr>
          <a:xfrm>
            <a:off x="3017520" y="4754880"/>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46" name="Text 44"/>
          <p:cNvSpPr txBox="1"/>
          <p:nvPr/>
        </p:nvSpPr>
        <p:spPr>
          <a:xfrm>
            <a:off x="4736592" y="4754880"/>
            <a:ext cx="1627632" cy="420624"/>
          </a:xfrm>
          <a:prstGeom prst="rect">
            <a:avLst/>
          </a:prstGeom>
          <a:noFill/>
          <a:ln/>
        </p:spPr>
        <p:txBody>
          <a:bodyPr wrap="square" lIns="0" tIns="0" rIns="0" bIns="0" rtlCol="0" anchor="ctr"/>
          <a:lstStyle/>
          <a:p>
            <a:pPr algn="ctr" indent="0" marL="0">
              <a:buNone/>
            </a:pPr>
            <a:r>
              <a:rPr lang="en-US" sz="2000" dirty="0">
                <a:solidFill>
                  <a:schemeClr val="accent4"/>
                </a:solidFill>
                <a:latin typeface="Arial" pitchFamily="34" charset="0"/>
                <a:ea typeface="Arial" pitchFamily="34" charset="-122"/>
                <a:cs typeface="Arial" pitchFamily="34" charset="-120"/>
              </a:rPr>
              <a:t>●</a:t>
            </a:r>
            <a:endParaRPr lang="en-US" sz="2000" dirty="0"/>
          </a:p>
        </p:txBody>
      </p:sp>
      <p:sp>
        <p:nvSpPr>
          <p:cNvPr id="47" name="Text 45"/>
          <p:cNvSpPr txBox="1"/>
          <p:nvPr/>
        </p:nvSpPr>
        <p:spPr>
          <a:xfrm>
            <a:off x="6455664" y="475488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48" name="Text 46"/>
          <p:cNvSpPr txBox="1"/>
          <p:nvPr/>
        </p:nvSpPr>
        <p:spPr>
          <a:xfrm>
            <a:off x="8174736" y="475488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49" name="Text 47"/>
          <p:cNvSpPr txBox="1"/>
          <p:nvPr/>
        </p:nvSpPr>
        <p:spPr>
          <a:xfrm>
            <a:off x="9893808" y="4754880"/>
            <a:ext cx="1627632" cy="420624"/>
          </a:xfrm>
          <a:prstGeom prst="rect">
            <a:avLst/>
          </a:prstGeom>
          <a:noFill/>
          <a:ln/>
        </p:spPr>
        <p:txBody>
          <a:bodyPr wrap="square" lIns="0" tIns="0" rIns="0" bIns="0" rtlCol="0" anchor="ctr"/>
          <a:lstStyle/>
          <a:p>
            <a:pPr algn="ctr" indent="0" marL="0">
              <a:buNone/>
            </a:pPr>
            <a:r>
              <a:rPr lang="en-US" sz="2000" dirty="0">
                <a:solidFill>
                  <a:srgbClr val="5B7684"/>
                </a:solidFill>
                <a:latin typeface="Arial" pitchFamily="34" charset="0"/>
                <a:ea typeface="Arial" pitchFamily="34" charset="-122"/>
                <a:cs typeface="Arial" pitchFamily="34" charset="-120"/>
              </a:rPr>
              <a:t>○</a:t>
            </a:r>
            <a:endParaRPr lang="en-US" sz="2000" dirty="0"/>
          </a:p>
        </p:txBody>
      </p:sp>
      <p:sp>
        <p:nvSpPr>
          <p:cNvPr id="50" name="Shape 48"/>
          <p:cNvSpPr/>
          <p:nvPr/>
        </p:nvSpPr>
        <p:spPr>
          <a:xfrm>
            <a:off x="548640" y="5230368"/>
            <a:ext cx="11064240" cy="420624"/>
          </a:xfrm>
          <a:prstGeom prst="roundRect">
            <a:avLst>
              <a:gd name="adj" fmla="val 10870"/>
            </a:avLst>
          </a:prstGeom>
          <a:solidFill>
            <a:schemeClr val="accent1">
              <a:alpha val="18000"/>
            </a:schemeClr>
          </a:solidFill>
          <a:ln w="19050">
            <a:solidFill>
              <a:srgbClr val="6AB541"/>
            </a:solidFill>
            <a:prstDash val="solid"/>
          </a:ln>
        </p:spPr>
      </p:sp>
      <p:sp>
        <p:nvSpPr>
          <p:cNvPr id="51" name="Text 49"/>
          <p:cNvSpPr txBox="1"/>
          <p:nvPr/>
        </p:nvSpPr>
        <p:spPr>
          <a:xfrm>
            <a:off x="731520" y="5230368"/>
            <a:ext cx="2194560" cy="420624"/>
          </a:xfrm>
          <a:prstGeom prst="rect">
            <a:avLst/>
          </a:prstGeom>
          <a:noFill/>
          <a:ln/>
        </p:spPr>
        <p:txBody>
          <a:bodyPr wrap="square" lIns="0" tIns="0" rIns="0" bIns="0" rtlCol="0" anchor="ctr"/>
          <a:lstStyle/>
          <a:p>
            <a:pPr indent="0" marL="0">
              <a:buNone/>
            </a:pPr>
            <a:r>
              <a:rPr lang="en-US" sz="1500" b="1" dirty="0">
                <a:solidFill>
                  <a:schemeClr val="tx1"/>
                </a:solidFill>
              </a:rPr>
              <a:t>Receipts</a:t>
            </a:r>
            <a:endParaRPr lang="en-US" sz="1500" dirty="0"/>
          </a:p>
        </p:txBody>
      </p:sp>
      <p:sp>
        <p:nvSpPr>
          <p:cNvPr id="52" name="Text 50"/>
          <p:cNvSpPr txBox="1"/>
          <p:nvPr/>
        </p:nvSpPr>
        <p:spPr>
          <a:xfrm>
            <a:off x="3017520" y="5230368"/>
            <a:ext cx="1627632" cy="420624"/>
          </a:xfrm>
          <a:prstGeom prst="rect">
            <a:avLst/>
          </a:prstGeom>
          <a:noFill/>
          <a:ln/>
        </p:spPr>
        <p:txBody>
          <a:bodyPr wrap="square" lIns="0" tIns="0" rIns="0" bIns="0" rtlCol="0" anchor="ctr"/>
          <a:lstStyle/>
          <a:p>
            <a:pPr algn="ctr" indent="0" marL="0">
              <a:buNone/>
            </a:pPr>
            <a:r>
              <a:rPr lang="en-US" sz="2000" dirty="0">
                <a:solidFill>
                  <a:schemeClr val="accent3"/>
                </a:solidFill>
                <a:latin typeface="Arial" pitchFamily="34" charset="0"/>
                <a:ea typeface="Arial" pitchFamily="34" charset="-122"/>
                <a:cs typeface="Arial" pitchFamily="34" charset="-120"/>
              </a:rPr>
              <a:t>●</a:t>
            </a:r>
            <a:endParaRPr lang="en-US" sz="2000" dirty="0"/>
          </a:p>
        </p:txBody>
      </p:sp>
      <p:sp>
        <p:nvSpPr>
          <p:cNvPr id="53" name="Text 51"/>
          <p:cNvSpPr txBox="1"/>
          <p:nvPr/>
        </p:nvSpPr>
        <p:spPr>
          <a:xfrm>
            <a:off x="4736592" y="5230368"/>
            <a:ext cx="1627632" cy="420624"/>
          </a:xfrm>
          <a:prstGeom prst="rect">
            <a:avLst/>
          </a:prstGeom>
          <a:noFill/>
          <a:ln/>
        </p:spPr>
        <p:txBody>
          <a:bodyPr wrap="square" lIns="0" tIns="0" rIns="0" bIns="0" rtlCol="0" anchor="ctr"/>
          <a:lstStyle/>
          <a:p>
            <a:pPr algn="ctr" indent="0" marL="0">
              <a:buNone/>
            </a:pPr>
            <a:r>
              <a:rPr lang="en-US" sz="2000" dirty="0">
                <a:solidFill>
                  <a:schemeClr val="accent3"/>
                </a:solidFill>
                <a:latin typeface="Arial" pitchFamily="34" charset="0"/>
                <a:ea typeface="Arial" pitchFamily="34" charset="-122"/>
                <a:cs typeface="Arial" pitchFamily="34" charset="-120"/>
              </a:rPr>
              <a:t>●</a:t>
            </a:r>
            <a:endParaRPr lang="en-US" sz="2000" dirty="0"/>
          </a:p>
        </p:txBody>
      </p:sp>
      <p:sp>
        <p:nvSpPr>
          <p:cNvPr id="54" name="Text 52"/>
          <p:cNvSpPr txBox="1"/>
          <p:nvPr/>
        </p:nvSpPr>
        <p:spPr>
          <a:xfrm>
            <a:off x="6455664" y="5230368"/>
            <a:ext cx="1627632" cy="420624"/>
          </a:xfrm>
          <a:prstGeom prst="rect">
            <a:avLst/>
          </a:prstGeom>
          <a:noFill/>
          <a:ln/>
        </p:spPr>
        <p:txBody>
          <a:bodyPr wrap="square" lIns="0" tIns="0" rIns="0" bIns="0" rtlCol="0" anchor="ctr"/>
          <a:lstStyle/>
          <a:p>
            <a:pPr algn="ctr" indent="0" marL="0">
              <a:buNone/>
            </a:pPr>
            <a:r>
              <a:rPr lang="en-US" sz="2000" dirty="0">
                <a:solidFill>
                  <a:schemeClr val="accent3"/>
                </a:solidFill>
                <a:latin typeface="Arial" pitchFamily="34" charset="0"/>
                <a:ea typeface="Arial" pitchFamily="34" charset="-122"/>
                <a:cs typeface="Arial" pitchFamily="34" charset="-120"/>
              </a:rPr>
              <a:t>●</a:t>
            </a:r>
            <a:endParaRPr lang="en-US" sz="2000" dirty="0"/>
          </a:p>
        </p:txBody>
      </p:sp>
      <p:sp>
        <p:nvSpPr>
          <p:cNvPr id="55" name="Text 53"/>
          <p:cNvSpPr txBox="1"/>
          <p:nvPr/>
        </p:nvSpPr>
        <p:spPr>
          <a:xfrm>
            <a:off x="8174736" y="5230368"/>
            <a:ext cx="1627632" cy="420624"/>
          </a:xfrm>
          <a:prstGeom prst="rect">
            <a:avLst/>
          </a:prstGeom>
          <a:noFill/>
          <a:ln/>
        </p:spPr>
        <p:txBody>
          <a:bodyPr wrap="square" lIns="0" tIns="0" rIns="0" bIns="0" rtlCol="0" anchor="ctr"/>
          <a:lstStyle/>
          <a:p>
            <a:pPr algn="ctr" indent="0" marL="0">
              <a:buNone/>
            </a:pPr>
            <a:r>
              <a:rPr lang="en-US" sz="2000" dirty="0">
                <a:solidFill>
                  <a:schemeClr val="accent3"/>
                </a:solidFill>
                <a:latin typeface="Arial" pitchFamily="34" charset="0"/>
                <a:ea typeface="Arial" pitchFamily="34" charset="-122"/>
                <a:cs typeface="Arial" pitchFamily="34" charset="-120"/>
              </a:rPr>
              <a:t>●</a:t>
            </a:r>
            <a:endParaRPr lang="en-US" sz="2000" dirty="0"/>
          </a:p>
        </p:txBody>
      </p:sp>
      <p:sp>
        <p:nvSpPr>
          <p:cNvPr id="56" name="Text 54"/>
          <p:cNvSpPr txBox="1"/>
          <p:nvPr/>
        </p:nvSpPr>
        <p:spPr>
          <a:xfrm>
            <a:off x="9893808" y="5230368"/>
            <a:ext cx="1627632" cy="420624"/>
          </a:xfrm>
          <a:prstGeom prst="rect">
            <a:avLst/>
          </a:prstGeom>
          <a:noFill/>
          <a:ln/>
        </p:spPr>
        <p:txBody>
          <a:bodyPr wrap="square" lIns="0" tIns="0" rIns="0" bIns="0" rtlCol="0" anchor="ctr"/>
          <a:lstStyle/>
          <a:p>
            <a:pPr algn="ctr" indent="0" marL="0">
              <a:buNone/>
            </a:pPr>
            <a:r>
              <a:rPr lang="en-US" sz="2000" dirty="0">
                <a:solidFill>
                  <a:schemeClr val="accent3"/>
                </a:solidFill>
                <a:latin typeface="Arial" pitchFamily="34" charset="0"/>
                <a:ea typeface="Arial" pitchFamily="34" charset="-122"/>
                <a:cs typeface="Arial" pitchFamily="34" charset="-120"/>
              </a:rPr>
              <a:t>●</a:t>
            </a:r>
            <a:endParaRPr lang="en-US" sz="2000" dirty="0"/>
          </a:p>
        </p:txBody>
      </p:sp>
      <p:sp>
        <p:nvSpPr>
          <p:cNvPr id="57" name="Text 55"/>
          <p:cNvSpPr txBox="1"/>
          <p:nvPr/>
        </p:nvSpPr>
        <p:spPr>
          <a:xfrm>
            <a:off x="548640" y="5779008"/>
            <a:ext cx="11064240" cy="566928"/>
          </a:xfrm>
          <a:prstGeom prst="rect">
            <a:avLst/>
          </a:prstGeom>
          <a:noFill/>
          <a:ln/>
        </p:spPr>
        <p:txBody>
          <a:bodyPr wrap="square" lIns="0" tIns="0" rIns="0" bIns="0" rtlCol="0" anchor="t"/>
          <a:lstStyle/>
          <a:p>
            <a:pPr indent="0" marL="0">
              <a:buNone/>
            </a:pPr>
            <a:r>
              <a:rPr lang="en-US" sz="1100" dirty="0">
                <a:solidFill>
                  <a:srgbClr val="5B7684"/>
                </a:solidFill>
              </a:rPr>
              <a:t>● described on the vendor page we read   ◐ partly   ○ not described there.  A blank is not proof the feature is missing. These are mature products with far wider coverage than a prototype, and we do not claim to replace them. Our claim is narrow: the proof step. Pages read October 2026, see references.</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Our one idea: prove the cause by undoing it</a:t>
            </a:r>
            <a:endParaRPr lang="en-US" sz="3400" dirty="0"/>
          </a:p>
        </p:txBody>
      </p:sp>
      <p:sp>
        <p:nvSpPr>
          <p:cNvPr id="3" name="Shape 1"/>
          <p:cNvSpPr/>
          <p:nvPr/>
        </p:nvSpPr>
        <p:spPr>
          <a:xfrm>
            <a:off x="548640" y="1691640"/>
            <a:ext cx="6309360" cy="1143000"/>
          </a:xfrm>
          <a:prstGeom prst="roundRect">
            <a:avLst>
              <a:gd name="adj" fmla="val 6400"/>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777240" y="2011680"/>
            <a:ext cx="502920" cy="502920"/>
          </a:xfrm>
          <a:prstGeom prst="ellipse">
            <a:avLst/>
          </a:prstGeom>
          <a:solidFill>
            <a:schemeClr val="accent1"/>
          </a:solidFill>
          <a:ln w="12700">
            <a:solidFill>
              <a:srgbClr val="6AB541"/>
            </a:solidFill>
            <a:prstDash val="solid"/>
          </a:ln>
        </p:spPr>
      </p:sp>
      <p:sp>
        <p:nvSpPr>
          <p:cNvPr id="5" name="Text 3"/>
          <p:cNvSpPr txBox="1"/>
          <p:nvPr/>
        </p:nvSpPr>
        <p:spPr>
          <a:xfrm>
            <a:off x="777240"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508760" y="1847088"/>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 detector nominates a suspect</a:t>
            </a:r>
            <a:endParaRPr lang="en-US" sz="1800" dirty="0"/>
          </a:p>
        </p:txBody>
      </p:sp>
      <p:sp>
        <p:nvSpPr>
          <p:cNvPr id="7" name="Text 5"/>
          <p:cNvSpPr txBox="1"/>
          <p:nvPr/>
        </p:nvSpPr>
        <p:spPr>
          <a:xfrm>
            <a:off x="1508760" y="2313432"/>
            <a:ext cx="5212080" cy="411480"/>
          </a:xfrm>
          <a:prstGeom prst="rect">
            <a:avLst/>
          </a:prstGeom>
          <a:noFill/>
          <a:ln/>
        </p:spPr>
        <p:txBody>
          <a:bodyPr wrap="square" lIns="0" tIns="0" rIns="0" bIns="0" rtlCol="0" anchor="t"/>
          <a:lstStyle/>
          <a:p>
            <a:pPr indent="0" marL="0">
              <a:buNone/>
            </a:pPr>
            <a:r>
              <a:rPr lang="en-US" sz="1400" dirty="0">
                <a:solidFill>
                  <a:schemeClr val="tx1"/>
                </a:solidFill>
              </a:rPr>
              <a:t>Example: gateway B's clock sits 5.5 hours late.</a:t>
            </a:r>
            <a:endParaRPr lang="en-US" sz="1400" dirty="0"/>
          </a:p>
        </p:txBody>
      </p:sp>
      <p:sp>
        <p:nvSpPr>
          <p:cNvPr id="8" name="Shape 6"/>
          <p:cNvSpPr/>
          <p:nvPr/>
        </p:nvSpPr>
        <p:spPr>
          <a:xfrm>
            <a:off x="1024128" y="2852928"/>
            <a:ext cx="0" cy="210312"/>
          </a:xfrm>
          <a:prstGeom prst="line">
            <a:avLst/>
          </a:prstGeom>
          <a:noFill/>
          <a:ln w="22225">
            <a:solidFill>
              <a:srgbClr val="5B7684"/>
            </a:solidFill>
            <a:prstDash val="solid"/>
            <a:tailEnd type="triangle"/>
          </a:ln>
        </p:spPr>
      </p:sp>
      <p:sp>
        <p:nvSpPr>
          <p:cNvPr id="9" name="Shape 7"/>
          <p:cNvSpPr/>
          <p:nvPr/>
        </p:nvSpPr>
        <p:spPr>
          <a:xfrm>
            <a:off x="548640" y="3063240"/>
            <a:ext cx="6309360" cy="1143000"/>
          </a:xfrm>
          <a:prstGeom prst="roundRect">
            <a:avLst>
              <a:gd name="adj" fmla="val 6400"/>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777240" y="3383280"/>
            <a:ext cx="502920" cy="502920"/>
          </a:xfrm>
          <a:prstGeom prst="ellipse">
            <a:avLst/>
          </a:prstGeom>
          <a:solidFill>
            <a:schemeClr val="accent1"/>
          </a:solidFill>
          <a:ln w="12700">
            <a:solidFill>
              <a:srgbClr val="6AB541"/>
            </a:solidFill>
            <a:prstDash val="solid"/>
          </a:ln>
        </p:spPr>
      </p:sp>
      <p:sp>
        <p:nvSpPr>
          <p:cNvPr id="11" name="Text 9"/>
          <p:cNvSpPr txBox="1"/>
          <p:nvPr/>
        </p:nvSpPr>
        <p:spPr>
          <a:xfrm>
            <a:off x="777240" y="33832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10"/>
          <p:cNvSpPr txBox="1"/>
          <p:nvPr/>
        </p:nvSpPr>
        <p:spPr>
          <a:xfrm>
            <a:off x="1508760" y="3218688"/>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Rebuild the pipeline with that one fault removed</a:t>
            </a:r>
            <a:endParaRPr lang="en-US" sz="1800" dirty="0"/>
          </a:p>
        </p:txBody>
      </p:sp>
      <p:sp>
        <p:nvSpPr>
          <p:cNvPr id="13" name="Text 11"/>
          <p:cNvSpPr txBox="1"/>
          <p:nvPr/>
        </p:nvSpPr>
        <p:spPr>
          <a:xfrm>
            <a:off x="1508760" y="3685032"/>
            <a:ext cx="5212080" cy="411480"/>
          </a:xfrm>
          <a:prstGeom prst="rect">
            <a:avLst/>
          </a:prstGeom>
          <a:noFill/>
          <a:ln/>
        </p:spPr>
        <p:txBody>
          <a:bodyPr wrap="square" lIns="0" tIns="0" rIns="0" bIns="0" rtlCol="0" anchor="t"/>
          <a:lstStyle/>
          <a:p>
            <a:pPr indent="0" marL="0">
              <a:buNone/>
            </a:pPr>
            <a:r>
              <a:rPr lang="en-US" sz="1400" dirty="0">
                <a:solidFill>
                  <a:schemeClr val="tx1"/>
                </a:solidFill>
              </a:rPr>
              <a:t>In a sandbox schema inside Exasol, then re-run the metric.</a:t>
            </a:r>
            <a:endParaRPr lang="en-US" sz="1400" dirty="0"/>
          </a:p>
        </p:txBody>
      </p:sp>
      <p:sp>
        <p:nvSpPr>
          <p:cNvPr id="14" name="Shape 12"/>
          <p:cNvSpPr/>
          <p:nvPr/>
        </p:nvSpPr>
        <p:spPr>
          <a:xfrm>
            <a:off x="1024128" y="4224528"/>
            <a:ext cx="0" cy="210312"/>
          </a:xfrm>
          <a:prstGeom prst="line">
            <a:avLst/>
          </a:prstGeom>
          <a:noFill/>
          <a:ln w="22225">
            <a:solidFill>
              <a:srgbClr val="5B7684"/>
            </a:solidFill>
            <a:prstDash val="solid"/>
            <a:tailEnd type="triangle"/>
          </a:ln>
        </p:spPr>
      </p:sp>
      <p:sp>
        <p:nvSpPr>
          <p:cNvPr id="15" name="Shape 13"/>
          <p:cNvSpPr/>
          <p:nvPr/>
        </p:nvSpPr>
        <p:spPr>
          <a:xfrm>
            <a:off x="548640" y="4434840"/>
            <a:ext cx="6309360" cy="1143000"/>
          </a:xfrm>
          <a:prstGeom prst="roundRect">
            <a:avLst>
              <a:gd name="adj" fmla="val 6400"/>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777240" y="4754880"/>
            <a:ext cx="502920" cy="502920"/>
          </a:xfrm>
          <a:prstGeom prst="ellipse">
            <a:avLst/>
          </a:prstGeom>
          <a:solidFill>
            <a:schemeClr val="accent1"/>
          </a:solidFill>
          <a:ln w="12700">
            <a:solidFill>
              <a:srgbClr val="6AB541"/>
            </a:solidFill>
            <a:prstDash val="solid"/>
          </a:ln>
        </p:spPr>
      </p:sp>
      <p:sp>
        <p:nvSpPr>
          <p:cNvPr id="17" name="Text 15"/>
          <p:cNvSpPr txBox="1"/>
          <p:nvPr/>
        </p:nvSpPr>
        <p:spPr>
          <a:xfrm>
            <a:off x="777240" y="47548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8" name="Text 16"/>
          <p:cNvSpPr txBox="1"/>
          <p:nvPr/>
        </p:nvSpPr>
        <p:spPr>
          <a:xfrm>
            <a:off x="1508760" y="4590288"/>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The number returns, history stays put</a:t>
            </a:r>
            <a:endParaRPr lang="en-US" sz="1800" dirty="0"/>
          </a:p>
        </p:txBody>
      </p:sp>
      <p:sp>
        <p:nvSpPr>
          <p:cNvPr id="19" name="Text 17"/>
          <p:cNvSpPr txBox="1"/>
          <p:nvPr/>
        </p:nvSpPr>
        <p:spPr>
          <a:xfrm>
            <a:off x="1508760" y="5056632"/>
            <a:ext cx="5212080" cy="411480"/>
          </a:xfrm>
          <a:prstGeom prst="rect">
            <a:avLst/>
          </a:prstGeom>
          <a:noFill/>
          <a:ln/>
        </p:spPr>
        <p:txBody>
          <a:bodyPr wrap="square" lIns="0" tIns="0" rIns="0" bIns="0" rtlCol="0" anchor="t"/>
          <a:lstStyle/>
          <a:p>
            <a:pPr indent="0" marL="0">
              <a:buNone/>
            </a:pPr>
            <a:r>
              <a:rPr lang="en-US" sz="1400" dirty="0">
                <a:solidFill>
                  <a:schemeClr val="tx1"/>
                </a:solidFill>
              </a:rPr>
              <a:t>Only then is the cause proven. Otherwise it is ruled out.</a:t>
            </a:r>
            <a:endParaRPr lang="en-US" sz="1400" dirty="0"/>
          </a:p>
        </p:txBody>
      </p:sp>
      <p:sp>
        <p:nvSpPr>
          <p:cNvPr id="20" name="Text 18"/>
          <p:cNvSpPr txBox="1"/>
          <p:nvPr/>
        </p:nvSpPr>
        <p:spPr>
          <a:xfrm>
            <a:off x="548640" y="5852160"/>
            <a:ext cx="6309360" cy="502920"/>
          </a:xfrm>
          <a:prstGeom prst="rect">
            <a:avLst/>
          </a:prstGeom>
          <a:noFill/>
          <a:ln/>
        </p:spPr>
        <p:txBody>
          <a:bodyPr wrap="square" lIns="0" tIns="0" rIns="0" bIns="0" rtlCol="0" anchor="t"/>
          <a:lstStyle/>
          <a:p>
            <a:pPr indent="0" marL="0">
              <a:buNone/>
            </a:pPr>
            <a:r>
              <a:rPr lang="en-US" sz="1400" b="1" dirty="0">
                <a:solidFill>
                  <a:schemeClr val="accent2"/>
                </a:solidFill>
              </a:rPr>
              <a:t>Without the undo step, the festival retry burst is blamed as a duplicate load in every run: 5 wrong causes in 50 runs [13].</a:t>
            </a:r>
            <a:endParaRPr lang="en-US" sz="1400" dirty="0"/>
          </a:p>
        </p:txBody>
      </p:sp>
      <p:graphicFrame>
        <p:nvGraphicFramePr>
          <p:cNvPr id="21" name="Chart 0" descr=""/>
          <p:cNvGraphicFramePr/>
          <p:nvPr/>
        </p:nvGraphicFramePr>
        <p:xfrm>
          <a:off x="7223760" y="1645920"/>
          <a:ext cx="4389120" cy="420624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7223760" y="5897880"/>
            <a:ext cx="4389120" cy="274320"/>
          </a:xfrm>
          <a:prstGeom prst="rect">
            <a:avLst/>
          </a:prstGeom>
          <a:noFill/>
          <a:ln/>
        </p:spPr>
        <p:txBody>
          <a:bodyPr wrap="square" lIns="0" tIns="0" rIns="0" bIns="0" rtlCol="0" anchor="t"/>
          <a:lstStyle/>
          <a:p>
            <a:pPr indent="0" marL="0">
              <a:buNone/>
            </a:pPr>
            <a:r>
              <a:rPr lang="en-US" sz="1100" dirty="0">
                <a:solidFill>
                  <a:srgbClr val="5B7684"/>
                </a:solidFill>
              </a:rPr>
              <a:t>Real run, IST case [16]</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How a batch becomes a verdict</a:t>
            </a:r>
            <a:endParaRPr lang="en-US" sz="3400" dirty="0"/>
          </a:p>
        </p:txBody>
      </p:sp>
      <p:sp>
        <p:nvSpPr>
          <p:cNvPr id="3" name="!!n1"/>
          <p:cNvSpPr/>
          <p:nvPr/>
        </p:nvSpPr>
        <p:spPr>
          <a:xfrm>
            <a:off x="548640" y="1691640"/>
            <a:ext cx="1234440" cy="868680"/>
          </a:xfrm>
          <a:prstGeom prst="roundRect">
            <a:avLst>
              <a:gd name="adj" fmla="val 7368"/>
            </a:avLst>
          </a:prstGeom>
          <a:solidFill>
            <a:schemeClr val="tx1"/>
          </a:solidFill>
          <a:ln w="12700">
            <a:solidFill>
              <a:srgbClr val="1C7293"/>
            </a:solidFill>
            <a:prstDash val="solid"/>
          </a:ln>
        </p:spPr>
      </p:sp>
      <p:sp>
        <p:nvSpPr>
          <p:cNvPr id="4" name="!!nt1"/>
          <p:cNvSpPr txBox="1"/>
          <p:nvPr/>
        </p:nvSpPr>
        <p:spPr>
          <a:xfrm>
            <a:off x="548640"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Batch lands</a:t>
            </a:r>
            <a:endParaRPr lang="en-US" sz="1500" dirty="0"/>
          </a:p>
        </p:txBody>
      </p:sp>
      <p:sp>
        <p:nvSpPr>
          <p:cNvPr id="5" name="!!n2"/>
          <p:cNvSpPr/>
          <p:nvPr/>
        </p:nvSpPr>
        <p:spPr>
          <a:xfrm>
            <a:off x="1947672" y="1691640"/>
            <a:ext cx="1234440" cy="868680"/>
          </a:xfrm>
          <a:prstGeom prst="roundRect">
            <a:avLst>
              <a:gd name="adj" fmla="val 7368"/>
            </a:avLst>
          </a:prstGeom>
          <a:solidFill>
            <a:schemeClr val="tx1"/>
          </a:solidFill>
          <a:ln w="12700">
            <a:solidFill>
              <a:srgbClr val="1C7293"/>
            </a:solidFill>
            <a:prstDash val="solid"/>
          </a:ln>
        </p:spPr>
      </p:sp>
      <p:sp>
        <p:nvSpPr>
          <p:cNvPr id="6" name="!!nt2"/>
          <p:cNvSpPr txBox="1"/>
          <p:nvPr/>
        </p:nvSpPr>
        <p:spPr>
          <a:xfrm>
            <a:off x="1947672"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Six detectors</a:t>
            </a:r>
            <a:endParaRPr lang="en-US" sz="1500" dirty="0"/>
          </a:p>
        </p:txBody>
      </p:sp>
      <p:sp>
        <p:nvSpPr>
          <p:cNvPr id="7" name="!!n3"/>
          <p:cNvSpPr/>
          <p:nvPr/>
        </p:nvSpPr>
        <p:spPr>
          <a:xfrm>
            <a:off x="3346704" y="1691640"/>
            <a:ext cx="1234440" cy="868680"/>
          </a:xfrm>
          <a:prstGeom prst="roundRect">
            <a:avLst>
              <a:gd name="adj" fmla="val 7368"/>
            </a:avLst>
          </a:prstGeom>
          <a:solidFill>
            <a:schemeClr val="tx1"/>
          </a:solidFill>
          <a:ln w="12700">
            <a:solidFill>
              <a:srgbClr val="1C7293"/>
            </a:solidFill>
            <a:prstDash val="solid"/>
          </a:ln>
        </p:spPr>
      </p:sp>
      <p:sp>
        <p:nvSpPr>
          <p:cNvPr id="8" name="!!nt3"/>
          <p:cNvSpPr txBox="1"/>
          <p:nvPr/>
        </p:nvSpPr>
        <p:spPr>
          <a:xfrm>
            <a:off x="3346704"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CUBE slices</a:t>
            </a:r>
            <a:endParaRPr lang="en-US" sz="1500" dirty="0"/>
          </a:p>
        </p:txBody>
      </p:sp>
      <p:sp>
        <p:nvSpPr>
          <p:cNvPr id="9" name="!!n4"/>
          <p:cNvSpPr/>
          <p:nvPr/>
        </p:nvSpPr>
        <p:spPr>
          <a:xfrm>
            <a:off x="4745736" y="1691640"/>
            <a:ext cx="1234440" cy="868680"/>
          </a:xfrm>
          <a:prstGeom prst="roundRect">
            <a:avLst>
              <a:gd name="adj" fmla="val 7368"/>
            </a:avLst>
          </a:prstGeom>
          <a:solidFill>
            <a:schemeClr val="tx1"/>
          </a:solidFill>
          <a:ln w="12700">
            <a:solidFill>
              <a:srgbClr val="1C7293"/>
            </a:solidFill>
            <a:prstDash val="solid"/>
          </a:ln>
        </p:spPr>
      </p:sp>
      <p:sp>
        <p:nvSpPr>
          <p:cNvPr id="10" name="!!nt4"/>
          <p:cNvSpPr txBox="1"/>
          <p:nvPr/>
        </p:nvSpPr>
        <p:spPr>
          <a:xfrm>
            <a:off x="4745736"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Lineage</a:t>
            </a:r>
            <a:endParaRPr lang="en-US" sz="1500" dirty="0"/>
          </a:p>
        </p:txBody>
      </p:sp>
      <p:sp>
        <p:nvSpPr>
          <p:cNvPr id="11" name="!!n5"/>
          <p:cNvSpPr/>
          <p:nvPr/>
        </p:nvSpPr>
        <p:spPr>
          <a:xfrm>
            <a:off x="6144768" y="1691640"/>
            <a:ext cx="1234440" cy="868680"/>
          </a:xfrm>
          <a:prstGeom prst="roundRect">
            <a:avLst>
              <a:gd name="adj" fmla="val 7368"/>
            </a:avLst>
          </a:prstGeom>
          <a:solidFill>
            <a:schemeClr val="tx1"/>
          </a:solidFill>
          <a:ln w="12700">
            <a:solidFill>
              <a:srgbClr val="1C7293"/>
            </a:solidFill>
            <a:prstDash val="solid"/>
          </a:ln>
        </p:spPr>
      </p:sp>
      <p:sp>
        <p:nvSpPr>
          <p:cNvPr id="12" name="!!nt5"/>
          <p:cNvSpPr txBox="1"/>
          <p:nvPr/>
        </p:nvSpPr>
        <p:spPr>
          <a:xfrm>
            <a:off x="6144768"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Undo test</a:t>
            </a:r>
            <a:endParaRPr lang="en-US" sz="1500" dirty="0"/>
          </a:p>
        </p:txBody>
      </p:sp>
      <p:sp>
        <p:nvSpPr>
          <p:cNvPr id="13" name="!!n6"/>
          <p:cNvSpPr/>
          <p:nvPr/>
        </p:nvSpPr>
        <p:spPr>
          <a:xfrm>
            <a:off x="7543800" y="1691640"/>
            <a:ext cx="1234440" cy="868680"/>
          </a:xfrm>
          <a:prstGeom prst="roundRect">
            <a:avLst>
              <a:gd name="adj" fmla="val 7368"/>
            </a:avLst>
          </a:prstGeom>
          <a:solidFill>
            <a:schemeClr val="tx1"/>
          </a:solidFill>
          <a:ln w="12700">
            <a:solidFill>
              <a:srgbClr val="1C7293"/>
            </a:solidFill>
            <a:prstDash val="solid"/>
          </a:ln>
        </p:spPr>
      </p:sp>
      <p:sp>
        <p:nvSpPr>
          <p:cNvPr id="14" name="!!nt6"/>
          <p:cNvSpPr txBox="1"/>
          <p:nvPr/>
        </p:nvSpPr>
        <p:spPr>
          <a:xfrm>
            <a:off x="7543800"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Evidence gate</a:t>
            </a:r>
            <a:endParaRPr lang="en-US" sz="1500" dirty="0"/>
          </a:p>
        </p:txBody>
      </p:sp>
      <p:sp>
        <p:nvSpPr>
          <p:cNvPr id="15" name="!!n7"/>
          <p:cNvSpPr/>
          <p:nvPr/>
        </p:nvSpPr>
        <p:spPr>
          <a:xfrm>
            <a:off x="8942832" y="1691640"/>
            <a:ext cx="1234440" cy="868680"/>
          </a:xfrm>
          <a:prstGeom prst="roundRect">
            <a:avLst>
              <a:gd name="adj" fmla="val 7368"/>
            </a:avLst>
          </a:prstGeom>
          <a:solidFill>
            <a:schemeClr val="tx1"/>
          </a:solidFill>
          <a:ln w="12700">
            <a:solidFill>
              <a:srgbClr val="1C7293"/>
            </a:solidFill>
            <a:prstDash val="solid"/>
          </a:ln>
        </p:spPr>
      </p:sp>
      <p:sp>
        <p:nvSpPr>
          <p:cNvPr id="16" name="!!nt7"/>
          <p:cNvSpPr txBox="1"/>
          <p:nvPr/>
        </p:nvSpPr>
        <p:spPr>
          <a:xfrm>
            <a:off x="8942832"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Verdict</a:t>
            </a:r>
            <a:endParaRPr lang="en-US" sz="1500" dirty="0"/>
          </a:p>
        </p:txBody>
      </p:sp>
      <p:sp>
        <p:nvSpPr>
          <p:cNvPr id="17" name="!!n8"/>
          <p:cNvSpPr/>
          <p:nvPr/>
        </p:nvSpPr>
        <p:spPr>
          <a:xfrm>
            <a:off x="10341864" y="1691640"/>
            <a:ext cx="1234440" cy="868680"/>
          </a:xfrm>
          <a:prstGeom prst="roundRect">
            <a:avLst>
              <a:gd name="adj" fmla="val 7368"/>
            </a:avLst>
          </a:prstGeom>
          <a:solidFill>
            <a:schemeClr val="tx1"/>
          </a:solidFill>
          <a:ln w="12700">
            <a:solidFill>
              <a:srgbClr val="1C7293"/>
            </a:solidFill>
            <a:prstDash val="solid"/>
          </a:ln>
        </p:spPr>
      </p:sp>
      <p:sp>
        <p:nvSpPr>
          <p:cNvPr id="18" name="!!nt8"/>
          <p:cNvSpPr txBox="1"/>
          <p:nvPr/>
        </p:nvSpPr>
        <p:spPr>
          <a:xfrm>
            <a:off x="10341864" y="1691640"/>
            <a:ext cx="1234440" cy="868680"/>
          </a:xfrm>
          <a:prstGeom prst="rect">
            <a:avLst/>
          </a:prstGeom>
          <a:noFill/>
          <a:ln/>
        </p:spPr>
        <p:txBody>
          <a:bodyPr wrap="square" lIns="0" tIns="0" rIns="0" bIns="0" rtlCol="0" anchor="ctr"/>
          <a:lstStyle/>
          <a:p>
            <a:pPr algn="ctr" indent="0" marL="0">
              <a:buNone/>
            </a:pPr>
            <a:r>
              <a:rPr lang="en-US" sz="1500" b="1" dirty="0">
                <a:solidFill>
                  <a:schemeClr val="bg1"/>
                </a:solidFill>
              </a:rPr>
              <a:t>Write back</a:t>
            </a:r>
            <a:endParaRPr lang="en-US" sz="1500" dirty="0"/>
          </a:p>
        </p:txBody>
      </p:sp>
      <p:sp>
        <p:nvSpPr>
          <p:cNvPr id="19" name="Text 17"/>
          <p:cNvSpPr txBox="1"/>
          <p:nvPr/>
        </p:nvSpPr>
        <p:spPr>
          <a:xfrm>
            <a:off x="548640"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RAW tables fill with tonight's rows</a:t>
            </a:r>
            <a:endParaRPr lang="en-US" sz="1200" dirty="0"/>
          </a:p>
        </p:txBody>
      </p:sp>
      <p:sp>
        <p:nvSpPr>
          <p:cNvPr id="20" name="Text 18"/>
          <p:cNvSpPr txBox="1"/>
          <p:nvPr/>
        </p:nvSpPr>
        <p:spPr>
          <a:xfrm>
            <a:off x="1947672"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SQL plus a Python UDF inside Exasol</a:t>
            </a:r>
            <a:endParaRPr lang="en-US" sz="1200" dirty="0"/>
          </a:p>
        </p:txBody>
      </p:sp>
      <p:sp>
        <p:nvSpPr>
          <p:cNvPr id="21" name="Text 19"/>
          <p:cNvSpPr txBox="1"/>
          <p:nvPr/>
        </p:nvSpPr>
        <p:spPr>
          <a:xfrm>
            <a:off x="3346704"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11,074 slices in one query</a:t>
            </a:r>
            <a:endParaRPr lang="en-US" sz="1200" dirty="0"/>
          </a:p>
        </p:txBody>
      </p:sp>
      <p:sp>
        <p:nvSpPr>
          <p:cNvPr id="22" name="Text 20"/>
          <p:cNvSpPr txBox="1"/>
          <p:nvPr/>
        </p:nvSpPr>
        <p:spPr>
          <a:xfrm>
            <a:off x="4745736"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Read from EXA_ALL_VIEWS</a:t>
            </a:r>
            <a:endParaRPr lang="en-US" sz="1200" dirty="0"/>
          </a:p>
        </p:txBody>
      </p:sp>
      <p:sp>
        <p:nvSpPr>
          <p:cNvPr id="23" name="Text 21"/>
          <p:cNvSpPr txBox="1"/>
          <p:nvPr/>
        </p:nvSpPr>
        <p:spPr>
          <a:xfrm>
            <a:off x="6144768"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Pipeline rebuilt in a sandbox schema</a:t>
            </a:r>
            <a:endParaRPr lang="en-US" sz="1200" dirty="0"/>
          </a:p>
        </p:txBody>
      </p:sp>
      <p:sp>
        <p:nvSpPr>
          <p:cNvPr id="24" name="Text 22"/>
          <p:cNvSpPr txBox="1"/>
          <p:nvPr/>
        </p:nvSpPr>
        <p:spPr>
          <a:xfrm>
            <a:off x="7543800"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Four rules for each suspect</a:t>
            </a:r>
            <a:endParaRPr lang="en-US" sz="1200" dirty="0"/>
          </a:p>
        </p:txBody>
      </p:sp>
      <p:sp>
        <p:nvSpPr>
          <p:cNvPr id="25" name="Text 23"/>
          <p:cNvSpPr txBox="1"/>
          <p:nvPr/>
        </p:nvSpPr>
        <p:spPr>
          <a:xfrm>
            <a:off x="8942832"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One of four outcomes</a:t>
            </a:r>
            <a:endParaRPr lang="en-US" sz="1200" dirty="0"/>
          </a:p>
        </p:txBody>
      </p:sp>
      <p:sp>
        <p:nvSpPr>
          <p:cNvPr id="26" name="Text 24"/>
          <p:cNvSpPr txBox="1"/>
          <p:nvPr/>
        </p:nvSpPr>
        <p:spPr>
          <a:xfrm>
            <a:off x="10341864" y="2697480"/>
            <a:ext cx="1280160" cy="1188720"/>
          </a:xfrm>
          <a:prstGeom prst="rect">
            <a:avLst/>
          </a:prstGeom>
          <a:noFill/>
          <a:ln/>
        </p:spPr>
        <p:txBody>
          <a:bodyPr wrap="square" lIns="0" tIns="0" rIns="0" bIns="0" rtlCol="0" anchor="t"/>
          <a:lstStyle/>
          <a:p>
            <a:pPr algn="ctr" indent="0" marL="0">
              <a:buNone/>
            </a:pPr>
            <a:r>
              <a:rPr lang="en-US" sz="1200" dirty="0">
                <a:solidFill>
                  <a:schemeClr val="tx1"/>
                </a:solidFill>
              </a:rPr>
              <a:t>PUB.METRIC_TRUST for people and agents</a:t>
            </a:r>
            <a:endParaRPr lang="en-US" sz="1200" dirty="0"/>
          </a:p>
        </p:txBody>
      </p:sp>
      <p:sp>
        <p:nvSpPr>
          <p:cNvPr id="27" name="Shape 25"/>
          <p:cNvSpPr/>
          <p:nvPr/>
        </p:nvSpPr>
        <p:spPr>
          <a:xfrm>
            <a:off x="548640" y="4114800"/>
            <a:ext cx="3566160" cy="2011680"/>
          </a:xfrm>
          <a:prstGeom prst="roundRect">
            <a:avLst>
              <a:gd name="adj" fmla="val 3636"/>
            </a:avLst>
          </a:prstGeom>
          <a:solidFill>
            <a:schemeClr val="tx1"/>
          </a:solidFill>
          <a:ln w="9525">
            <a:solidFill>
              <a:srgbClr val="1C7293"/>
            </a:solidFill>
            <a:prstDash val="solid"/>
          </a:ln>
        </p:spPr>
      </p:sp>
      <p:sp>
        <p:nvSpPr>
          <p:cNvPr id="28" name="Text 26"/>
          <p:cNvSpPr txBox="1"/>
          <p:nvPr/>
        </p:nvSpPr>
        <p:spPr>
          <a:xfrm>
            <a:off x="777240" y="4279392"/>
            <a:ext cx="3108960" cy="41148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Prevent</a:t>
            </a:r>
            <a:endParaRPr lang="en-US" sz="2200" dirty="0"/>
          </a:p>
        </p:txBody>
      </p:sp>
      <p:sp>
        <p:nvSpPr>
          <p:cNvPr id="29" name="Text 27"/>
          <p:cNvSpPr txBox="1"/>
          <p:nvPr/>
        </p:nvSpPr>
        <p:spPr>
          <a:xfrm>
            <a:off x="777240" y="4754880"/>
            <a:ext cx="3154680" cy="1325880"/>
          </a:xfrm>
          <a:prstGeom prst="rect">
            <a:avLst/>
          </a:prstGeom>
          <a:noFill/>
          <a:ln/>
        </p:spPr>
        <p:txBody>
          <a:bodyPr wrap="square" lIns="0" tIns="0" rIns="0" bIns="0" rtlCol="0" anchor="t"/>
          <a:lstStyle/>
          <a:p>
            <a:pPr indent="0" marL="0">
              <a:buNone/>
            </a:pPr>
            <a:r>
              <a:rPr lang="en-US" sz="1400" dirty="0">
                <a:solidFill>
                  <a:srgbClr val="DDE8EC"/>
                </a:solidFill>
              </a:rPr>
              <a:t>Tonight's raw batch is checked before the dashboard sees it. A suspicious number is held and the dashboard keeps the last trusted value.</a:t>
            </a:r>
            <a:endParaRPr lang="en-US" sz="1400" dirty="0"/>
          </a:p>
        </p:txBody>
      </p:sp>
      <p:sp>
        <p:nvSpPr>
          <p:cNvPr id="30" name="Shape 28"/>
          <p:cNvSpPr/>
          <p:nvPr/>
        </p:nvSpPr>
        <p:spPr>
          <a:xfrm>
            <a:off x="4297680" y="4114800"/>
            <a:ext cx="3566160" cy="2011680"/>
          </a:xfrm>
          <a:prstGeom prst="roundRect">
            <a:avLst>
              <a:gd name="adj" fmla="val 3636"/>
            </a:avLst>
          </a:prstGeom>
          <a:solidFill>
            <a:schemeClr val="tx1"/>
          </a:solidFill>
          <a:ln w="9525">
            <a:solidFill>
              <a:srgbClr val="1C7293"/>
            </a:solidFill>
            <a:prstDash val="solid"/>
          </a:ln>
        </p:spPr>
      </p:sp>
      <p:sp>
        <p:nvSpPr>
          <p:cNvPr id="31" name="Text 29"/>
          <p:cNvSpPr txBox="1"/>
          <p:nvPr/>
        </p:nvSpPr>
        <p:spPr>
          <a:xfrm>
            <a:off x="4526280" y="4279392"/>
            <a:ext cx="3108960" cy="41148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Prove</a:t>
            </a:r>
            <a:endParaRPr lang="en-US" sz="2200" dirty="0"/>
          </a:p>
        </p:txBody>
      </p:sp>
      <p:sp>
        <p:nvSpPr>
          <p:cNvPr id="32" name="Text 30"/>
          <p:cNvSpPr txBox="1"/>
          <p:nvPr/>
        </p:nvSpPr>
        <p:spPr>
          <a:xfrm>
            <a:off x="4526280" y="4754880"/>
            <a:ext cx="3154680" cy="1325880"/>
          </a:xfrm>
          <a:prstGeom prst="rect">
            <a:avLst/>
          </a:prstGeom>
          <a:noFill/>
          <a:ln/>
        </p:spPr>
        <p:txBody>
          <a:bodyPr wrap="square" lIns="0" tIns="0" rIns="0" bIns="0" rtlCol="0" anchor="t"/>
          <a:lstStyle/>
          <a:p>
            <a:pPr indent="0" marL="0">
              <a:buNone/>
            </a:pPr>
            <a:r>
              <a:rPr lang="en-US" sz="1400" dirty="0">
                <a:solidFill>
                  <a:srgbClr val="DDE8EC"/>
                </a:solidFill>
              </a:rPr>
              <a:t>Every slice is tested, then each suspect is undone in a sandbox and the metric is re-run. A cause is confirmed only if the number comes back.</a:t>
            </a:r>
            <a:endParaRPr lang="en-US" sz="1400" dirty="0"/>
          </a:p>
        </p:txBody>
      </p:sp>
      <p:sp>
        <p:nvSpPr>
          <p:cNvPr id="33" name="Shape 31"/>
          <p:cNvSpPr/>
          <p:nvPr/>
        </p:nvSpPr>
        <p:spPr>
          <a:xfrm>
            <a:off x="8046720" y="4114800"/>
            <a:ext cx="3566160" cy="2011680"/>
          </a:xfrm>
          <a:prstGeom prst="roundRect">
            <a:avLst>
              <a:gd name="adj" fmla="val 3636"/>
            </a:avLst>
          </a:prstGeom>
          <a:solidFill>
            <a:schemeClr val="tx1"/>
          </a:solidFill>
          <a:ln w="9525">
            <a:solidFill>
              <a:srgbClr val="1C7293"/>
            </a:solidFill>
            <a:prstDash val="solid"/>
          </a:ln>
        </p:spPr>
      </p:sp>
      <p:sp>
        <p:nvSpPr>
          <p:cNvPr id="34" name="Text 32"/>
          <p:cNvSpPr txBox="1"/>
          <p:nvPr/>
        </p:nvSpPr>
        <p:spPr>
          <a:xfrm>
            <a:off x="8275320" y="4279392"/>
            <a:ext cx="3108960" cy="411480"/>
          </a:xfrm>
          <a:prstGeom prst="rect">
            <a:avLst/>
          </a:prstGeom>
          <a:noFill/>
          <a:ln/>
        </p:spPr>
        <p:txBody>
          <a:bodyPr wrap="square" lIns="0" tIns="0" rIns="0" bIns="0" rtlCol="0" anchor="t"/>
          <a:lstStyle/>
          <a:p>
            <a:pPr indent="0" marL="0">
              <a:buNone/>
            </a:pPr>
            <a:r>
              <a:rPr lang="en-US" sz="2200" b="1" dirty="0">
                <a:solidFill>
                  <a:schemeClr val="accent1"/>
                </a:solidFill>
                <a:latin typeface="+mj-lt" pitchFamily="34" charset="0"/>
                <a:ea typeface="+mj-lt" pitchFamily="34" charset="-122"/>
                <a:cs typeface="+mj-lt" pitchFamily="34" charset="-120"/>
              </a:rPr>
              <a:t>Explain</a:t>
            </a:r>
            <a:endParaRPr lang="en-US" sz="2200" dirty="0"/>
          </a:p>
        </p:txBody>
      </p:sp>
      <p:sp>
        <p:nvSpPr>
          <p:cNvPr id="35" name="Text 33"/>
          <p:cNvSpPr txBox="1"/>
          <p:nvPr/>
        </p:nvSpPr>
        <p:spPr>
          <a:xfrm>
            <a:off x="8275320" y="4754880"/>
            <a:ext cx="3154680" cy="1325880"/>
          </a:xfrm>
          <a:prstGeom prst="rect">
            <a:avLst/>
          </a:prstGeom>
          <a:noFill/>
          <a:ln/>
        </p:spPr>
        <p:txBody>
          <a:bodyPr wrap="square" lIns="0" tIns="0" rIns="0" bIns="0" rtlCol="0" anchor="t"/>
          <a:lstStyle/>
          <a:p>
            <a:pPr indent="0" marL="0">
              <a:buNone/>
            </a:pPr>
            <a:r>
              <a:rPr lang="en-US" sz="1400" dirty="0">
                <a:solidFill>
                  <a:srgbClr val="DDE8EC"/>
                </a:solidFill>
              </a:rPr>
              <a:t>A plain-language receipt and the exact fix as a diff. An LLM may rewrite the text if a key is set, and it never decides what is true.</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The four rules, and the four verdicts</a:t>
            </a:r>
            <a:endParaRPr lang="en-US" sz="3400" dirty="0"/>
          </a:p>
        </p:txBody>
      </p:sp>
      <p:sp>
        <p:nvSpPr>
          <p:cNvPr id="3" name="!!n1"/>
          <p:cNvSpPr/>
          <p:nvPr/>
        </p:nvSpPr>
        <p:spPr>
          <a:xfrm>
            <a:off x="548640" y="1417320"/>
            <a:ext cx="1325880" cy="384048"/>
          </a:xfrm>
          <a:prstGeom prst="roundRect">
            <a:avLst>
              <a:gd name="adj" fmla="val 16667"/>
            </a:avLst>
          </a:prstGeom>
          <a:solidFill>
            <a:schemeClr val="tx1"/>
          </a:solidFill>
          <a:ln w="12700">
            <a:solidFill>
              <a:srgbClr val="1C7293"/>
            </a:solidFill>
            <a:prstDash val="solid"/>
          </a:ln>
        </p:spPr>
      </p:sp>
      <p:sp>
        <p:nvSpPr>
          <p:cNvPr id="4" name="!!nt1"/>
          <p:cNvSpPr txBox="1"/>
          <p:nvPr/>
        </p:nvSpPr>
        <p:spPr>
          <a:xfrm>
            <a:off x="548640" y="1417320"/>
            <a:ext cx="1325880" cy="384048"/>
          </a:xfrm>
          <a:prstGeom prst="rect">
            <a:avLst/>
          </a:prstGeom>
          <a:noFill/>
          <a:ln/>
        </p:spPr>
        <p:txBody>
          <a:bodyPr wrap="square" lIns="0" tIns="0" rIns="0" bIns="0" rtlCol="0" anchor="ctr"/>
          <a:lstStyle/>
          <a:p>
            <a:pPr algn="ctr" indent="0" marL="0">
              <a:buNone/>
            </a:pPr>
            <a:r>
              <a:rPr lang="en-US" sz="1200" b="1" dirty="0">
                <a:solidFill>
                  <a:schemeClr val="bg1"/>
                </a:solidFill>
              </a:rPr>
              <a:t>Batch</a:t>
            </a:r>
            <a:endParaRPr lang="en-US" sz="1200" dirty="0"/>
          </a:p>
        </p:txBody>
      </p:sp>
      <p:sp>
        <p:nvSpPr>
          <p:cNvPr id="5" name="!!n2"/>
          <p:cNvSpPr/>
          <p:nvPr/>
        </p:nvSpPr>
        <p:spPr>
          <a:xfrm>
            <a:off x="1938528" y="1417320"/>
            <a:ext cx="1325880" cy="384048"/>
          </a:xfrm>
          <a:prstGeom prst="roundRect">
            <a:avLst>
              <a:gd name="adj" fmla="val 16667"/>
            </a:avLst>
          </a:prstGeom>
          <a:solidFill>
            <a:schemeClr val="tx1"/>
          </a:solidFill>
          <a:ln w="12700">
            <a:solidFill>
              <a:srgbClr val="1C7293"/>
            </a:solidFill>
            <a:prstDash val="solid"/>
          </a:ln>
        </p:spPr>
      </p:sp>
      <p:sp>
        <p:nvSpPr>
          <p:cNvPr id="6" name="!!nt2"/>
          <p:cNvSpPr txBox="1"/>
          <p:nvPr/>
        </p:nvSpPr>
        <p:spPr>
          <a:xfrm>
            <a:off x="1938528" y="1417320"/>
            <a:ext cx="1325880" cy="384048"/>
          </a:xfrm>
          <a:prstGeom prst="rect">
            <a:avLst/>
          </a:prstGeom>
          <a:noFill/>
          <a:ln/>
        </p:spPr>
        <p:txBody>
          <a:bodyPr wrap="square" lIns="0" tIns="0" rIns="0" bIns="0" rtlCol="0" anchor="ctr"/>
          <a:lstStyle/>
          <a:p>
            <a:pPr algn="ctr" indent="0" marL="0">
              <a:buNone/>
            </a:pPr>
            <a:r>
              <a:rPr lang="en-US" sz="1200" b="1" dirty="0">
                <a:solidFill>
                  <a:schemeClr val="bg1"/>
                </a:solidFill>
              </a:rPr>
              <a:t>Detectors</a:t>
            </a:r>
            <a:endParaRPr lang="en-US" sz="1200" dirty="0"/>
          </a:p>
        </p:txBody>
      </p:sp>
      <p:sp>
        <p:nvSpPr>
          <p:cNvPr id="7" name="!!n3"/>
          <p:cNvSpPr/>
          <p:nvPr/>
        </p:nvSpPr>
        <p:spPr>
          <a:xfrm>
            <a:off x="3328416" y="1417320"/>
            <a:ext cx="1325880" cy="384048"/>
          </a:xfrm>
          <a:prstGeom prst="roundRect">
            <a:avLst>
              <a:gd name="adj" fmla="val 16667"/>
            </a:avLst>
          </a:prstGeom>
          <a:solidFill>
            <a:schemeClr val="tx1"/>
          </a:solidFill>
          <a:ln w="12700">
            <a:solidFill>
              <a:srgbClr val="1C7293"/>
            </a:solidFill>
            <a:prstDash val="solid"/>
          </a:ln>
        </p:spPr>
      </p:sp>
      <p:sp>
        <p:nvSpPr>
          <p:cNvPr id="8" name="!!nt3"/>
          <p:cNvSpPr txBox="1"/>
          <p:nvPr/>
        </p:nvSpPr>
        <p:spPr>
          <a:xfrm>
            <a:off x="3328416" y="1417320"/>
            <a:ext cx="1325880" cy="384048"/>
          </a:xfrm>
          <a:prstGeom prst="rect">
            <a:avLst/>
          </a:prstGeom>
          <a:noFill/>
          <a:ln/>
        </p:spPr>
        <p:txBody>
          <a:bodyPr wrap="square" lIns="0" tIns="0" rIns="0" bIns="0" rtlCol="0" anchor="ctr"/>
          <a:lstStyle/>
          <a:p>
            <a:pPr algn="ctr" indent="0" marL="0">
              <a:buNone/>
            </a:pPr>
            <a:r>
              <a:rPr lang="en-US" sz="1200" b="1" dirty="0">
                <a:solidFill>
                  <a:schemeClr val="bg1"/>
                </a:solidFill>
              </a:rPr>
              <a:t>CUBE</a:t>
            </a:r>
            <a:endParaRPr lang="en-US" sz="1200" dirty="0"/>
          </a:p>
        </p:txBody>
      </p:sp>
      <p:sp>
        <p:nvSpPr>
          <p:cNvPr id="9" name="!!n4"/>
          <p:cNvSpPr/>
          <p:nvPr/>
        </p:nvSpPr>
        <p:spPr>
          <a:xfrm>
            <a:off x="4718304" y="1417320"/>
            <a:ext cx="1325880" cy="384048"/>
          </a:xfrm>
          <a:prstGeom prst="roundRect">
            <a:avLst>
              <a:gd name="adj" fmla="val 16667"/>
            </a:avLst>
          </a:prstGeom>
          <a:solidFill>
            <a:schemeClr val="tx1"/>
          </a:solidFill>
          <a:ln w="12700">
            <a:solidFill>
              <a:srgbClr val="1C7293"/>
            </a:solidFill>
            <a:prstDash val="solid"/>
          </a:ln>
        </p:spPr>
      </p:sp>
      <p:sp>
        <p:nvSpPr>
          <p:cNvPr id="10" name="!!nt4"/>
          <p:cNvSpPr txBox="1"/>
          <p:nvPr/>
        </p:nvSpPr>
        <p:spPr>
          <a:xfrm>
            <a:off x="4718304" y="1417320"/>
            <a:ext cx="1325880" cy="384048"/>
          </a:xfrm>
          <a:prstGeom prst="rect">
            <a:avLst/>
          </a:prstGeom>
          <a:noFill/>
          <a:ln/>
        </p:spPr>
        <p:txBody>
          <a:bodyPr wrap="square" lIns="0" tIns="0" rIns="0" bIns="0" rtlCol="0" anchor="ctr"/>
          <a:lstStyle/>
          <a:p>
            <a:pPr algn="ctr" indent="0" marL="0">
              <a:buNone/>
            </a:pPr>
            <a:r>
              <a:rPr lang="en-US" sz="1200" b="1" dirty="0">
                <a:solidFill>
                  <a:schemeClr val="bg1"/>
                </a:solidFill>
              </a:rPr>
              <a:t>Lineage</a:t>
            </a:r>
            <a:endParaRPr lang="en-US" sz="1200" dirty="0"/>
          </a:p>
        </p:txBody>
      </p:sp>
      <p:sp>
        <p:nvSpPr>
          <p:cNvPr id="11" name="!!n5"/>
          <p:cNvSpPr/>
          <p:nvPr/>
        </p:nvSpPr>
        <p:spPr>
          <a:xfrm>
            <a:off x="6108192" y="1417320"/>
            <a:ext cx="1325880" cy="384048"/>
          </a:xfrm>
          <a:prstGeom prst="roundRect">
            <a:avLst>
              <a:gd name="adj" fmla="val 16667"/>
            </a:avLst>
          </a:prstGeom>
          <a:solidFill>
            <a:schemeClr val="accent1"/>
          </a:solidFill>
          <a:ln w="12700">
            <a:solidFill>
              <a:srgbClr val="6AB541"/>
            </a:solidFill>
            <a:prstDash val="solid"/>
          </a:ln>
        </p:spPr>
      </p:sp>
      <p:sp>
        <p:nvSpPr>
          <p:cNvPr id="12" name="!!nt5"/>
          <p:cNvSpPr txBox="1"/>
          <p:nvPr/>
        </p:nvSpPr>
        <p:spPr>
          <a:xfrm>
            <a:off x="6108192" y="1417320"/>
            <a:ext cx="1325880" cy="384048"/>
          </a:xfrm>
          <a:prstGeom prst="rect">
            <a:avLst/>
          </a:prstGeom>
          <a:noFill/>
          <a:ln/>
        </p:spPr>
        <p:txBody>
          <a:bodyPr wrap="square" lIns="0" tIns="0" rIns="0" bIns="0" rtlCol="0" anchor="ctr"/>
          <a:lstStyle/>
          <a:p>
            <a:pPr algn="ctr" indent="0" marL="0">
              <a:buNone/>
            </a:pPr>
            <a:r>
              <a:rPr lang="en-US" sz="1200" b="1" dirty="0">
                <a:solidFill>
                  <a:schemeClr val="tx1"/>
                </a:solidFill>
              </a:rPr>
              <a:t>Undo</a:t>
            </a:r>
            <a:endParaRPr lang="en-US" sz="1200" dirty="0"/>
          </a:p>
        </p:txBody>
      </p:sp>
      <p:sp>
        <p:nvSpPr>
          <p:cNvPr id="13" name="!!n6"/>
          <p:cNvSpPr/>
          <p:nvPr/>
        </p:nvSpPr>
        <p:spPr>
          <a:xfrm>
            <a:off x="7498080" y="1417320"/>
            <a:ext cx="1325880" cy="384048"/>
          </a:xfrm>
          <a:prstGeom prst="roundRect">
            <a:avLst>
              <a:gd name="adj" fmla="val 16667"/>
            </a:avLst>
          </a:prstGeom>
          <a:solidFill>
            <a:schemeClr val="accent1"/>
          </a:solidFill>
          <a:ln w="12700">
            <a:solidFill>
              <a:srgbClr val="6AB541"/>
            </a:solidFill>
            <a:prstDash val="solid"/>
          </a:ln>
        </p:spPr>
      </p:sp>
      <p:sp>
        <p:nvSpPr>
          <p:cNvPr id="14" name="!!nt6"/>
          <p:cNvSpPr txBox="1"/>
          <p:nvPr/>
        </p:nvSpPr>
        <p:spPr>
          <a:xfrm>
            <a:off x="7498080" y="1417320"/>
            <a:ext cx="1325880" cy="384048"/>
          </a:xfrm>
          <a:prstGeom prst="rect">
            <a:avLst/>
          </a:prstGeom>
          <a:noFill/>
          <a:ln/>
        </p:spPr>
        <p:txBody>
          <a:bodyPr wrap="square" lIns="0" tIns="0" rIns="0" bIns="0" rtlCol="0" anchor="ctr"/>
          <a:lstStyle/>
          <a:p>
            <a:pPr algn="ctr" indent="0" marL="0">
              <a:buNone/>
            </a:pPr>
            <a:r>
              <a:rPr lang="en-US" sz="1200" b="1" dirty="0">
                <a:solidFill>
                  <a:schemeClr val="tx1"/>
                </a:solidFill>
              </a:rPr>
              <a:t>Gate</a:t>
            </a:r>
            <a:endParaRPr lang="en-US" sz="1200" dirty="0"/>
          </a:p>
        </p:txBody>
      </p:sp>
      <p:sp>
        <p:nvSpPr>
          <p:cNvPr id="15" name="!!n7"/>
          <p:cNvSpPr/>
          <p:nvPr/>
        </p:nvSpPr>
        <p:spPr>
          <a:xfrm>
            <a:off x="8887968" y="1417320"/>
            <a:ext cx="1325880" cy="384048"/>
          </a:xfrm>
          <a:prstGeom prst="roundRect">
            <a:avLst>
              <a:gd name="adj" fmla="val 16667"/>
            </a:avLst>
          </a:prstGeom>
          <a:solidFill>
            <a:schemeClr val="tx1"/>
          </a:solidFill>
          <a:ln w="12700">
            <a:solidFill>
              <a:srgbClr val="1C7293"/>
            </a:solidFill>
            <a:prstDash val="solid"/>
          </a:ln>
        </p:spPr>
      </p:sp>
      <p:sp>
        <p:nvSpPr>
          <p:cNvPr id="16" name="!!nt7"/>
          <p:cNvSpPr txBox="1"/>
          <p:nvPr/>
        </p:nvSpPr>
        <p:spPr>
          <a:xfrm>
            <a:off x="8887968" y="1417320"/>
            <a:ext cx="1325880" cy="384048"/>
          </a:xfrm>
          <a:prstGeom prst="rect">
            <a:avLst/>
          </a:prstGeom>
          <a:noFill/>
          <a:ln/>
        </p:spPr>
        <p:txBody>
          <a:bodyPr wrap="square" lIns="0" tIns="0" rIns="0" bIns="0" rtlCol="0" anchor="ctr"/>
          <a:lstStyle/>
          <a:p>
            <a:pPr algn="ctr" indent="0" marL="0">
              <a:buNone/>
            </a:pPr>
            <a:r>
              <a:rPr lang="en-US" sz="1200" b="1" dirty="0">
                <a:solidFill>
                  <a:schemeClr val="bg1"/>
                </a:solidFill>
              </a:rPr>
              <a:t>Verdict</a:t>
            </a:r>
            <a:endParaRPr lang="en-US" sz="1200" dirty="0"/>
          </a:p>
        </p:txBody>
      </p:sp>
      <p:sp>
        <p:nvSpPr>
          <p:cNvPr id="17" name="!!n8"/>
          <p:cNvSpPr/>
          <p:nvPr/>
        </p:nvSpPr>
        <p:spPr>
          <a:xfrm>
            <a:off x="10277856" y="1417320"/>
            <a:ext cx="1325880" cy="384048"/>
          </a:xfrm>
          <a:prstGeom prst="roundRect">
            <a:avLst>
              <a:gd name="adj" fmla="val 16667"/>
            </a:avLst>
          </a:prstGeom>
          <a:solidFill>
            <a:schemeClr val="tx1"/>
          </a:solidFill>
          <a:ln w="12700">
            <a:solidFill>
              <a:srgbClr val="1C7293"/>
            </a:solidFill>
            <a:prstDash val="solid"/>
          </a:ln>
        </p:spPr>
      </p:sp>
      <p:sp>
        <p:nvSpPr>
          <p:cNvPr id="18" name="!!nt8"/>
          <p:cNvSpPr txBox="1"/>
          <p:nvPr/>
        </p:nvSpPr>
        <p:spPr>
          <a:xfrm>
            <a:off x="10277856" y="1417320"/>
            <a:ext cx="1325880" cy="384048"/>
          </a:xfrm>
          <a:prstGeom prst="rect">
            <a:avLst/>
          </a:prstGeom>
          <a:noFill/>
          <a:ln/>
        </p:spPr>
        <p:txBody>
          <a:bodyPr wrap="square" lIns="0" tIns="0" rIns="0" bIns="0" rtlCol="0" anchor="ctr"/>
          <a:lstStyle/>
          <a:p>
            <a:pPr algn="ctr" indent="0" marL="0">
              <a:buNone/>
            </a:pPr>
            <a:r>
              <a:rPr lang="en-US" sz="1200" b="1" dirty="0">
                <a:solidFill>
                  <a:schemeClr val="bg1"/>
                </a:solidFill>
              </a:rPr>
              <a:t>Write</a:t>
            </a:r>
            <a:endParaRPr lang="en-US" sz="1200" dirty="0"/>
          </a:p>
        </p:txBody>
      </p:sp>
      <p:sp>
        <p:nvSpPr>
          <p:cNvPr id="19" name="Text 17"/>
          <p:cNvSpPr txBox="1"/>
          <p:nvPr/>
        </p:nvSpPr>
        <p:spPr>
          <a:xfrm>
            <a:off x="548640" y="2011680"/>
            <a:ext cx="5669280" cy="320040"/>
          </a:xfrm>
          <a:prstGeom prst="rect">
            <a:avLst/>
          </a:prstGeom>
          <a:noFill/>
          <a:ln/>
        </p:spPr>
        <p:txBody>
          <a:bodyPr wrap="square" lIns="0" tIns="0" rIns="0" bIns="0" rtlCol="0" anchor="t"/>
          <a:lstStyle/>
          <a:p>
            <a:pPr indent="0" marL="0">
              <a:buNone/>
            </a:pPr>
            <a:r>
              <a:rPr lang="en-US" sz="1400" b="1" dirty="0">
                <a:solidFill>
                  <a:srgbClr val="5B7684"/>
                </a:solidFill>
              </a:rPr>
              <a:t>A suspect is confirmed only if all four hold</a:t>
            </a:r>
            <a:endParaRPr lang="en-US" sz="1400" dirty="0"/>
          </a:p>
        </p:txBody>
      </p:sp>
      <p:sp>
        <p:nvSpPr>
          <p:cNvPr id="20" name="Shape 18"/>
          <p:cNvSpPr/>
          <p:nvPr/>
        </p:nvSpPr>
        <p:spPr>
          <a:xfrm>
            <a:off x="548640" y="2423160"/>
            <a:ext cx="5669280" cy="713232"/>
          </a:xfrm>
          <a:prstGeom prst="roundRect">
            <a:avLst>
              <a:gd name="adj" fmla="val 1025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21" name="Shape 19"/>
          <p:cNvSpPr/>
          <p:nvPr/>
        </p:nvSpPr>
        <p:spPr>
          <a:xfrm>
            <a:off x="731520" y="2578608"/>
            <a:ext cx="402336" cy="402336"/>
          </a:xfrm>
          <a:prstGeom prst="ellipse">
            <a:avLst/>
          </a:prstGeom>
          <a:solidFill>
            <a:schemeClr val="tx2"/>
          </a:solidFill>
          <a:ln w="12700">
            <a:solidFill>
              <a:srgbClr val="0C3D51"/>
            </a:solidFill>
            <a:prstDash val="solid"/>
          </a:ln>
        </p:spPr>
      </p:sp>
      <p:sp>
        <p:nvSpPr>
          <p:cNvPr id="22" name="Text 20"/>
          <p:cNvSpPr txBox="1"/>
          <p:nvPr/>
        </p:nvSpPr>
        <p:spPr>
          <a:xfrm>
            <a:off x="731520" y="257860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3" name="Text 21"/>
          <p:cNvSpPr txBox="1"/>
          <p:nvPr/>
        </p:nvSpPr>
        <p:spPr>
          <a:xfrm>
            <a:off x="1325880" y="2423160"/>
            <a:ext cx="4754880" cy="713232"/>
          </a:xfrm>
          <a:prstGeom prst="rect">
            <a:avLst/>
          </a:prstGeom>
          <a:noFill/>
          <a:ln/>
        </p:spPr>
        <p:txBody>
          <a:bodyPr wrap="square" lIns="0" tIns="0" rIns="0" bIns="0" rtlCol="0" anchor="ctr"/>
          <a:lstStyle/>
          <a:p>
            <a:pPr indent="0" marL="0">
              <a:buNone/>
            </a:pPr>
            <a:r>
              <a:rPr lang="en-US" sz="1500" dirty="0">
                <a:solidFill>
                  <a:schemeClr val="tx1"/>
                </a:solidFill>
              </a:rPr>
              <a:t>Evidence names a column and a slice</a:t>
            </a:r>
            <a:endParaRPr lang="en-US" sz="1500" dirty="0"/>
          </a:p>
        </p:txBody>
      </p:sp>
      <p:sp>
        <p:nvSpPr>
          <p:cNvPr id="24" name="Shape 22"/>
          <p:cNvSpPr/>
          <p:nvPr/>
        </p:nvSpPr>
        <p:spPr>
          <a:xfrm>
            <a:off x="932688" y="3136392"/>
            <a:ext cx="0" cy="201168"/>
          </a:xfrm>
          <a:prstGeom prst="line">
            <a:avLst/>
          </a:prstGeom>
          <a:noFill/>
          <a:ln w="22225">
            <a:solidFill>
              <a:srgbClr val="5B7684"/>
            </a:solidFill>
            <a:prstDash val="solid"/>
            <a:tailEnd type="triangle"/>
          </a:ln>
        </p:spPr>
      </p:sp>
      <p:sp>
        <p:nvSpPr>
          <p:cNvPr id="25" name="Shape 23"/>
          <p:cNvSpPr/>
          <p:nvPr/>
        </p:nvSpPr>
        <p:spPr>
          <a:xfrm>
            <a:off x="548640" y="3337560"/>
            <a:ext cx="5669280" cy="713232"/>
          </a:xfrm>
          <a:prstGeom prst="roundRect">
            <a:avLst>
              <a:gd name="adj" fmla="val 1025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26" name="Shape 24"/>
          <p:cNvSpPr/>
          <p:nvPr/>
        </p:nvSpPr>
        <p:spPr>
          <a:xfrm>
            <a:off x="731520" y="3493008"/>
            <a:ext cx="402336" cy="402336"/>
          </a:xfrm>
          <a:prstGeom prst="ellipse">
            <a:avLst/>
          </a:prstGeom>
          <a:solidFill>
            <a:schemeClr val="tx2"/>
          </a:solidFill>
          <a:ln w="12700">
            <a:solidFill>
              <a:srgbClr val="0C3D51"/>
            </a:solidFill>
            <a:prstDash val="solid"/>
          </a:ln>
        </p:spPr>
      </p:sp>
      <p:sp>
        <p:nvSpPr>
          <p:cNvPr id="27" name="Text 25"/>
          <p:cNvSpPr txBox="1"/>
          <p:nvPr/>
        </p:nvSpPr>
        <p:spPr>
          <a:xfrm>
            <a:off x="731520" y="349300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8" name="Text 26"/>
          <p:cNvSpPr txBox="1"/>
          <p:nvPr/>
        </p:nvSpPr>
        <p:spPr>
          <a:xfrm>
            <a:off x="1325880" y="3337560"/>
            <a:ext cx="4754880" cy="713232"/>
          </a:xfrm>
          <a:prstGeom prst="rect">
            <a:avLst/>
          </a:prstGeom>
          <a:noFill/>
          <a:ln/>
        </p:spPr>
        <p:txBody>
          <a:bodyPr wrap="square" lIns="0" tIns="0" rIns="0" bIns="0" rtlCol="0" anchor="ctr"/>
          <a:lstStyle/>
          <a:p>
            <a:pPr indent="0" marL="0">
              <a:buNone/>
            </a:pPr>
            <a:r>
              <a:rPr lang="en-US" sz="1500" dirty="0">
                <a:solidFill>
                  <a:schemeClr val="tx1"/>
                </a:solidFill>
              </a:rPr>
              <a:t>That column feeds the metric, by lineage</a:t>
            </a:r>
            <a:endParaRPr lang="en-US" sz="1500" dirty="0"/>
          </a:p>
        </p:txBody>
      </p:sp>
      <p:sp>
        <p:nvSpPr>
          <p:cNvPr id="29" name="Shape 27"/>
          <p:cNvSpPr/>
          <p:nvPr/>
        </p:nvSpPr>
        <p:spPr>
          <a:xfrm>
            <a:off x="932688" y="4050792"/>
            <a:ext cx="0" cy="201168"/>
          </a:xfrm>
          <a:prstGeom prst="line">
            <a:avLst/>
          </a:prstGeom>
          <a:noFill/>
          <a:ln w="22225">
            <a:solidFill>
              <a:srgbClr val="5B7684"/>
            </a:solidFill>
            <a:prstDash val="solid"/>
            <a:tailEnd type="triangle"/>
          </a:ln>
        </p:spPr>
      </p:sp>
      <p:sp>
        <p:nvSpPr>
          <p:cNvPr id="30" name="Shape 28"/>
          <p:cNvSpPr/>
          <p:nvPr/>
        </p:nvSpPr>
        <p:spPr>
          <a:xfrm>
            <a:off x="548640" y="4251960"/>
            <a:ext cx="5669280" cy="713232"/>
          </a:xfrm>
          <a:prstGeom prst="roundRect">
            <a:avLst>
              <a:gd name="adj" fmla="val 1025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31" name="Shape 29"/>
          <p:cNvSpPr/>
          <p:nvPr/>
        </p:nvSpPr>
        <p:spPr>
          <a:xfrm>
            <a:off x="731520" y="4407408"/>
            <a:ext cx="402336" cy="402336"/>
          </a:xfrm>
          <a:prstGeom prst="ellipse">
            <a:avLst/>
          </a:prstGeom>
          <a:solidFill>
            <a:schemeClr val="tx2"/>
          </a:solidFill>
          <a:ln w="12700">
            <a:solidFill>
              <a:srgbClr val="0C3D51"/>
            </a:solidFill>
            <a:prstDash val="solid"/>
          </a:ln>
        </p:spPr>
      </p:sp>
      <p:sp>
        <p:nvSpPr>
          <p:cNvPr id="32" name="Text 30"/>
          <p:cNvSpPr txBox="1"/>
          <p:nvPr/>
        </p:nvSpPr>
        <p:spPr>
          <a:xfrm>
            <a:off x="731520" y="440740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3" name="Text 31"/>
          <p:cNvSpPr txBox="1"/>
          <p:nvPr/>
        </p:nvSpPr>
        <p:spPr>
          <a:xfrm>
            <a:off x="1325880" y="4251960"/>
            <a:ext cx="4754880" cy="713232"/>
          </a:xfrm>
          <a:prstGeom prst="rect">
            <a:avLst/>
          </a:prstGeom>
          <a:noFill/>
          <a:ln/>
        </p:spPr>
        <p:txBody>
          <a:bodyPr wrap="square" lIns="0" tIns="0" rIns="0" bIns="0" rtlCol="0" anchor="ctr"/>
          <a:lstStyle/>
          <a:p>
            <a:pPr indent="0" marL="0">
              <a:buNone/>
            </a:pPr>
            <a:r>
              <a:rPr lang="en-US" sz="1500" dirty="0">
                <a:solidFill>
                  <a:schemeClr val="tx1"/>
                </a:solidFill>
              </a:rPr>
              <a:t>Undoing it moves today's number by 1.5% or more</a:t>
            </a:r>
            <a:endParaRPr lang="en-US" sz="1500" dirty="0"/>
          </a:p>
        </p:txBody>
      </p:sp>
      <p:sp>
        <p:nvSpPr>
          <p:cNvPr id="34" name="Shape 32"/>
          <p:cNvSpPr/>
          <p:nvPr/>
        </p:nvSpPr>
        <p:spPr>
          <a:xfrm>
            <a:off x="932688" y="4965192"/>
            <a:ext cx="0" cy="201168"/>
          </a:xfrm>
          <a:prstGeom prst="line">
            <a:avLst/>
          </a:prstGeom>
          <a:noFill/>
          <a:ln w="22225">
            <a:solidFill>
              <a:srgbClr val="5B7684"/>
            </a:solidFill>
            <a:prstDash val="solid"/>
            <a:tailEnd type="triangle"/>
          </a:ln>
        </p:spPr>
      </p:sp>
      <p:sp>
        <p:nvSpPr>
          <p:cNvPr id="35" name="Shape 33"/>
          <p:cNvSpPr/>
          <p:nvPr/>
        </p:nvSpPr>
        <p:spPr>
          <a:xfrm>
            <a:off x="548640" y="5166360"/>
            <a:ext cx="5669280" cy="713232"/>
          </a:xfrm>
          <a:prstGeom prst="roundRect">
            <a:avLst>
              <a:gd name="adj" fmla="val 1025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36" name="Shape 34"/>
          <p:cNvSpPr/>
          <p:nvPr/>
        </p:nvSpPr>
        <p:spPr>
          <a:xfrm>
            <a:off x="731520" y="5321808"/>
            <a:ext cx="402336" cy="402336"/>
          </a:xfrm>
          <a:prstGeom prst="ellipse">
            <a:avLst/>
          </a:prstGeom>
          <a:solidFill>
            <a:schemeClr val="tx2"/>
          </a:solidFill>
          <a:ln w="12700">
            <a:solidFill>
              <a:srgbClr val="0C3D51"/>
            </a:solidFill>
            <a:prstDash val="solid"/>
          </a:ln>
        </p:spPr>
      </p:sp>
      <p:sp>
        <p:nvSpPr>
          <p:cNvPr id="37" name="Text 35"/>
          <p:cNvSpPr txBox="1"/>
          <p:nvPr/>
        </p:nvSpPr>
        <p:spPr>
          <a:xfrm>
            <a:off x="731520" y="532180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8" name="Text 36"/>
          <p:cNvSpPr txBox="1"/>
          <p:nvPr/>
        </p:nvSpPr>
        <p:spPr>
          <a:xfrm>
            <a:off x="1325880" y="5166360"/>
            <a:ext cx="4754880" cy="713232"/>
          </a:xfrm>
          <a:prstGeom prst="rect">
            <a:avLst/>
          </a:prstGeom>
          <a:noFill/>
          <a:ln/>
        </p:spPr>
        <p:txBody>
          <a:bodyPr wrap="square" lIns="0" tIns="0" rIns="0" bIns="0" rtlCol="0" anchor="ctr"/>
          <a:lstStyle/>
          <a:p>
            <a:pPr indent="0" marL="0">
              <a:buNone/>
            </a:pPr>
            <a:r>
              <a:rPr lang="en-US" sz="1500" dirty="0">
                <a:solidFill>
                  <a:schemeClr val="tx1"/>
                </a:solidFill>
              </a:rPr>
              <a:t>History stays exactly as published</a:t>
            </a:r>
            <a:endParaRPr lang="en-US" sz="1500" dirty="0"/>
          </a:p>
        </p:txBody>
      </p:sp>
      <p:sp>
        <p:nvSpPr>
          <p:cNvPr id="39" name="Text 37"/>
          <p:cNvSpPr txBox="1"/>
          <p:nvPr/>
        </p:nvSpPr>
        <p:spPr>
          <a:xfrm>
            <a:off x="548640" y="6080760"/>
            <a:ext cx="5669280" cy="320040"/>
          </a:xfrm>
          <a:prstGeom prst="rect">
            <a:avLst/>
          </a:prstGeom>
          <a:noFill/>
          <a:ln/>
        </p:spPr>
        <p:txBody>
          <a:bodyPr wrap="square" lIns="0" tIns="0" rIns="0" bIns="0" rtlCol="0" anchor="t"/>
          <a:lstStyle/>
          <a:p>
            <a:pPr indent="0" marL="0">
              <a:buNone/>
            </a:pPr>
            <a:r>
              <a:rPr lang="en-US" sz="1100" dirty="0">
                <a:solidFill>
                  <a:srgbClr val="5B7684"/>
                </a:solidFill>
              </a:rPr>
              <a:t>Normal range = expected value plus or minus the larger of 3 standard deviations and 4%, from trusted history [15].</a:t>
            </a:r>
            <a:endParaRPr lang="en-US" sz="1100" dirty="0"/>
          </a:p>
        </p:txBody>
      </p:sp>
      <p:sp>
        <p:nvSpPr>
          <p:cNvPr id="40" name="Text 38"/>
          <p:cNvSpPr txBox="1"/>
          <p:nvPr/>
        </p:nvSpPr>
        <p:spPr>
          <a:xfrm>
            <a:off x="6583680" y="2011680"/>
            <a:ext cx="5029200" cy="320040"/>
          </a:xfrm>
          <a:prstGeom prst="rect">
            <a:avLst/>
          </a:prstGeom>
          <a:noFill/>
          <a:ln/>
        </p:spPr>
        <p:txBody>
          <a:bodyPr wrap="square" lIns="0" tIns="0" rIns="0" bIns="0" rtlCol="0" anchor="t"/>
          <a:lstStyle/>
          <a:p>
            <a:pPr indent="0" marL="0">
              <a:buNone/>
            </a:pPr>
            <a:r>
              <a:rPr lang="en-US" sz="1400" b="1" dirty="0">
                <a:solidFill>
                  <a:srgbClr val="5B7684"/>
                </a:solidFill>
              </a:rPr>
              <a:t>Four possible outcomes</a:t>
            </a:r>
            <a:endParaRPr lang="en-US" sz="1400" dirty="0"/>
          </a:p>
        </p:txBody>
      </p:sp>
      <p:sp>
        <p:nvSpPr>
          <p:cNvPr id="41" name="Shape 39"/>
          <p:cNvSpPr/>
          <p:nvPr/>
        </p:nvSpPr>
        <p:spPr>
          <a:xfrm>
            <a:off x="6583680" y="2423160"/>
            <a:ext cx="5029200" cy="777240"/>
          </a:xfrm>
          <a:prstGeom prst="roundRect">
            <a:avLst>
              <a:gd name="adj" fmla="val 9412"/>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42" name="Shape 40"/>
          <p:cNvSpPr/>
          <p:nvPr/>
        </p:nvSpPr>
        <p:spPr>
          <a:xfrm>
            <a:off x="6720840" y="2578608"/>
            <a:ext cx="1783080" cy="457200"/>
          </a:xfrm>
          <a:prstGeom prst="roundRect">
            <a:avLst>
              <a:gd name="adj" fmla="val 12000"/>
            </a:avLst>
          </a:prstGeom>
          <a:solidFill>
            <a:schemeClr val="accent4"/>
          </a:solidFill>
          <a:ln w="12700">
            <a:solidFill>
              <a:srgbClr val="9CC3D1"/>
            </a:solidFill>
            <a:prstDash val="solid"/>
          </a:ln>
        </p:spPr>
      </p:sp>
      <p:sp>
        <p:nvSpPr>
          <p:cNvPr id="43" name="Text 41"/>
          <p:cNvSpPr txBox="1"/>
          <p:nvPr/>
        </p:nvSpPr>
        <p:spPr>
          <a:xfrm>
            <a:off x="6720840" y="2578608"/>
            <a:ext cx="178308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NO_INCIDENT</a:t>
            </a:r>
            <a:endParaRPr lang="en-US" sz="1200" dirty="0"/>
          </a:p>
        </p:txBody>
      </p:sp>
      <p:sp>
        <p:nvSpPr>
          <p:cNvPr id="44" name="Text 42"/>
          <p:cNvSpPr txBox="1"/>
          <p:nvPr/>
        </p:nvSpPr>
        <p:spPr>
          <a:xfrm>
            <a:off x="8641080" y="2423160"/>
            <a:ext cx="2880360" cy="777240"/>
          </a:xfrm>
          <a:prstGeom prst="rect">
            <a:avLst/>
          </a:prstGeom>
          <a:noFill/>
          <a:ln/>
        </p:spPr>
        <p:txBody>
          <a:bodyPr wrap="square" lIns="0" tIns="0" rIns="0" bIns="0" rtlCol="0" anchor="ctr"/>
          <a:lstStyle/>
          <a:p>
            <a:pPr indent="0" marL="0">
              <a:buNone/>
            </a:pPr>
            <a:r>
              <a:rPr lang="en-US" sz="1400" dirty="0">
                <a:solidFill>
                  <a:schemeClr val="tx1"/>
                </a:solidFill>
              </a:rPr>
              <a:t>Inside the normal range. Publish.</a:t>
            </a:r>
            <a:endParaRPr lang="en-US" sz="1400" dirty="0"/>
          </a:p>
        </p:txBody>
      </p:sp>
      <p:sp>
        <p:nvSpPr>
          <p:cNvPr id="45" name="Shape 43"/>
          <p:cNvSpPr/>
          <p:nvPr/>
        </p:nvSpPr>
        <p:spPr>
          <a:xfrm>
            <a:off x="6583680" y="3337560"/>
            <a:ext cx="5029200" cy="777240"/>
          </a:xfrm>
          <a:prstGeom prst="roundRect">
            <a:avLst>
              <a:gd name="adj" fmla="val 9412"/>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46" name="Shape 44"/>
          <p:cNvSpPr/>
          <p:nvPr/>
        </p:nvSpPr>
        <p:spPr>
          <a:xfrm>
            <a:off x="6720840" y="3493008"/>
            <a:ext cx="1783080" cy="457200"/>
          </a:xfrm>
          <a:prstGeom prst="roundRect">
            <a:avLst>
              <a:gd name="adj" fmla="val 12000"/>
            </a:avLst>
          </a:prstGeom>
          <a:solidFill>
            <a:schemeClr val="accent1"/>
          </a:solidFill>
          <a:ln w="12700">
            <a:solidFill>
              <a:srgbClr val="0C3D51"/>
            </a:solidFill>
            <a:prstDash val="solid"/>
          </a:ln>
        </p:spPr>
      </p:sp>
      <p:sp>
        <p:nvSpPr>
          <p:cNvPr id="47" name="Text 45"/>
          <p:cNvSpPr txBox="1"/>
          <p:nvPr/>
        </p:nvSpPr>
        <p:spPr>
          <a:xfrm>
            <a:off x="6720840" y="3493008"/>
            <a:ext cx="178308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REAL_CHANGE</a:t>
            </a:r>
            <a:endParaRPr lang="en-US" sz="1200" dirty="0"/>
          </a:p>
        </p:txBody>
      </p:sp>
      <p:sp>
        <p:nvSpPr>
          <p:cNvPr id="48" name="Text 46"/>
          <p:cNvSpPr txBox="1"/>
          <p:nvPr/>
        </p:nvSpPr>
        <p:spPr>
          <a:xfrm>
            <a:off x="8641080" y="3337560"/>
            <a:ext cx="2880360" cy="777240"/>
          </a:xfrm>
          <a:prstGeom prst="rect">
            <a:avLst/>
          </a:prstGeom>
          <a:noFill/>
          <a:ln/>
        </p:spPr>
        <p:txBody>
          <a:bodyPr wrap="square" lIns="0" tIns="0" rIns="0" bIns="0" rtlCol="0" anchor="ctr"/>
          <a:lstStyle/>
          <a:p>
            <a:pPr indent="0" marL="0">
              <a:buNone/>
            </a:pPr>
            <a:r>
              <a:rPr lang="en-US" sz="1400" dirty="0">
                <a:solidFill>
                  <a:schemeClr val="tx1"/>
                </a:solidFill>
              </a:rPr>
              <a:t>Moved, no fault found, checks behind it pass. Publish and say so.</a:t>
            </a:r>
            <a:endParaRPr lang="en-US" sz="1400" dirty="0"/>
          </a:p>
        </p:txBody>
      </p:sp>
      <p:sp>
        <p:nvSpPr>
          <p:cNvPr id="49" name="Shape 47"/>
          <p:cNvSpPr/>
          <p:nvPr/>
        </p:nvSpPr>
        <p:spPr>
          <a:xfrm>
            <a:off x="6583680" y="4251960"/>
            <a:ext cx="5029200" cy="777240"/>
          </a:xfrm>
          <a:prstGeom prst="roundRect">
            <a:avLst>
              <a:gd name="adj" fmla="val 9412"/>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0" name="Shape 48"/>
          <p:cNvSpPr/>
          <p:nvPr/>
        </p:nvSpPr>
        <p:spPr>
          <a:xfrm>
            <a:off x="6720840" y="4407408"/>
            <a:ext cx="1783080" cy="457200"/>
          </a:xfrm>
          <a:prstGeom prst="roundRect">
            <a:avLst>
              <a:gd name="adj" fmla="val 12000"/>
            </a:avLst>
          </a:prstGeom>
          <a:solidFill>
            <a:schemeClr val="accent2"/>
          </a:solidFill>
          <a:ln w="12700">
            <a:solidFill>
              <a:srgbClr val="0C3D51"/>
            </a:solidFill>
            <a:prstDash val="solid"/>
          </a:ln>
        </p:spPr>
      </p:sp>
      <p:sp>
        <p:nvSpPr>
          <p:cNvPr id="51" name="Text 49"/>
          <p:cNvSpPr txBox="1"/>
          <p:nvPr/>
        </p:nvSpPr>
        <p:spPr>
          <a:xfrm>
            <a:off x="6720840" y="4407408"/>
            <a:ext cx="178308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PROVEN_FAULT</a:t>
            </a:r>
            <a:endParaRPr lang="en-US" sz="1200" dirty="0"/>
          </a:p>
        </p:txBody>
      </p:sp>
      <p:sp>
        <p:nvSpPr>
          <p:cNvPr id="52" name="Text 50"/>
          <p:cNvSpPr txBox="1"/>
          <p:nvPr/>
        </p:nvSpPr>
        <p:spPr>
          <a:xfrm>
            <a:off x="8641080" y="4251960"/>
            <a:ext cx="2880360" cy="777240"/>
          </a:xfrm>
          <a:prstGeom prst="rect">
            <a:avLst/>
          </a:prstGeom>
          <a:noFill/>
          <a:ln/>
        </p:spPr>
        <p:txBody>
          <a:bodyPr wrap="square" lIns="0" tIns="0" rIns="0" bIns="0" rtlCol="0" anchor="ctr"/>
          <a:lstStyle/>
          <a:p>
            <a:pPr indent="0" marL="0">
              <a:buNone/>
            </a:pPr>
            <a:r>
              <a:rPr lang="en-US" sz="1400" dirty="0">
                <a:solidFill>
                  <a:schemeClr val="tx1"/>
                </a:solidFill>
              </a:rPr>
              <a:t>Cause proven. Hold, show the fix, a person approves.</a:t>
            </a:r>
            <a:endParaRPr lang="en-US" sz="1400" dirty="0"/>
          </a:p>
        </p:txBody>
      </p:sp>
      <p:sp>
        <p:nvSpPr>
          <p:cNvPr id="53" name="Shape 51"/>
          <p:cNvSpPr/>
          <p:nvPr/>
        </p:nvSpPr>
        <p:spPr>
          <a:xfrm>
            <a:off x="6583680" y="5166360"/>
            <a:ext cx="5029200" cy="777240"/>
          </a:xfrm>
          <a:prstGeom prst="roundRect">
            <a:avLst>
              <a:gd name="adj" fmla="val 9412"/>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4" name="Shape 52"/>
          <p:cNvSpPr/>
          <p:nvPr/>
        </p:nvSpPr>
        <p:spPr>
          <a:xfrm>
            <a:off x="6720840" y="5321808"/>
            <a:ext cx="1783080" cy="457200"/>
          </a:xfrm>
          <a:prstGeom prst="roundRect">
            <a:avLst>
              <a:gd name="adj" fmla="val 12000"/>
            </a:avLst>
          </a:prstGeom>
          <a:solidFill>
            <a:schemeClr val="accent6"/>
          </a:solidFill>
          <a:ln w="12700">
            <a:solidFill>
              <a:srgbClr val="0C3D51"/>
            </a:solidFill>
            <a:prstDash val="solid"/>
          </a:ln>
        </p:spPr>
      </p:sp>
      <p:sp>
        <p:nvSpPr>
          <p:cNvPr id="55" name="Text 53"/>
          <p:cNvSpPr txBox="1"/>
          <p:nvPr/>
        </p:nvSpPr>
        <p:spPr>
          <a:xfrm>
            <a:off x="6720840" y="5321808"/>
            <a:ext cx="1783080"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UNEXPLAINED</a:t>
            </a:r>
            <a:endParaRPr lang="en-US" sz="1200" dirty="0"/>
          </a:p>
        </p:txBody>
      </p:sp>
      <p:sp>
        <p:nvSpPr>
          <p:cNvPr id="56" name="Text 54"/>
          <p:cNvSpPr txBox="1"/>
          <p:nvPr/>
        </p:nvSpPr>
        <p:spPr>
          <a:xfrm>
            <a:off x="8641080" y="5166360"/>
            <a:ext cx="2880360" cy="777240"/>
          </a:xfrm>
          <a:prstGeom prst="rect">
            <a:avLst/>
          </a:prstGeom>
          <a:noFill/>
          <a:ln/>
        </p:spPr>
        <p:txBody>
          <a:bodyPr wrap="square" lIns="0" tIns="0" rIns="0" bIns="0" rtlCol="0" anchor="ctr"/>
          <a:lstStyle/>
          <a:p>
            <a:pPr indent="0" marL="0">
              <a:buNone/>
            </a:pPr>
            <a:r>
              <a:rPr lang="en-US" sz="1400" dirty="0">
                <a:solidFill>
                  <a:schemeClr val="tx1"/>
                </a:solidFill>
              </a:rPr>
              <a:t>Moved, nothing proven. Hold, name no cause, a person decides.</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Case 1: IST written as UTC, proven and held</a:t>
            </a:r>
            <a:endParaRPr lang="en-US" sz="3400" dirty="0"/>
          </a:p>
        </p:txBody>
      </p:sp>
      <p:pic>
        <p:nvPicPr>
          <p:cNvPr id="3" name="Image 0" descr="ist_moved.png">    </p:cNvPr>
          <p:cNvPicPr>
            <a:picLocks noChangeAspect="1"/>
          </p:cNvPicPr>
          <p:nvPr/>
        </p:nvPicPr>
        <p:blipFill>
          <a:blip r:embed="rId1"/>
          <a:stretch>
            <a:fillRect/>
          </a:stretch>
        </p:blipFill>
        <p:spPr>
          <a:xfrm>
            <a:off x="548640" y="1554480"/>
            <a:ext cx="6126480" cy="4645152"/>
          </a:xfrm>
          <a:prstGeom prst="rect">
            <a:avLst/>
          </a:prstGeom>
        </p:spPr>
      </p:pic>
      <p:sp>
        <p:nvSpPr>
          <p:cNvPr id="4" name="Text 1"/>
          <p:cNvSpPr txBox="1"/>
          <p:nvPr/>
        </p:nvSpPr>
        <p:spPr>
          <a:xfrm>
            <a:off x="7269480" y="1554480"/>
            <a:ext cx="4343400" cy="548640"/>
          </a:xfrm>
          <a:prstGeom prst="rect">
            <a:avLst/>
          </a:prstGeom>
          <a:noFill/>
          <a:ln/>
        </p:spPr>
        <p:txBody>
          <a:bodyPr wrap="square" lIns="0" tIns="0" rIns="0" bIns="0" rtlCol="0" anchor="t"/>
          <a:lstStyle/>
          <a:p>
            <a:pPr indent="0" marL="0">
              <a:buNone/>
            </a:pPr>
            <a:r>
              <a:rPr lang="en-US" sz="3600" b="1" dirty="0">
                <a:solidFill>
                  <a:schemeClr val="accent2"/>
                </a:solidFill>
                <a:latin typeface="+mj-lt" pitchFamily="34" charset="0"/>
                <a:ea typeface="+mj-lt" pitchFamily="34" charset="-122"/>
                <a:cs typeface="+mj-lt" pitchFamily="34" charset="-120"/>
              </a:rPr>
              <a:t>-19.2%</a:t>
            </a:r>
            <a:endParaRPr lang="en-US" sz="3600" dirty="0"/>
          </a:p>
        </p:txBody>
      </p:sp>
      <p:sp>
        <p:nvSpPr>
          <p:cNvPr id="5" name="Text 2"/>
          <p:cNvSpPr txBox="1"/>
          <p:nvPr/>
        </p:nvSpPr>
        <p:spPr>
          <a:xfrm>
            <a:off x="7269480" y="2121408"/>
            <a:ext cx="4343400" cy="502920"/>
          </a:xfrm>
          <a:prstGeom prst="rect">
            <a:avLst/>
          </a:prstGeom>
          <a:noFill/>
          <a:ln/>
        </p:spPr>
        <p:txBody>
          <a:bodyPr wrap="square" lIns="0" tIns="0" rIns="0" bIns="0" rtlCol="0" anchor="t"/>
          <a:lstStyle/>
          <a:p>
            <a:pPr indent="0" marL="0">
              <a:buNone/>
            </a:pPr>
            <a:r>
              <a:rPr lang="en-US" sz="1400" dirty="0">
                <a:solidFill>
                  <a:schemeClr val="tx1"/>
                </a:solidFill>
              </a:rPr>
              <a:t>pipeline value against the usual level, outside the normal range</a:t>
            </a:r>
            <a:endParaRPr lang="en-US" sz="1400" dirty="0"/>
          </a:p>
        </p:txBody>
      </p:sp>
      <p:sp>
        <p:nvSpPr>
          <p:cNvPr id="6" name="Text 3"/>
          <p:cNvSpPr txBox="1"/>
          <p:nvPr/>
        </p:nvSpPr>
        <p:spPr>
          <a:xfrm>
            <a:off x="7269480" y="2670048"/>
            <a:ext cx="4343400" cy="548640"/>
          </a:xfrm>
          <a:prstGeom prst="rect">
            <a:avLst/>
          </a:prstGeom>
          <a:noFill/>
          <a:ln/>
        </p:spPr>
        <p:txBody>
          <a:bodyPr wrap="square" lIns="0" tIns="0" rIns="0" bIns="0" rtlCol="0" anchor="t"/>
          <a:lstStyle/>
          <a:p>
            <a:pPr indent="0" marL="0">
              <a:buNone/>
            </a:pPr>
            <a:r>
              <a:rPr lang="en-US" sz="3600" b="1" dirty="0">
                <a:solidFill>
                  <a:schemeClr val="accent3"/>
                </a:solidFill>
                <a:latin typeface="+mj-lt" pitchFamily="34" charset="0"/>
                <a:ea typeface="+mj-lt" pitchFamily="34" charset="-122"/>
                <a:cs typeface="+mj-lt" pitchFamily="34" charset="-120"/>
              </a:rPr>
              <a:t>5.5 h</a:t>
            </a:r>
            <a:endParaRPr lang="en-US" sz="3600" dirty="0"/>
          </a:p>
        </p:txBody>
      </p:sp>
      <p:sp>
        <p:nvSpPr>
          <p:cNvPr id="7" name="Text 4"/>
          <p:cNvSpPr txBox="1"/>
          <p:nvPr/>
        </p:nvSpPr>
        <p:spPr>
          <a:xfrm>
            <a:off x="7269480" y="3236976"/>
            <a:ext cx="4343400" cy="502920"/>
          </a:xfrm>
          <a:prstGeom prst="rect">
            <a:avLst/>
          </a:prstGeom>
          <a:noFill/>
          <a:ln/>
        </p:spPr>
        <p:txBody>
          <a:bodyPr wrap="square" lIns="0" tIns="0" rIns="0" bIns="0" rtlCol="0" anchor="t"/>
          <a:lstStyle/>
          <a:p>
            <a:pPr indent="0" marL="0">
              <a:buNone/>
            </a:pPr>
            <a:r>
              <a:rPr lang="en-US" sz="1400" dirty="0">
                <a:solidFill>
                  <a:schemeClr val="tx1"/>
                </a:solidFill>
              </a:rPr>
              <a:t>gateway B's day sits late: IST written into a UTC column</a:t>
            </a:r>
            <a:endParaRPr lang="en-US" sz="1400" dirty="0"/>
          </a:p>
        </p:txBody>
      </p:sp>
      <p:sp>
        <p:nvSpPr>
          <p:cNvPr id="8" name="Text 5"/>
          <p:cNvSpPr txBox="1"/>
          <p:nvPr/>
        </p:nvSpPr>
        <p:spPr>
          <a:xfrm>
            <a:off x="7269480" y="3785616"/>
            <a:ext cx="4343400" cy="548640"/>
          </a:xfrm>
          <a:prstGeom prst="rect">
            <a:avLst/>
          </a:prstGeom>
          <a:noFill/>
          <a:ln/>
        </p:spPr>
        <p:txBody>
          <a:bodyPr wrap="square" lIns="0" tIns="0" rIns="0" bIns="0" rtlCol="0" anchor="t"/>
          <a:lstStyle/>
          <a:p>
            <a:pPr indent="0" marL="0">
              <a:buNone/>
            </a:pPr>
            <a:r>
              <a:rPr lang="en-US" sz="3600" b="1" dirty="0">
                <a:solidFill>
                  <a:schemeClr val="accent3"/>
                </a:solidFill>
                <a:latin typeface="+mj-lt" pitchFamily="34" charset="0"/>
                <a:ea typeface="+mj-lt" pitchFamily="34" charset="-122"/>
                <a:cs typeface="+mj-lt" pitchFamily="34" charset="-120"/>
              </a:rPr>
              <a:t>+19.56%</a:t>
            </a:r>
            <a:endParaRPr lang="en-US" sz="3600" dirty="0"/>
          </a:p>
        </p:txBody>
      </p:sp>
      <p:sp>
        <p:nvSpPr>
          <p:cNvPr id="9" name="Text 6"/>
          <p:cNvSpPr txBox="1"/>
          <p:nvPr/>
        </p:nvSpPr>
        <p:spPr>
          <a:xfrm>
            <a:off x="7269480" y="4352544"/>
            <a:ext cx="4343400" cy="502920"/>
          </a:xfrm>
          <a:prstGeom prst="rect">
            <a:avLst/>
          </a:prstGeom>
          <a:noFill/>
          <a:ln/>
        </p:spPr>
        <p:txBody>
          <a:bodyPr wrap="square" lIns="0" tIns="0" rIns="0" bIns="0" rtlCol="0" anchor="t"/>
          <a:lstStyle/>
          <a:p>
            <a:pPr indent="0" marL="0">
              <a:buNone/>
            </a:pPr>
            <a:r>
              <a:rPr lang="en-US" sz="1400" dirty="0">
                <a:solidFill>
                  <a:schemeClr val="tx1"/>
                </a:solidFill>
              </a:rPr>
              <a:t>revenue moves when the fault is undone in the sandbox</a:t>
            </a:r>
            <a:endParaRPr lang="en-US" sz="1400" dirty="0"/>
          </a:p>
        </p:txBody>
      </p:sp>
      <p:sp>
        <p:nvSpPr>
          <p:cNvPr id="10" name="Text 7"/>
          <p:cNvSpPr txBox="1"/>
          <p:nvPr/>
        </p:nvSpPr>
        <p:spPr>
          <a:xfrm>
            <a:off x="7269480" y="4901184"/>
            <a:ext cx="4343400" cy="548640"/>
          </a:xfrm>
          <a:prstGeom prst="rect">
            <a:avLst/>
          </a:prstGeom>
          <a:noFill/>
          <a:ln/>
        </p:spPr>
        <p:txBody>
          <a:bodyPr wrap="square" lIns="0" tIns="0" rIns="0" bIns="0" rtlCol="0" anchor="t"/>
          <a:lstStyle/>
          <a:p>
            <a:pPr indent="0" marL="0">
              <a:buNone/>
            </a:pPr>
            <a:r>
              <a:rPr lang="en-US" sz="3600" b="1" dirty="0">
                <a:solidFill>
                  <a:schemeClr val="accent3"/>
                </a:solidFill>
                <a:latin typeface="+mj-lt" pitchFamily="34" charset="0"/>
                <a:ea typeface="+mj-lt" pitchFamily="34" charset="-122"/>
                <a:cs typeface="+mj-lt" pitchFamily="34" charset="-120"/>
              </a:rPr>
              <a:t>0.000%</a:t>
            </a:r>
            <a:endParaRPr lang="en-US" sz="3600" dirty="0"/>
          </a:p>
        </p:txBody>
      </p:sp>
      <p:sp>
        <p:nvSpPr>
          <p:cNvPr id="11" name="Text 8"/>
          <p:cNvSpPr txBox="1"/>
          <p:nvPr/>
        </p:nvSpPr>
        <p:spPr>
          <a:xfrm>
            <a:off x="7269480" y="5468112"/>
            <a:ext cx="4343400" cy="502920"/>
          </a:xfrm>
          <a:prstGeom prst="rect">
            <a:avLst/>
          </a:prstGeom>
          <a:noFill/>
          <a:ln/>
        </p:spPr>
        <p:txBody>
          <a:bodyPr wrap="square" lIns="0" tIns="0" rIns="0" bIns="0" rtlCol="0" anchor="t"/>
          <a:lstStyle/>
          <a:p>
            <a:pPr indent="0" marL="0">
              <a:buNone/>
            </a:pPr>
            <a:r>
              <a:rPr lang="en-US" sz="1400" dirty="0">
                <a:solidFill>
                  <a:schemeClr val="tx1"/>
                </a:solidFill>
              </a:rPr>
              <a:t>change to published history</a:t>
            </a:r>
            <a:endParaRPr lang="en-US" sz="1400" dirty="0"/>
          </a:p>
        </p:txBody>
      </p:sp>
      <p:sp>
        <p:nvSpPr>
          <p:cNvPr id="12" name="Text 9"/>
          <p:cNvSpPr txBox="1"/>
          <p:nvPr/>
        </p:nvSpPr>
        <p:spPr>
          <a:xfrm>
            <a:off x="7269480" y="6035040"/>
            <a:ext cx="4343400" cy="228600"/>
          </a:xfrm>
          <a:prstGeom prst="rect">
            <a:avLst/>
          </a:prstGeom>
          <a:noFill/>
          <a:ln/>
        </p:spPr>
        <p:txBody>
          <a:bodyPr wrap="square" lIns="0" tIns="0" rIns="0" bIns="0" rtlCol="0" anchor="t"/>
          <a:lstStyle/>
          <a:p>
            <a:pPr indent="0" marL="0">
              <a:buNone/>
            </a:pPr>
            <a:r>
              <a:rPr lang="en-US" sz="1100" dirty="0">
                <a:solidFill>
                  <a:srgbClr val="5B7684"/>
                </a:solidFill>
              </a:rPr>
              <a:t>Real run on Exasol Personal, synthetic data [16].</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Case 2: two faults that partly cancel</a:t>
            </a:r>
            <a:endParaRPr lang="en-US" sz="3400" dirty="0"/>
          </a:p>
        </p:txBody>
      </p:sp>
      <p:pic>
        <p:nvPicPr>
          <p:cNvPr id="3" name="Image 0" descr="pair_moved.png">    </p:cNvPr>
          <p:cNvPicPr>
            <a:picLocks noChangeAspect="1"/>
          </p:cNvPicPr>
          <p:nvPr/>
        </p:nvPicPr>
        <p:blipFill>
          <a:blip r:embed="rId1"/>
          <a:stretch>
            <a:fillRect/>
          </a:stretch>
        </p:blipFill>
        <p:spPr>
          <a:xfrm>
            <a:off x="548640" y="1600200"/>
            <a:ext cx="5943600" cy="4480560"/>
          </a:xfrm>
          <a:prstGeom prst="rect">
            <a:avLst/>
          </a:prstGeom>
        </p:spPr>
      </p:pic>
      <p:sp>
        <p:nvSpPr>
          <p:cNvPr id="4" name="Shape 1"/>
          <p:cNvSpPr/>
          <p:nvPr/>
        </p:nvSpPr>
        <p:spPr>
          <a:xfrm>
            <a:off x="6766560" y="1600200"/>
            <a:ext cx="4846320" cy="1417320"/>
          </a:xfrm>
          <a:prstGeom prst="roundRect">
            <a:avLst>
              <a:gd name="adj" fmla="val 5161"/>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6995160" y="1755648"/>
            <a:ext cx="44348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Total moved only +1.8% in this run</a:t>
            </a:r>
            <a:endParaRPr lang="en-US" sz="1800" dirty="0"/>
          </a:p>
        </p:txBody>
      </p:sp>
      <p:sp>
        <p:nvSpPr>
          <p:cNvPr id="6" name="Text 3"/>
          <p:cNvSpPr txBox="1"/>
          <p:nvPr/>
        </p:nvSpPr>
        <p:spPr>
          <a:xfrm>
            <a:off x="6995160" y="2194560"/>
            <a:ext cx="4434840" cy="777240"/>
          </a:xfrm>
          <a:prstGeom prst="rect">
            <a:avLst/>
          </a:prstGeom>
          <a:noFill/>
          <a:ln/>
        </p:spPr>
        <p:txBody>
          <a:bodyPr wrap="square" lIns="0" tIns="0" rIns="0" bIns="0" rtlCol="0" anchor="t"/>
          <a:lstStyle/>
          <a:p>
            <a:pPr indent="0" marL="0">
              <a:buNone/>
            </a:pPr>
            <a:r>
              <a:rPr lang="en-US" sz="1400" dirty="0">
                <a:solidFill>
                  <a:schemeClr val="tx1"/>
                </a:solidFill>
              </a:rPr>
              <a:t>Inside the normal range of 3.12 to 3.53 crore, so the dashboard would publish it. Over the 5 eval seeds the total was inside the range in 1.</a:t>
            </a:r>
            <a:endParaRPr lang="en-US" sz="1400" dirty="0"/>
          </a:p>
        </p:txBody>
      </p:sp>
      <p:sp>
        <p:nvSpPr>
          <p:cNvPr id="7" name="Shape 4"/>
          <p:cNvSpPr/>
          <p:nvPr/>
        </p:nvSpPr>
        <p:spPr>
          <a:xfrm>
            <a:off x="6766560" y="3154680"/>
            <a:ext cx="4846320" cy="1417320"/>
          </a:xfrm>
          <a:prstGeom prst="roundRect">
            <a:avLst>
              <a:gd name="adj" fmla="val 5161"/>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6995160" y="3310128"/>
            <a:ext cx="44348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 threshold alert never names a cause</a:t>
            </a:r>
            <a:endParaRPr lang="en-US" sz="1800" dirty="0"/>
          </a:p>
        </p:txBody>
      </p:sp>
      <p:sp>
        <p:nvSpPr>
          <p:cNvPr id="9" name="Text 6"/>
          <p:cNvSpPr txBox="1"/>
          <p:nvPr/>
        </p:nvSpPr>
        <p:spPr>
          <a:xfrm>
            <a:off x="6995160" y="3749040"/>
            <a:ext cx="4434840" cy="777240"/>
          </a:xfrm>
          <a:prstGeom prst="rect">
            <a:avLst/>
          </a:prstGeom>
          <a:noFill/>
          <a:ln/>
        </p:spPr>
        <p:txBody>
          <a:bodyPr wrap="square" lIns="0" tIns="0" rIns="0" bIns="0" rtlCol="0" anchor="t"/>
          <a:lstStyle/>
          <a:p>
            <a:pPr indent="0" marL="0">
              <a:buNone/>
            </a:pPr>
            <a:r>
              <a:rPr lang="en-US" sz="1400" dirty="0">
                <a:solidFill>
                  <a:schemeClr val="tx1"/>
                </a:solidFill>
              </a:rPr>
              <a:t>It held 4 of the 5 masked pairs without a cause and missed all 40 planted causes across 50 runs [13].</a:t>
            </a:r>
            <a:endParaRPr lang="en-US" sz="1400" dirty="0"/>
          </a:p>
        </p:txBody>
      </p:sp>
      <p:sp>
        <p:nvSpPr>
          <p:cNvPr id="10" name="Shape 7"/>
          <p:cNvSpPr/>
          <p:nvPr/>
        </p:nvSpPr>
        <p:spPr>
          <a:xfrm>
            <a:off x="6766560" y="4709160"/>
            <a:ext cx="4846320" cy="1417320"/>
          </a:xfrm>
          <a:prstGeom prst="roundRect">
            <a:avLst>
              <a:gd name="adj" fmla="val 5161"/>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6995160" y="4864608"/>
            <a:ext cx="44348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Receipts proves both</a:t>
            </a:r>
            <a:endParaRPr lang="en-US" sz="1800" dirty="0"/>
          </a:p>
        </p:txBody>
      </p:sp>
      <p:sp>
        <p:nvSpPr>
          <p:cNvPr id="12" name="Text 9"/>
          <p:cNvSpPr txBox="1"/>
          <p:nvPr/>
        </p:nvSpPr>
        <p:spPr>
          <a:xfrm>
            <a:off x="6995160" y="5303520"/>
            <a:ext cx="4434840" cy="777240"/>
          </a:xfrm>
          <a:prstGeom prst="rect">
            <a:avLst/>
          </a:prstGeom>
          <a:noFill/>
          <a:ln/>
        </p:spPr>
        <p:txBody>
          <a:bodyPr wrap="square" lIns="0" tIns="0" rIns="0" bIns="0" rtlCol="0" anchor="t"/>
          <a:lstStyle/>
          <a:p>
            <a:pPr indent="0" marL="0">
              <a:buNone/>
            </a:pPr>
            <a:r>
              <a:rPr lang="en-US" sz="1400" dirty="0">
                <a:solidFill>
                  <a:schemeClr val="tx1"/>
                </a:solidFill>
              </a:rPr>
              <a:t>Duplicate rows (undo moves it -20.60%) and the clock shift on gateway B (+19.53%). Corrected value 3.21 crore.</a:t>
            </a:r>
            <a:endParaRPr lang="en-US" sz="1400" dirty="0"/>
          </a:p>
        </p:txBody>
      </p:sp>
      <p:sp>
        <p:nvSpPr>
          <p:cNvPr id="13" name="Text 10"/>
          <p:cNvSpPr txBox="1"/>
          <p:nvPr/>
        </p:nvSpPr>
        <p:spPr>
          <a:xfrm>
            <a:off x="548640" y="6126480"/>
            <a:ext cx="5943600" cy="274320"/>
          </a:xfrm>
          <a:prstGeom prst="rect">
            <a:avLst/>
          </a:prstGeom>
          <a:noFill/>
          <a:ln/>
        </p:spPr>
        <p:txBody>
          <a:bodyPr wrap="square" lIns="0" tIns="0" rIns="0" bIns="0" rtlCol="0" anchor="t"/>
          <a:lstStyle/>
          <a:p>
            <a:pPr indent="0" marL="0">
              <a:buNone/>
            </a:pPr>
            <a:r>
              <a:rPr lang="en-US" sz="1100" dirty="0">
                <a:solidFill>
                  <a:srgbClr val="5B7684"/>
                </a:solidFill>
              </a:rPr>
              <a:t>Gateway B down 31%, gateway A up 22%: the slices disagree, so the net total moves little [16].</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Case 3: a real surge is published, not blocked</a:t>
            </a:r>
            <a:endParaRPr lang="en-US" sz="3400" dirty="0"/>
          </a:p>
        </p:txBody>
      </p:sp>
      <p:pic>
        <p:nvPicPr>
          <p:cNvPr id="3" name="Image 0" descr="fest_top.png">    </p:cNvPr>
          <p:cNvPicPr>
            <a:picLocks noChangeAspect="1"/>
          </p:cNvPicPr>
          <p:nvPr/>
        </p:nvPicPr>
        <p:blipFill>
          <a:blip r:embed="rId1"/>
          <a:stretch>
            <a:fillRect/>
          </a:stretch>
        </p:blipFill>
        <p:spPr>
          <a:xfrm>
            <a:off x="548640" y="1600200"/>
            <a:ext cx="5852160" cy="3986784"/>
          </a:xfrm>
          <a:prstGeom prst="rect">
            <a:avLst/>
          </a:prstGeom>
        </p:spPr>
      </p:pic>
      <p:sp>
        <p:nvSpPr>
          <p:cNvPr id="4" name="Shape 1"/>
          <p:cNvSpPr/>
          <p:nvPr/>
        </p:nvSpPr>
        <p:spPr>
          <a:xfrm>
            <a:off x="6675120" y="1600200"/>
            <a:ext cx="4937760" cy="1097280"/>
          </a:xfrm>
          <a:prstGeom prst="roundRect">
            <a:avLst>
              <a:gd name="adj" fmla="val 6667"/>
            </a:avLst>
          </a:prstGeom>
          <a:solidFill>
            <a:schemeClr val="tx1"/>
          </a:solidFill>
          <a:ln w="9525">
            <a:solidFill>
              <a:srgbClr val="1C7293"/>
            </a:solidFill>
            <a:prstDash val="solid"/>
          </a:ln>
        </p:spPr>
      </p:sp>
      <p:sp>
        <p:nvSpPr>
          <p:cNvPr id="5" name="Text 2"/>
          <p:cNvSpPr txBox="1"/>
          <p:nvPr/>
        </p:nvSpPr>
        <p:spPr>
          <a:xfrm>
            <a:off x="6858000" y="1728216"/>
            <a:ext cx="4572000" cy="3657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The duplicate check fires</a:t>
            </a:r>
            <a:endParaRPr lang="en-US" sz="1600" dirty="0"/>
          </a:p>
        </p:txBody>
      </p:sp>
      <p:sp>
        <p:nvSpPr>
          <p:cNvPr id="6" name="Text 3"/>
          <p:cNvSpPr txBox="1"/>
          <p:nvPr/>
        </p:nvSpPr>
        <p:spPr>
          <a:xfrm>
            <a:off x="6858000" y="2075688"/>
            <a:ext cx="4572000" cy="594360"/>
          </a:xfrm>
          <a:prstGeom prst="rect">
            <a:avLst/>
          </a:prstGeom>
          <a:noFill/>
          <a:ln/>
        </p:spPr>
        <p:txBody>
          <a:bodyPr wrap="square" lIns="0" tIns="0" rIns="0" bIns="0" rtlCol="0" anchor="t"/>
          <a:lstStyle/>
          <a:p>
            <a:pPr indent="0" marL="0">
              <a:buNone/>
            </a:pPr>
            <a:r>
              <a:rPr lang="en-US" sz="1400" dirty="0">
                <a:solidFill>
                  <a:srgbClr val="DDE8EC"/>
                </a:solidFill>
              </a:rPr>
              <a:t>811 repeated payment IDs, 6.8 times the usual rate. A festival evening brings payment retries.</a:t>
            </a:r>
            <a:endParaRPr lang="en-US" sz="1400" dirty="0"/>
          </a:p>
        </p:txBody>
      </p:sp>
      <p:sp>
        <p:nvSpPr>
          <p:cNvPr id="7" name="Shape 4"/>
          <p:cNvSpPr/>
          <p:nvPr/>
        </p:nvSpPr>
        <p:spPr>
          <a:xfrm>
            <a:off x="6675120" y="2834640"/>
            <a:ext cx="4937760" cy="1097280"/>
          </a:xfrm>
          <a:prstGeom prst="roundRect">
            <a:avLst>
              <a:gd name="adj" fmla="val 6667"/>
            </a:avLst>
          </a:prstGeom>
          <a:solidFill>
            <a:schemeClr val="tx1"/>
          </a:solidFill>
          <a:ln w="9525">
            <a:solidFill>
              <a:srgbClr val="1C7293"/>
            </a:solidFill>
            <a:prstDash val="solid"/>
          </a:ln>
        </p:spPr>
      </p:sp>
      <p:sp>
        <p:nvSpPr>
          <p:cNvPr id="8" name="Text 5"/>
          <p:cNvSpPr txBox="1"/>
          <p:nvPr/>
        </p:nvSpPr>
        <p:spPr>
          <a:xfrm>
            <a:off x="6858000" y="2962656"/>
            <a:ext cx="4572000" cy="3657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The undo test rules it out</a:t>
            </a:r>
            <a:endParaRPr lang="en-US" sz="1600" dirty="0"/>
          </a:p>
        </p:txBody>
      </p:sp>
      <p:sp>
        <p:nvSpPr>
          <p:cNvPr id="9" name="Text 6"/>
          <p:cNvSpPr txBox="1"/>
          <p:nvPr/>
        </p:nvSpPr>
        <p:spPr>
          <a:xfrm>
            <a:off x="6858000" y="3310128"/>
            <a:ext cx="4572000" cy="594360"/>
          </a:xfrm>
          <a:prstGeom prst="rect">
            <a:avLst/>
          </a:prstGeom>
          <a:noFill/>
          <a:ln/>
        </p:spPr>
        <p:txBody>
          <a:bodyPr wrap="square" lIns="0" tIns="0" rIns="0" bIns="0" rtlCol="0" anchor="t"/>
          <a:lstStyle/>
          <a:p>
            <a:pPr indent="0" marL="0">
              <a:buNone/>
            </a:pPr>
            <a:r>
              <a:rPr lang="en-US" sz="1400" dirty="0">
                <a:solidFill>
                  <a:srgbClr val="DDE8EC"/>
                </a:solidFill>
              </a:rPr>
              <a:t>Undoing the duplicates changes revenue by +0.00%, so it cannot explain a +21.1% move.</a:t>
            </a:r>
            <a:endParaRPr lang="en-US" sz="1400" dirty="0"/>
          </a:p>
        </p:txBody>
      </p:sp>
      <p:sp>
        <p:nvSpPr>
          <p:cNvPr id="10" name="Shape 7"/>
          <p:cNvSpPr/>
          <p:nvPr/>
        </p:nvSpPr>
        <p:spPr>
          <a:xfrm>
            <a:off x="6675120" y="4069080"/>
            <a:ext cx="4937760" cy="1097280"/>
          </a:xfrm>
          <a:prstGeom prst="roundRect">
            <a:avLst>
              <a:gd name="adj" fmla="val 6667"/>
            </a:avLst>
          </a:prstGeom>
          <a:solidFill>
            <a:schemeClr val="tx1"/>
          </a:solidFill>
          <a:ln w="9525">
            <a:solidFill>
              <a:srgbClr val="1C7293"/>
            </a:solidFill>
            <a:prstDash val="solid"/>
          </a:ln>
        </p:spPr>
      </p:sp>
      <p:sp>
        <p:nvSpPr>
          <p:cNvPr id="11" name="Text 8"/>
          <p:cNvSpPr txBox="1"/>
          <p:nvPr/>
        </p:nvSpPr>
        <p:spPr>
          <a:xfrm>
            <a:off x="6858000" y="4197096"/>
            <a:ext cx="4572000" cy="3657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The checks behind a real change pass</a:t>
            </a:r>
            <a:endParaRPr lang="en-US" sz="1600" dirty="0"/>
          </a:p>
        </p:txBody>
      </p:sp>
      <p:sp>
        <p:nvSpPr>
          <p:cNvPr id="12" name="Text 9"/>
          <p:cNvSpPr txBox="1"/>
          <p:nvPr/>
        </p:nvSpPr>
        <p:spPr>
          <a:xfrm>
            <a:off x="6858000" y="4544568"/>
            <a:ext cx="4572000" cy="594360"/>
          </a:xfrm>
          <a:prstGeom prst="rect">
            <a:avLst/>
          </a:prstGeom>
          <a:noFill/>
          <a:ln/>
        </p:spPr>
        <p:txBody>
          <a:bodyPr wrap="square" lIns="0" tIns="0" rIns="0" bIns="0" rtlCol="0" anchor="t"/>
          <a:lstStyle/>
          <a:p>
            <a:pPr indent="0" marL="0">
              <a:buNone/>
            </a:pPr>
            <a:r>
              <a:rPr lang="en-US" sz="1400" dirty="0">
                <a:solidFill>
                  <a:srgbClr val="DDE8EC"/>
                </a:solidFill>
              </a:rPr>
              <a:t>Ticket size moved only +2.0% and every raw payment reconciles to one revenue row.</a:t>
            </a:r>
            <a:endParaRPr lang="en-US" sz="1400" dirty="0"/>
          </a:p>
        </p:txBody>
      </p:sp>
      <p:sp>
        <p:nvSpPr>
          <p:cNvPr id="13" name="Shape 10"/>
          <p:cNvSpPr/>
          <p:nvPr/>
        </p:nvSpPr>
        <p:spPr>
          <a:xfrm>
            <a:off x="6675120" y="5303520"/>
            <a:ext cx="4937760" cy="640080"/>
          </a:xfrm>
          <a:prstGeom prst="roundRect">
            <a:avLst>
              <a:gd name="adj" fmla="val 11429"/>
            </a:avLst>
          </a:prstGeom>
          <a:solidFill>
            <a:schemeClr val="tx1"/>
          </a:solidFill>
          <a:ln w="9525">
            <a:solidFill>
              <a:srgbClr val="1C7293"/>
            </a:solidFill>
            <a:prstDash val="solid"/>
          </a:ln>
        </p:spPr>
      </p:sp>
      <p:sp>
        <p:nvSpPr>
          <p:cNvPr id="14" name="Text 11"/>
          <p:cNvSpPr txBox="1"/>
          <p:nvPr/>
        </p:nvSpPr>
        <p:spPr>
          <a:xfrm>
            <a:off x="6858000" y="5303520"/>
            <a:ext cx="4572000" cy="64008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Verdict: published as a real change, no fault found</a:t>
            </a:r>
            <a:endParaRPr lang="en-US" sz="1600" dirty="0"/>
          </a:p>
        </p:txBody>
      </p:sp>
      <p:sp>
        <p:nvSpPr>
          <p:cNvPr id="15" name="Text 12"/>
          <p:cNvSpPr txBox="1"/>
          <p:nvPr/>
        </p:nvSpPr>
        <p:spPr>
          <a:xfrm>
            <a:off x="548640" y="5760720"/>
            <a:ext cx="5852160" cy="457200"/>
          </a:xfrm>
          <a:prstGeom prst="rect">
            <a:avLst/>
          </a:prstGeom>
          <a:noFill/>
          <a:ln/>
        </p:spPr>
        <p:txBody>
          <a:bodyPr wrap="square" lIns="0" tIns="0" rIns="0" bIns="0" rtlCol="0" anchor="t"/>
          <a:lstStyle/>
          <a:p>
            <a:pPr indent="0" marL="0">
              <a:buNone/>
            </a:pPr>
            <a:r>
              <a:rPr lang="en-US" sz="1200" dirty="0">
                <a:solidFill>
                  <a:srgbClr val="5B7684"/>
                </a:solidFill>
              </a:rPr>
              <a:t>A tool that only blocks would train people to ignore it. Real demand changes are published and explained [16].</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Agents read the trust flag before they answer</a:t>
            </a:r>
            <a:endParaRPr lang="en-US" sz="3400" dirty="0"/>
          </a:p>
        </p:txBody>
      </p:sp>
      <p:sp>
        <p:nvSpPr>
          <p:cNvPr id="3" name="Shape 1"/>
          <p:cNvSpPr/>
          <p:nvPr/>
        </p:nvSpPr>
        <p:spPr>
          <a:xfrm>
            <a:off x="685800" y="1645920"/>
            <a:ext cx="1737360" cy="502920"/>
          </a:xfrm>
          <a:prstGeom prst="roundRect">
            <a:avLst>
              <a:gd name="adj" fmla="val 14545"/>
            </a:avLst>
          </a:prstGeom>
          <a:solidFill>
            <a:schemeClr val="tx1"/>
          </a:solidFill>
          <a:ln w="9525">
            <a:solidFill>
              <a:srgbClr val="1C7293"/>
            </a:solidFill>
            <a:prstDash val="solid"/>
          </a:ln>
        </p:spPr>
      </p:sp>
      <p:sp>
        <p:nvSpPr>
          <p:cNvPr id="4" name="Text 2"/>
          <p:cNvSpPr txBox="1"/>
          <p:nvPr/>
        </p:nvSpPr>
        <p:spPr>
          <a:xfrm>
            <a:off x="685800" y="1645920"/>
            <a:ext cx="1737360" cy="502920"/>
          </a:xfrm>
          <a:prstGeom prst="rect">
            <a:avLst/>
          </a:prstGeom>
          <a:noFill/>
          <a:ln/>
        </p:spPr>
        <p:txBody>
          <a:bodyPr wrap="square" lIns="0" tIns="0" rIns="0" bIns="0" rtlCol="0" anchor="ctr"/>
          <a:lstStyle/>
          <a:p>
            <a:pPr algn="ctr" indent="0" marL="0">
              <a:buNone/>
            </a:pPr>
            <a:r>
              <a:rPr lang="en-US" sz="1300" b="1" dirty="0">
                <a:solidFill>
                  <a:schemeClr val="bg1"/>
                </a:solidFill>
              </a:rPr>
              <a:t>AI agent</a:t>
            </a:r>
            <a:endParaRPr lang="en-US" sz="1300" dirty="0"/>
          </a:p>
        </p:txBody>
      </p:sp>
      <p:sp>
        <p:nvSpPr>
          <p:cNvPr id="5" name="Shape 3"/>
          <p:cNvSpPr/>
          <p:nvPr/>
        </p:nvSpPr>
        <p:spPr>
          <a:xfrm>
            <a:off x="1554480" y="2194560"/>
            <a:ext cx="0" cy="3566160"/>
          </a:xfrm>
          <a:prstGeom prst="line">
            <a:avLst/>
          </a:prstGeom>
          <a:noFill/>
          <a:ln w="12700">
            <a:solidFill>
              <a:srgbClr val="5B7684"/>
            </a:solidFill>
            <a:prstDash val="dash"/>
          </a:ln>
        </p:spPr>
      </p:sp>
      <p:sp>
        <p:nvSpPr>
          <p:cNvPr id="6" name="Shape 4"/>
          <p:cNvSpPr/>
          <p:nvPr/>
        </p:nvSpPr>
        <p:spPr>
          <a:xfrm>
            <a:off x="2743200" y="1645920"/>
            <a:ext cx="1737360" cy="502920"/>
          </a:xfrm>
          <a:prstGeom prst="roundRect">
            <a:avLst>
              <a:gd name="adj" fmla="val 14545"/>
            </a:avLst>
          </a:prstGeom>
          <a:solidFill>
            <a:schemeClr val="tx1"/>
          </a:solidFill>
          <a:ln w="9525">
            <a:solidFill>
              <a:srgbClr val="1C7293"/>
            </a:solidFill>
            <a:prstDash val="solid"/>
          </a:ln>
        </p:spPr>
      </p:sp>
      <p:sp>
        <p:nvSpPr>
          <p:cNvPr id="7" name="Text 5"/>
          <p:cNvSpPr txBox="1"/>
          <p:nvPr/>
        </p:nvSpPr>
        <p:spPr>
          <a:xfrm>
            <a:off x="2743200" y="1645920"/>
            <a:ext cx="1737360" cy="502920"/>
          </a:xfrm>
          <a:prstGeom prst="rect">
            <a:avLst/>
          </a:prstGeom>
          <a:noFill/>
          <a:ln/>
        </p:spPr>
        <p:txBody>
          <a:bodyPr wrap="square" lIns="0" tIns="0" rIns="0" bIns="0" rtlCol="0" anchor="ctr"/>
          <a:lstStyle/>
          <a:p>
            <a:pPr algn="ctr" indent="0" marL="0">
              <a:buNone/>
            </a:pPr>
            <a:r>
              <a:rPr lang="en-US" sz="1300" b="1" dirty="0">
                <a:solidFill>
                  <a:schemeClr val="bg1"/>
                </a:solidFill>
              </a:rPr>
              <a:t>Exasol MCP server</a:t>
            </a:r>
            <a:endParaRPr lang="en-US" sz="1300" dirty="0"/>
          </a:p>
        </p:txBody>
      </p:sp>
      <p:sp>
        <p:nvSpPr>
          <p:cNvPr id="8" name="Shape 6"/>
          <p:cNvSpPr/>
          <p:nvPr/>
        </p:nvSpPr>
        <p:spPr>
          <a:xfrm>
            <a:off x="3611880" y="2194560"/>
            <a:ext cx="0" cy="3566160"/>
          </a:xfrm>
          <a:prstGeom prst="line">
            <a:avLst/>
          </a:prstGeom>
          <a:noFill/>
          <a:ln w="12700">
            <a:solidFill>
              <a:srgbClr val="5B7684"/>
            </a:solidFill>
            <a:prstDash val="dash"/>
          </a:ln>
        </p:spPr>
      </p:sp>
      <p:sp>
        <p:nvSpPr>
          <p:cNvPr id="9" name="Shape 7"/>
          <p:cNvSpPr/>
          <p:nvPr/>
        </p:nvSpPr>
        <p:spPr>
          <a:xfrm>
            <a:off x="4892040" y="1645920"/>
            <a:ext cx="1737360" cy="502920"/>
          </a:xfrm>
          <a:prstGeom prst="roundRect">
            <a:avLst>
              <a:gd name="adj" fmla="val 14545"/>
            </a:avLst>
          </a:prstGeom>
          <a:solidFill>
            <a:schemeClr val="tx1"/>
          </a:solidFill>
          <a:ln w="9525">
            <a:solidFill>
              <a:srgbClr val="1C7293"/>
            </a:solidFill>
            <a:prstDash val="solid"/>
          </a:ln>
        </p:spPr>
      </p:sp>
      <p:sp>
        <p:nvSpPr>
          <p:cNvPr id="10" name="Text 8"/>
          <p:cNvSpPr txBox="1"/>
          <p:nvPr/>
        </p:nvSpPr>
        <p:spPr>
          <a:xfrm>
            <a:off x="4892040" y="1645920"/>
            <a:ext cx="1737360" cy="502920"/>
          </a:xfrm>
          <a:prstGeom prst="rect">
            <a:avLst/>
          </a:prstGeom>
          <a:noFill/>
          <a:ln/>
        </p:spPr>
        <p:txBody>
          <a:bodyPr wrap="square" lIns="0" tIns="0" rIns="0" bIns="0" rtlCol="0" anchor="ctr"/>
          <a:lstStyle/>
          <a:p>
            <a:pPr algn="ctr" indent="0" marL="0">
              <a:buNone/>
            </a:pPr>
            <a:r>
              <a:rPr lang="en-US" sz="1300" b="1" dirty="0">
                <a:solidFill>
                  <a:schemeClr val="bg1"/>
                </a:solidFill>
              </a:rPr>
              <a:t>PUB.METRIC_TRUST</a:t>
            </a:r>
            <a:endParaRPr lang="en-US" sz="1300" dirty="0"/>
          </a:p>
        </p:txBody>
      </p:sp>
      <p:sp>
        <p:nvSpPr>
          <p:cNvPr id="11" name="Shape 9"/>
          <p:cNvSpPr/>
          <p:nvPr/>
        </p:nvSpPr>
        <p:spPr>
          <a:xfrm>
            <a:off x="5760720" y="2194560"/>
            <a:ext cx="0" cy="3566160"/>
          </a:xfrm>
          <a:prstGeom prst="line">
            <a:avLst/>
          </a:prstGeom>
          <a:noFill/>
          <a:ln w="12700">
            <a:solidFill>
              <a:srgbClr val="5B7684"/>
            </a:solidFill>
            <a:prstDash val="dash"/>
          </a:ln>
        </p:spPr>
      </p:sp>
      <p:sp>
        <p:nvSpPr>
          <p:cNvPr id="12" name="Shape 10"/>
          <p:cNvSpPr/>
          <p:nvPr/>
        </p:nvSpPr>
        <p:spPr>
          <a:xfrm>
            <a:off x="1554480" y="2697480"/>
            <a:ext cx="2057400" cy="0"/>
          </a:xfrm>
          <a:prstGeom prst="line">
            <a:avLst/>
          </a:prstGeom>
          <a:noFill/>
          <a:ln w="22225">
            <a:solidFill>
              <a:srgbClr val="1C7293"/>
            </a:solidFill>
            <a:prstDash val="solid"/>
            <a:tailEnd type="triangle"/>
          </a:ln>
        </p:spPr>
      </p:sp>
      <p:sp>
        <p:nvSpPr>
          <p:cNvPr id="13" name="Text 11"/>
          <p:cNvSpPr txBox="1"/>
          <p:nvPr/>
        </p:nvSpPr>
        <p:spPr>
          <a:xfrm>
            <a:off x="1645920" y="2404872"/>
            <a:ext cx="1874520" cy="256032"/>
          </a:xfrm>
          <a:prstGeom prst="rect">
            <a:avLst/>
          </a:prstGeom>
          <a:noFill/>
          <a:ln/>
        </p:spPr>
        <p:txBody>
          <a:bodyPr wrap="square" lIns="0" tIns="0" rIns="0" bIns="0" rtlCol="0" anchor="t"/>
          <a:lstStyle/>
          <a:p>
            <a:pPr algn="ctr" indent="0" marL="0">
              <a:buNone/>
            </a:pPr>
            <a:r>
              <a:rPr lang="en-US" sz="1200" dirty="0">
                <a:solidFill>
                  <a:schemeClr val="tx1"/>
                </a:solidFill>
              </a:rPr>
              <a:t>Revenue on 20 Oct?</a:t>
            </a:r>
            <a:endParaRPr lang="en-US" sz="1200" dirty="0"/>
          </a:p>
        </p:txBody>
      </p:sp>
      <p:sp>
        <p:nvSpPr>
          <p:cNvPr id="14" name="Shape 12"/>
          <p:cNvSpPr/>
          <p:nvPr/>
        </p:nvSpPr>
        <p:spPr>
          <a:xfrm>
            <a:off x="3611880" y="3291840"/>
            <a:ext cx="2148840" cy="0"/>
          </a:xfrm>
          <a:prstGeom prst="line">
            <a:avLst/>
          </a:prstGeom>
          <a:noFill/>
          <a:ln w="22225">
            <a:solidFill>
              <a:srgbClr val="1C7293"/>
            </a:solidFill>
            <a:prstDash val="solid"/>
            <a:tailEnd type="triangle"/>
          </a:ln>
        </p:spPr>
      </p:sp>
      <p:sp>
        <p:nvSpPr>
          <p:cNvPr id="15" name="Text 13"/>
          <p:cNvSpPr txBox="1"/>
          <p:nvPr/>
        </p:nvSpPr>
        <p:spPr>
          <a:xfrm>
            <a:off x="3703320" y="2999232"/>
            <a:ext cx="1965960" cy="256032"/>
          </a:xfrm>
          <a:prstGeom prst="rect">
            <a:avLst/>
          </a:prstGeom>
          <a:noFill/>
          <a:ln/>
        </p:spPr>
        <p:txBody>
          <a:bodyPr wrap="square" lIns="0" tIns="0" rIns="0" bIns="0" rtlCol="0" anchor="t"/>
          <a:lstStyle/>
          <a:p>
            <a:pPr algn="ctr" indent="0" marL="0">
              <a:buNone/>
            </a:pPr>
            <a:r>
              <a:rPr lang="en-US" sz="1200" dirty="0">
                <a:solidFill>
                  <a:schemeClr val="tx1"/>
                </a:solidFill>
              </a:rPr>
              <a:t>SELECT status, trusted value</a:t>
            </a:r>
            <a:endParaRPr lang="en-US" sz="1200" dirty="0"/>
          </a:p>
        </p:txBody>
      </p:sp>
      <p:sp>
        <p:nvSpPr>
          <p:cNvPr id="16" name="Shape 14"/>
          <p:cNvSpPr/>
          <p:nvPr/>
        </p:nvSpPr>
        <p:spPr>
          <a:xfrm flipH="1">
            <a:off x="3611880" y="3886200"/>
            <a:ext cx="2148840" cy="0"/>
          </a:xfrm>
          <a:prstGeom prst="line">
            <a:avLst/>
          </a:prstGeom>
          <a:noFill/>
          <a:ln w="22225">
            <a:solidFill>
              <a:srgbClr val="5B7684"/>
            </a:solidFill>
            <a:prstDash val="dash"/>
            <a:tailEnd type="triangle"/>
          </a:ln>
        </p:spPr>
      </p:sp>
      <p:sp>
        <p:nvSpPr>
          <p:cNvPr id="17" name="Text 15"/>
          <p:cNvSpPr txBox="1"/>
          <p:nvPr/>
        </p:nvSpPr>
        <p:spPr>
          <a:xfrm>
            <a:off x="3703320" y="3593592"/>
            <a:ext cx="1965960" cy="256032"/>
          </a:xfrm>
          <a:prstGeom prst="rect">
            <a:avLst/>
          </a:prstGeom>
          <a:noFill/>
          <a:ln/>
        </p:spPr>
        <p:txBody>
          <a:bodyPr wrap="square" lIns="0" tIns="0" rIns="0" bIns="0" rtlCol="0" anchor="t"/>
          <a:lstStyle/>
          <a:p>
            <a:pPr algn="ctr" indent="0" marL="0">
              <a:buNone/>
            </a:pPr>
            <a:r>
              <a:rPr lang="en-US" sz="1200" dirty="0">
                <a:solidFill>
                  <a:schemeClr val="tx1"/>
                </a:solidFill>
              </a:rPr>
              <a:t>HELD, 3.27 crore on 19 Oct</a:t>
            </a:r>
            <a:endParaRPr lang="en-US" sz="1200" dirty="0"/>
          </a:p>
        </p:txBody>
      </p:sp>
      <p:sp>
        <p:nvSpPr>
          <p:cNvPr id="18" name="Shape 16"/>
          <p:cNvSpPr/>
          <p:nvPr/>
        </p:nvSpPr>
        <p:spPr>
          <a:xfrm flipH="1">
            <a:off x="1554480" y="4480560"/>
            <a:ext cx="2057400" cy="0"/>
          </a:xfrm>
          <a:prstGeom prst="line">
            <a:avLst/>
          </a:prstGeom>
          <a:noFill/>
          <a:ln w="22225">
            <a:solidFill>
              <a:srgbClr val="5B7684"/>
            </a:solidFill>
            <a:prstDash val="dash"/>
            <a:tailEnd type="triangle"/>
          </a:ln>
        </p:spPr>
      </p:sp>
      <p:sp>
        <p:nvSpPr>
          <p:cNvPr id="19" name="Text 17"/>
          <p:cNvSpPr txBox="1"/>
          <p:nvPr/>
        </p:nvSpPr>
        <p:spPr>
          <a:xfrm>
            <a:off x="1645920" y="4187952"/>
            <a:ext cx="1874520" cy="256032"/>
          </a:xfrm>
          <a:prstGeom prst="rect">
            <a:avLst/>
          </a:prstGeom>
          <a:noFill/>
          <a:ln/>
        </p:spPr>
        <p:txBody>
          <a:bodyPr wrap="square" lIns="0" tIns="0" rIns="0" bIns="0" rtlCol="0" anchor="t"/>
          <a:lstStyle/>
          <a:p>
            <a:pPr algn="ctr" indent="0" marL="0">
              <a:buNone/>
            </a:pPr>
            <a:r>
              <a:rPr lang="en-US" sz="1200" dirty="0">
                <a:solidFill>
                  <a:schemeClr val="tx1"/>
                </a:solidFill>
              </a:rPr>
              <a:t>status and last trusted value</a:t>
            </a:r>
            <a:endParaRPr lang="en-US" sz="1200" dirty="0"/>
          </a:p>
        </p:txBody>
      </p:sp>
      <p:sp>
        <p:nvSpPr>
          <p:cNvPr id="20" name="Shape 18"/>
          <p:cNvSpPr/>
          <p:nvPr/>
        </p:nvSpPr>
        <p:spPr>
          <a:xfrm>
            <a:off x="640080" y="4892040"/>
            <a:ext cx="6126480" cy="822960"/>
          </a:xfrm>
          <a:prstGeom prst="roundRect">
            <a:avLst>
              <a:gd name="adj" fmla="val 8889"/>
            </a:avLst>
          </a:prstGeom>
          <a:solidFill>
            <a:schemeClr val="tx1"/>
          </a:solidFill>
          <a:ln w="9525">
            <a:solidFill>
              <a:srgbClr val="1C7293"/>
            </a:solidFill>
            <a:prstDash val="solid"/>
          </a:ln>
        </p:spPr>
      </p:sp>
      <p:sp>
        <p:nvSpPr>
          <p:cNvPr id="21" name="Text 19"/>
          <p:cNvSpPr txBox="1"/>
          <p:nvPr/>
        </p:nvSpPr>
        <p:spPr>
          <a:xfrm>
            <a:off x="822960" y="4892040"/>
            <a:ext cx="5760720" cy="822960"/>
          </a:xfrm>
          <a:prstGeom prst="rect">
            <a:avLst/>
          </a:prstGeom>
          <a:noFill/>
          <a:ln/>
        </p:spPr>
        <p:txBody>
          <a:bodyPr wrap="square" lIns="0" tIns="0" rIns="0" bIns="0" rtlCol="0" anchor="ctr"/>
          <a:lstStyle/>
          <a:p>
            <a:pPr indent="0" marL="0">
              <a:buNone/>
            </a:pPr>
            <a:r>
              <a:rPr lang="en-US" sz="1400" b="1" dirty="0">
                <a:solidFill>
                  <a:schemeClr val="bg1"/>
                </a:solidFill>
              </a:rPr>
              <a:t>The agent answers with the trusted number and says why the new one is held.</a:t>
            </a:r>
            <a:endParaRPr lang="en-US" sz="1400" dirty="0"/>
          </a:p>
        </p:txBody>
      </p:sp>
      <p:sp>
        <p:nvSpPr>
          <p:cNvPr id="22" name="Shape 20"/>
          <p:cNvSpPr/>
          <p:nvPr/>
        </p:nvSpPr>
        <p:spPr>
          <a:xfrm>
            <a:off x="7132320" y="1645920"/>
            <a:ext cx="4480560" cy="1005840"/>
          </a:xfrm>
          <a:prstGeom prst="roundRect">
            <a:avLst>
              <a:gd name="adj" fmla="val 7273"/>
            </a:avLst>
          </a:prstGeom>
          <a:solidFill>
            <a:schemeClr val="bg1"/>
          </a:solidFill>
          <a:ln w="19050">
            <a:solidFill>
              <a:srgbClr val="E8772E"/>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7315200" y="1737360"/>
            <a:ext cx="4114800" cy="274320"/>
          </a:xfrm>
          <a:prstGeom prst="rect">
            <a:avLst/>
          </a:prstGeom>
          <a:noFill/>
          <a:ln/>
        </p:spPr>
        <p:txBody>
          <a:bodyPr wrap="square" lIns="0" tIns="0" rIns="0" bIns="0" rtlCol="0" anchor="t"/>
          <a:lstStyle/>
          <a:p>
            <a:pPr indent="0" marL="0">
              <a:buNone/>
            </a:pPr>
            <a:r>
              <a:rPr lang="en-US" sz="1200" b="1" dirty="0">
                <a:solidFill>
                  <a:schemeClr val="accent2"/>
                </a:solidFill>
              </a:rPr>
              <a:t>Agent that reads the pipeline</a:t>
            </a:r>
            <a:endParaRPr lang="en-US" sz="1200" dirty="0"/>
          </a:p>
        </p:txBody>
      </p:sp>
      <p:sp>
        <p:nvSpPr>
          <p:cNvPr id="24" name="Text 22"/>
          <p:cNvSpPr txBox="1"/>
          <p:nvPr/>
        </p:nvSpPr>
        <p:spPr>
          <a:xfrm>
            <a:off x="7315200" y="2057400"/>
            <a:ext cx="4114800" cy="457200"/>
          </a:xfrm>
          <a:prstGeom prst="rect">
            <a:avLst/>
          </a:prstGeom>
          <a:noFill/>
          <a:ln/>
        </p:spPr>
        <p:txBody>
          <a:bodyPr wrap="square" lIns="0" tIns="0" rIns="0" bIns="0" rtlCol="0" anchor="t"/>
          <a:lstStyle/>
          <a:p>
            <a:pPr indent="0" marL="0">
              <a:buNone/>
            </a:pPr>
            <a:r>
              <a:rPr lang="en-US" sz="1600" dirty="0">
                <a:solidFill>
                  <a:schemeClr val="tx1"/>
                </a:solidFill>
              </a:rPr>
              <a:t>Revenue on Tue 20 Oct was ₹3.38 crore.</a:t>
            </a:r>
            <a:endParaRPr lang="en-US" sz="1600" dirty="0"/>
          </a:p>
        </p:txBody>
      </p:sp>
      <p:sp>
        <p:nvSpPr>
          <p:cNvPr id="25" name="Shape 23"/>
          <p:cNvSpPr/>
          <p:nvPr/>
        </p:nvSpPr>
        <p:spPr>
          <a:xfrm>
            <a:off x="7132320" y="2788920"/>
            <a:ext cx="4480560" cy="1965960"/>
          </a:xfrm>
          <a:prstGeom prst="roundRect">
            <a:avLst>
              <a:gd name="adj" fmla="val 3721"/>
            </a:avLst>
          </a:prstGeom>
          <a:solidFill>
            <a:schemeClr val="bg1"/>
          </a:solidFill>
          <a:ln w="19050">
            <a:solidFill>
              <a:srgbClr val="6AB541"/>
            </a:solidFill>
            <a:prstDash val="solid"/>
          </a:ln>
          <a:effectLst>
            <a:outerShdw sx="100000" sy="100000" kx="0" ky="0" algn="bl" rotWithShape="0" blurRad="101600" dist="25400" dir="5400000">
              <a:srgbClr val="000000">
                <a:alpha val="12000"/>
              </a:srgbClr>
            </a:outerShdw>
          </a:effectLst>
        </p:spPr>
      </p:sp>
      <p:sp>
        <p:nvSpPr>
          <p:cNvPr id="26" name="Text 24"/>
          <p:cNvSpPr txBox="1"/>
          <p:nvPr/>
        </p:nvSpPr>
        <p:spPr>
          <a:xfrm>
            <a:off x="7315200" y="2880360"/>
            <a:ext cx="4114800" cy="274320"/>
          </a:xfrm>
          <a:prstGeom prst="rect">
            <a:avLst/>
          </a:prstGeom>
          <a:noFill/>
          <a:ln/>
        </p:spPr>
        <p:txBody>
          <a:bodyPr wrap="square" lIns="0" tIns="0" rIns="0" bIns="0" rtlCol="0" anchor="t"/>
          <a:lstStyle/>
          <a:p>
            <a:pPr indent="0" marL="0">
              <a:buNone/>
            </a:pPr>
            <a:r>
              <a:rPr lang="en-US" sz="1200" b="1" dirty="0">
                <a:solidFill>
                  <a:schemeClr val="accent1"/>
                </a:solidFill>
              </a:rPr>
              <a:t>Agent that checks the flag first</a:t>
            </a:r>
            <a:endParaRPr lang="en-US" sz="1200" dirty="0"/>
          </a:p>
        </p:txBody>
      </p:sp>
      <p:sp>
        <p:nvSpPr>
          <p:cNvPr id="27" name="Text 25"/>
          <p:cNvSpPr txBox="1"/>
          <p:nvPr/>
        </p:nvSpPr>
        <p:spPr>
          <a:xfrm>
            <a:off x="7315200" y="3200400"/>
            <a:ext cx="4114800" cy="1508760"/>
          </a:xfrm>
          <a:prstGeom prst="rect">
            <a:avLst/>
          </a:prstGeom>
          <a:noFill/>
          <a:ln/>
        </p:spPr>
        <p:txBody>
          <a:bodyPr wrap="square" lIns="0" tIns="0" rIns="0" bIns="0" rtlCol="0" anchor="t"/>
          <a:lstStyle/>
          <a:p>
            <a:pPr indent="0" marL="0">
              <a:buNone/>
            </a:pPr>
            <a:r>
              <a:rPr lang="en-US" sz="1400" dirty="0">
                <a:solidFill>
                  <a:schemeClr val="tx1"/>
                </a:solidFill>
              </a:rPr>
              <a:t>I can't give you a reliable number for Tue 20 Oct. The figure in the pipeline is held by data quality case RC-20261020-C038B5. The cause is proven: duplicate rows (load file F05, F06, F04); clock shift (gateway GW_B). The last trusted day, Mon 19 Oct, was ₹3.27 crore.</a:t>
            </a:r>
            <a:endParaRPr lang="en-US" sz="1400" dirty="0"/>
          </a:p>
        </p:txBody>
      </p:sp>
      <p:sp>
        <p:nvSpPr>
          <p:cNvPr id="28" name="Text 26"/>
          <p:cNvSpPr txBox="1"/>
          <p:nvPr/>
        </p:nvSpPr>
        <p:spPr>
          <a:xfrm>
            <a:off x="7132320" y="4937760"/>
            <a:ext cx="4480560" cy="1371600"/>
          </a:xfrm>
          <a:prstGeom prst="rect">
            <a:avLst/>
          </a:prstGeom>
          <a:noFill/>
          <a:ln/>
        </p:spPr>
        <p:txBody>
          <a:bodyPr wrap="square" lIns="0" tIns="0" rIns="0" bIns="0" rtlCol="0" anchor="t"/>
          <a:lstStyle/>
          <a:p>
            <a:pPr indent="0" marL="0">
              <a:buNone/>
            </a:pPr>
            <a:r>
              <a:rPr lang="en-US" sz="1200" dirty="0">
                <a:solidFill>
                  <a:schemeClr val="tx1"/>
                </a:solidFill>
              </a:rPr>
              <a:t>Both answers are real output from the two-fault case on Exasol Personal [16]. The Exasol MCP server gives agents direct access to the database, including running SQL [12]. Agents log in as a read-only user that can read PUB and nothing else. The flag is an ordinary view, so any agent or dashboard can read it.</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A real agent, a read-only login, a refusal from Exasol</a:t>
            </a:r>
            <a:endParaRPr lang="en-US" sz="3400" dirty="0"/>
          </a:p>
        </p:txBody>
      </p:sp>
      <p:sp>
        <p:nvSpPr>
          <p:cNvPr id="3" name="Shape 1"/>
          <p:cNvSpPr/>
          <p:nvPr/>
        </p:nvSpPr>
        <p:spPr>
          <a:xfrm>
            <a:off x="548640" y="1600200"/>
            <a:ext cx="11064240" cy="987552"/>
          </a:xfrm>
          <a:prstGeom prst="roundRect">
            <a:avLst>
              <a:gd name="adj" fmla="val 74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31520" y="1600200"/>
            <a:ext cx="822960" cy="987552"/>
          </a:xfrm>
          <a:prstGeom prst="rect">
            <a:avLst/>
          </a:prstGeom>
          <a:noFill/>
          <a:ln/>
        </p:spPr>
        <p:txBody>
          <a:bodyPr wrap="square" lIns="0" tIns="0" rIns="0" bIns="0" rtlCol="0" anchor="ctr"/>
          <a:lstStyle/>
          <a:p>
            <a:pPr indent="0" marL="0">
              <a:buNone/>
            </a:pPr>
            <a:r>
              <a:rPr lang="en-US" sz="1600" b="1" dirty="0">
                <a:solidFill>
                  <a:schemeClr val="accent3"/>
                </a:solidFill>
                <a:latin typeface="+mj-lt" pitchFamily="34" charset="0"/>
                <a:ea typeface="+mj-lt" pitchFamily="34" charset="-122"/>
                <a:cs typeface="+mj-lt" pitchFamily="34" charset="-120"/>
              </a:rPr>
              <a:t>Run 1</a:t>
            </a:r>
            <a:endParaRPr lang="en-US" sz="1600" dirty="0"/>
          </a:p>
        </p:txBody>
      </p:sp>
      <p:sp>
        <p:nvSpPr>
          <p:cNvPr id="5" name="Text 3"/>
          <p:cNvSpPr txBox="1"/>
          <p:nvPr/>
        </p:nvSpPr>
        <p:spPr>
          <a:xfrm>
            <a:off x="1600200" y="1600200"/>
            <a:ext cx="3291840" cy="987552"/>
          </a:xfrm>
          <a:prstGeom prst="rect">
            <a:avLst/>
          </a:prstGeom>
          <a:noFill/>
          <a:ln/>
        </p:spPr>
        <p:txBody>
          <a:bodyPr wrap="square" lIns="0" tIns="0" rIns="0" bIns="0" rtlCol="0" anchor="ctr"/>
          <a:lstStyle/>
          <a:p>
            <a:pPr indent="0" marL="0">
              <a:buNone/>
            </a:pPr>
            <a:r>
              <a:rPr lang="en-US" sz="1300" b="1" dirty="0">
                <a:solidFill>
                  <a:schemeClr val="tx2"/>
                </a:solidFill>
              </a:rPr>
              <a:t>Can I rely on revenue for Tue 20 Oct?</a:t>
            </a:r>
            <a:endParaRPr lang="en-US" sz="1300" dirty="0"/>
          </a:p>
        </p:txBody>
      </p:sp>
      <p:sp>
        <p:nvSpPr>
          <p:cNvPr id="6" name="Text 4"/>
          <p:cNvSpPr txBox="1"/>
          <p:nvPr/>
        </p:nvSpPr>
        <p:spPr>
          <a:xfrm>
            <a:off x="5029200" y="1600200"/>
            <a:ext cx="6446520" cy="987552"/>
          </a:xfrm>
          <a:prstGeom prst="rect">
            <a:avLst/>
          </a:prstGeom>
          <a:noFill/>
          <a:ln/>
        </p:spPr>
        <p:txBody>
          <a:bodyPr wrap="square" lIns="0" tIns="0" rIns="0" bIns="0" rtlCol="0" anchor="ctr"/>
          <a:lstStyle/>
          <a:p>
            <a:pPr indent="0" marL="0">
              <a:buNone/>
            </a:pPr>
            <a:r>
              <a:rPr lang="en-US" sz="1200" dirty="0">
                <a:solidFill>
                  <a:schemeClr val="tx1"/>
                </a:solidFill>
              </a:rPr>
              <a:t>No. It is held. The agent gave the last trusted value, 19 Oct, ₹32,718,706, and named the cause: a clock shift on gateway GW_B. It also mentioned the held figure, it did not hide it.</a:t>
            </a:r>
            <a:endParaRPr lang="en-US" sz="1200" dirty="0"/>
          </a:p>
        </p:txBody>
      </p:sp>
      <p:sp>
        <p:nvSpPr>
          <p:cNvPr id="7" name="Shape 5"/>
          <p:cNvSpPr/>
          <p:nvPr/>
        </p:nvSpPr>
        <p:spPr>
          <a:xfrm>
            <a:off x="548640" y="2679192"/>
            <a:ext cx="11064240" cy="987552"/>
          </a:xfrm>
          <a:prstGeom prst="roundRect">
            <a:avLst>
              <a:gd name="adj" fmla="val 74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731520" y="2679192"/>
            <a:ext cx="822960" cy="987552"/>
          </a:xfrm>
          <a:prstGeom prst="rect">
            <a:avLst/>
          </a:prstGeom>
          <a:noFill/>
          <a:ln/>
        </p:spPr>
        <p:txBody>
          <a:bodyPr wrap="square" lIns="0" tIns="0" rIns="0" bIns="0" rtlCol="0" anchor="ctr"/>
          <a:lstStyle/>
          <a:p>
            <a:pPr indent="0" marL="0">
              <a:buNone/>
            </a:pPr>
            <a:r>
              <a:rPr lang="en-US" sz="1600" b="1" dirty="0">
                <a:solidFill>
                  <a:schemeClr val="accent3"/>
                </a:solidFill>
                <a:latin typeface="+mj-lt" pitchFamily="34" charset="0"/>
                <a:ea typeface="+mj-lt" pitchFamily="34" charset="-122"/>
                <a:cs typeface="+mj-lt" pitchFamily="34" charset="-120"/>
              </a:rPr>
              <a:t>Run 2</a:t>
            </a:r>
            <a:endParaRPr lang="en-US" sz="1600" dirty="0"/>
          </a:p>
        </p:txBody>
      </p:sp>
      <p:sp>
        <p:nvSpPr>
          <p:cNvPr id="9" name="Text 7"/>
          <p:cNvSpPr txBox="1"/>
          <p:nvPr/>
        </p:nvSpPr>
        <p:spPr>
          <a:xfrm>
            <a:off x="1600200" y="2679192"/>
            <a:ext cx="3291840" cy="987552"/>
          </a:xfrm>
          <a:prstGeom prst="rect">
            <a:avLst/>
          </a:prstGeom>
          <a:noFill/>
          <a:ln/>
        </p:spPr>
        <p:txBody>
          <a:bodyPr wrap="square" lIns="0" tIns="0" rIns="0" bIns="0" rtlCol="0" anchor="ctr"/>
          <a:lstStyle/>
          <a:p>
            <a:pPr indent="0" marL="0">
              <a:buNone/>
            </a:pPr>
            <a:r>
              <a:rPr lang="en-US" sz="1300" b="1" dirty="0">
                <a:solidFill>
                  <a:schemeClr val="tx2"/>
                </a:solidFill>
              </a:rPr>
              <a:t>Which dashboards or views are affected?</a:t>
            </a:r>
            <a:endParaRPr lang="en-US" sz="1300" dirty="0"/>
          </a:p>
        </p:txBody>
      </p:sp>
      <p:sp>
        <p:nvSpPr>
          <p:cNvPr id="10" name="Text 8"/>
          <p:cNvSpPr txBox="1"/>
          <p:nvPr/>
        </p:nvSpPr>
        <p:spPr>
          <a:xfrm>
            <a:off x="5029200" y="2679192"/>
            <a:ext cx="6446520" cy="987552"/>
          </a:xfrm>
          <a:prstGeom prst="rect">
            <a:avLst/>
          </a:prstGeom>
          <a:noFill/>
          <a:ln/>
        </p:spPr>
        <p:txBody>
          <a:bodyPr wrap="square" lIns="0" tIns="0" rIns="0" bIns="0" rtlCol="0" anchor="ctr"/>
          <a:lstStyle/>
          <a:p>
            <a:pPr indent="0" marL="0">
              <a:buNone/>
            </a:pPr>
            <a:r>
              <a:rPr lang="en-US" sz="1200" dirty="0">
                <a:solidFill>
                  <a:schemeClr val="tx1"/>
                </a:solidFill>
              </a:rPr>
              <a:t>It found PUB.METRIC_TRUST and PUB.DASHBOARD_REVENUE itself. The four MART and PIPE views came from the case record, because this login cannot see those schemas. The agent said so.</a:t>
            </a:r>
            <a:endParaRPr lang="en-US" sz="1200" dirty="0"/>
          </a:p>
        </p:txBody>
      </p:sp>
      <p:sp>
        <p:nvSpPr>
          <p:cNvPr id="11" name="Shape 9"/>
          <p:cNvSpPr/>
          <p:nvPr/>
        </p:nvSpPr>
        <p:spPr>
          <a:xfrm>
            <a:off x="548640" y="3758184"/>
            <a:ext cx="11064240" cy="987552"/>
          </a:xfrm>
          <a:prstGeom prst="roundRect">
            <a:avLst>
              <a:gd name="adj" fmla="val 740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731520" y="3758184"/>
            <a:ext cx="822960" cy="987552"/>
          </a:xfrm>
          <a:prstGeom prst="rect">
            <a:avLst/>
          </a:prstGeom>
          <a:noFill/>
          <a:ln/>
        </p:spPr>
        <p:txBody>
          <a:bodyPr wrap="square" lIns="0" tIns="0" rIns="0" bIns="0" rtlCol="0" anchor="ctr"/>
          <a:lstStyle/>
          <a:p>
            <a:pPr indent="0" marL="0">
              <a:buNone/>
            </a:pPr>
            <a:r>
              <a:rPr lang="en-US" sz="1600" b="1" dirty="0">
                <a:solidFill>
                  <a:schemeClr val="accent3"/>
                </a:solidFill>
                <a:latin typeface="+mj-lt" pitchFamily="34" charset="0"/>
                <a:ea typeface="+mj-lt" pitchFamily="34" charset="-122"/>
                <a:cs typeface="+mj-lt" pitchFamily="34" charset="-120"/>
              </a:rPr>
              <a:t>Run 3</a:t>
            </a:r>
            <a:endParaRPr lang="en-US" sz="1600" dirty="0"/>
          </a:p>
        </p:txBody>
      </p:sp>
      <p:sp>
        <p:nvSpPr>
          <p:cNvPr id="13" name="Text 11"/>
          <p:cNvSpPr txBox="1"/>
          <p:nvPr/>
        </p:nvSpPr>
        <p:spPr>
          <a:xfrm>
            <a:off x="1600200" y="3758184"/>
            <a:ext cx="3291840" cy="987552"/>
          </a:xfrm>
          <a:prstGeom prst="rect">
            <a:avLst/>
          </a:prstGeom>
          <a:noFill/>
          <a:ln/>
        </p:spPr>
        <p:txBody>
          <a:bodyPr wrap="square" lIns="0" tIns="0" rIns="0" bIns="0" rtlCol="0" anchor="ctr"/>
          <a:lstStyle/>
          <a:p>
            <a:pPr indent="0" marL="0">
              <a:buNone/>
            </a:pPr>
            <a:r>
              <a:rPr lang="en-US" sz="1300" b="1" dirty="0">
                <a:solidFill>
                  <a:schemeClr val="tx2"/>
                </a:solidFill>
              </a:rPr>
              <a:t>Delete the held batch and set the status to TRUSTED.</a:t>
            </a:r>
            <a:endParaRPr lang="en-US" sz="1300" dirty="0"/>
          </a:p>
        </p:txBody>
      </p:sp>
      <p:sp>
        <p:nvSpPr>
          <p:cNvPr id="14" name="Text 12"/>
          <p:cNvSpPr txBox="1"/>
          <p:nvPr/>
        </p:nvSpPr>
        <p:spPr>
          <a:xfrm>
            <a:off x="5029200" y="3758184"/>
            <a:ext cx="6446520" cy="987552"/>
          </a:xfrm>
          <a:prstGeom prst="rect">
            <a:avLst/>
          </a:prstGeom>
          <a:noFill/>
          <a:ln/>
        </p:spPr>
        <p:txBody>
          <a:bodyPr wrap="square" lIns="0" tIns="0" rIns="0" bIns="0" rtlCol="0" anchor="ctr"/>
          <a:lstStyle/>
          <a:p>
            <a:pPr indent="0" marL="0">
              <a:buNone/>
            </a:pPr>
            <a:r>
              <a:rPr lang="en-US" sz="1200" dirty="0">
                <a:solidFill>
                  <a:schemeClr val="tx1"/>
                </a:solidFill>
              </a:rPr>
              <a:t>Declined, reasoning from its grants and from the open case. It did not attempt the write.</a:t>
            </a:r>
            <a:endParaRPr lang="en-US" sz="1200" dirty="0"/>
          </a:p>
        </p:txBody>
      </p:sp>
      <p:sp>
        <p:nvSpPr>
          <p:cNvPr id="15" name="Shape 13"/>
          <p:cNvSpPr/>
          <p:nvPr/>
        </p:nvSpPr>
        <p:spPr>
          <a:xfrm>
            <a:off x="548640" y="4837176"/>
            <a:ext cx="11064240" cy="987552"/>
          </a:xfrm>
          <a:prstGeom prst="roundRect">
            <a:avLst>
              <a:gd name="adj" fmla="val 7407"/>
            </a:avLst>
          </a:prstGeom>
          <a:solidFill>
            <a:schemeClr val="tx1"/>
          </a:solidFill>
          <a:ln w="9525">
            <a:solidFill>
              <a:srgbClr val="1C7293"/>
            </a:solidFill>
            <a:prstDash val="solid"/>
          </a:ln>
        </p:spPr>
      </p:sp>
      <p:sp>
        <p:nvSpPr>
          <p:cNvPr id="16" name="Text 14"/>
          <p:cNvSpPr txBox="1"/>
          <p:nvPr/>
        </p:nvSpPr>
        <p:spPr>
          <a:xfrm>
            <a:off x="731520" y="4837176"/>
            <a:ext cx="822960" cy="987552"/>
          </a:xfrm>
          <a:prstGeom prst="rect">
            <a:avLst/>
          </a:prstGeom>
          <a:noFill/>
          <a:ln/>
        </p:spPr>
        <p:txBody>
          <a:bodyPr wrap="square" lIns="0" tIns="0" rIns="0" bIns="0" rtlCol="0" anchor="ctr"/>
          <a:lstStyle/>
          <a:p>
            <a:pPr indent="0" marL="0">
              <a:buNone/>
            </a:pPr>
            <a:r>
              <a:rPr lang="en-US" sz="1600" b="1" dirty="0">
                <a:solidFill>
                  <a:schemeClr val="accent2"/>
                </a:solidFill>
                <a:latin typeface="+mj-lt" pitchFamily="34" charset="0"/>
                <a:ea typeface="+mj-lt" pitchFamily="34" charset="-122"/>
                <a:cs typeface="+mj-lt" pitchFamily="34" charset="-120"/>
              </a:rPr>
              <a:t>Run 4</a:t>
            </a:r>
            <a:endParaRPr lang="en-US" sz="1600" dirty="0"/>
          </a:p>
        </p:txBody>
      </p:sp>
      <p:sp>
        <p:nvSpPr>
          <p:cNvPr id="17" name="Text 15"/>
          <p:cNvSpPr txBox="1"/>
          <p:nvPr/>
        </p:nvSpPr>
        <p:spPr>
          <a:xfrm>
            <a:off x="1600200" y="4837176"/>
            <a:ext cx="3291840" cy="987552"/>
          </a:xfrm>
          <a:prstGeom prst="rect">
            <a:avLst/>
          </a:prstGeom>
          <a:noFill/>
          <a:ln/>
        </p:spPr>
        <p:txBody>
          <a:bodyPr wrap="square" lIns="0" tIns="0" rIns="0" bIns="0" rtlCol="0" anchor="ctr"/>
          <a:lstStyle/>
          <a:p>
            <a:pPr indent="0" marL="0">
              <a:buNone/>
            </a:pPr>
            <a:r>
              <a:rPr lang="en-US" sz="1300" b="1" dirty="0">
                <a:solidFill>
                  <a:schemeClr val="bg1"/>
                </a:solidFill>
              </a:rPr>
              <a:t>Try it anyway, and show the exact error.</a:t>
            </a:r>
            <a:endParaRPr lang="en-US" sz="1300" dirty="0"/>
          </a:p>
        </p:txBody>
      </p:sp>
      <p:sp>
        <p:nvSpPr>
          <p:cNvPr id="18" name="Text 16"/>
          <p:cNvSpPr txBox="1"/>
          <p:nvPr/>
        </p:nvSpPr>
        <p:spPr>
          <a:xfrm>
            <a:off x="5029200" y="4837176"/>
            <a:ext cx="6446520" cy="987552"/>
          </a:xfrm>
          <a:prstGeom prst="rect">
            <a:avLst/>
          </a:prstGeom>
          <a:noFill/>
          <a:ln/>
        </p:spPr>
        <p:txBody>
          <a:bodyPr wrap="square" lIns="0" tIns="0" rIns="0" bIns="0" rtlCol="0" anchor="ctr"/>
          <a:lstStyle/>
          <a:p>
            <a:pPr indent="0" marL="0">
              <a:buNone/>
            </a:pPr>
            <a:r>
              <a:rPr lang="en-US" sz="1200" dirty="0">
                <a:solidFill>
                  <a:srgbClr val="DDE8EC"/>
                </a:solidFill>
              </a:rPr>
              <a:t>UPDATE sent through the server's write tool. Exasol: "insufficient privileges for updating table DAILY_REVENUE_PUBLISHED". The row is still HELD.</a:t>
            </a:r>
            <a:endParaRPr lang="en-US" sz="1200" dirty="0"/>
          </a:p>
        </p:txBody>
      </p:sp>
      <p:sp>
        <p:nvSpPr>
          <p:cNvPr id="19" name="Text 17"/>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1100" dirty="0">
                <a:solidFill>
                  <a:srgbClr val="5B7684"/>
                </a:solidFill>
              </a:rPr>
              <a:t>The agent was a Claude Code session (2.1.308, Claude Opus 5.5) limited to the Exasol MCP tools, exasol-mcp-server 2.3.0, connected as AGENT_READER, 28 Oct 2026. It is not a standalone chat client. Unedited transcripts and a separate no-model protocol run are committed [23].</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Who saw the wrong number, and a trust badge</a:t>
            </a:r>
            <a:endParaRPr lang="en-US" sz="3400" dirty="0"/>
          </a:p>
        </p:txBody>
      </p:sp>
      <p:pic>
        <p:nvPicPr>
          <p:cNvPr id="3" name="Image 0" descr="who_saw.png">    </p:cNvPr>
          <p:cNvPicPr>
            <a:picLocks noChangeAspect="1"/>
          </p:cNvPicPr>
          <p:nvPr/>
        </p:nvPicPr>
        <p:blipFill>
          <a:blip r:embed="rId1"/>
          <a:stretch>
            <a:fillRect/>
          </a:stretch>
        </p:blipFill>
        <p:spPr>
          <a:xfrm>
            <a:off x="548640" y="1600200"/>
            <a:ext cx="5943600" cy="2239373"/>
          </a:xfrm>
          <a:prstGeom prst="rect">
            <a:avLst/>
          </a:prstGeom>
        </p:spPr>
      </p:pic>
      <p:pic>
        <p:nvPicPr>
          <p:cNvPr id="4" name="Image 1" descr="badges.png">    </p:cNvPr>
          <p:cNvPicPr>
            <a:picLocks noChangeAspect="1"/>
          </p:cNvPicPr>
          <p:nvPr/>
        </p:nvPicPr>
        <p:blipFill>
          <a:blip r:embed="rId2"/>
          <a:stretch>
            <a:fillRect/>
          </a:stretch>
        </p:blipFill>
        <p:spPr>
          <a:xfrm>
            <a:off x="548640" y="4023360"/>
            <a:ext cx="5943600" cy="1771576"/>
          </a:xfrm>
          <a:prstGeom prst="rect">
            <a:avLst/>
          </a:prstGeom>
        </p:spPr>
      </p:pic>
      <p:sp>
        <p:nvSpPr>
          <p:cNvPr id="5" name="Text 1"/>
          <p:cNvSpPr txBox="1"/>
          <p:nvPr/>
        </p:nvSpPr>
        <p:spPr>
          <a:xfrm>
            <a:off x="548640" y="5943600"/>
            <a:ext cx="5943600" cy="411480"/>
          </a:xfrm>
          <a:prstGeom prst="rect">
            <a:avLst/>
          </a:prstGeom>
          <a:noFill/>
          <a:ln/>
        </p:spPr>
        <p:txBody>
          <a:bodyPr wrap="square" lIns="0" tIns="0" rIns="0" bIns="0" rtlCol="0" anchor="t"/>
          <a:lstStyle/>
          <a:p>
            <a:pPr indent="0" marL="0">
              <a:buNone/>
            </a:pPr>
            <a:r>
              <a:rPr lang="en-US" sz="1100" dirty="0">
                <a:solidFill>
                  <a:srgbClr val="5B7684"/>
                </a:solidFill>
              </a:rPr>
              <a:t>Stand-in screenshots, synthetic data [16]. Ten live checks on Exasol 2026.2.0-nano.3 passed [23].</a:t>
            </a:r>
            <a:endParaRPr lang="en-US" sz="1100" dirty="0"/>
          </a:p>
        </p:txBody>
      </p:sp>
      <p:sp>
        <p:nvSpPr>
          <p:cNvPr id="6" name="Shape 2"/>
          <p:cNvSpPr/>
          <p:nvPr/>
        </p:nvSpPr>
        <p:spPr>
          <a:xfrm>
            <a:off x="6858000" y="1600200"/>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7" name="Text 3"/>
          <p:cNvSpPr txBox="1"/>
          <p:nvPr/>
        </p:nvSpPr>
        <p:spPr>
          <a:xfrm>
            <a:off x="7040880" y="1709928"/>
            <a:ext cx="43891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Read from the view definitions</a:t>
            </a:r>
            <a:endParaRPr lang="en-US" sz="1700" dirty="0"/>
          </a:p>
        </p:txBody>
      </p:sp>
      <p:sp>
        <p:nvSpPr>
          <p:cNvPr id="8" name="Text 4"/>
          <p:cNvSpPr txBox="1"/>
          <p:nvPr/>
        </p:nvSpPr>
        <p:spPr>
          <a:xfrm>
            <a:off x="7040880" y="2075688"/>
            <a:ext cx="4389120" cy="868680"/>
          </a:xfrm>
          <a:prstGeom prst="rect">
            <a:avLst/>
          </a:prstGeom>
          <a:noFill/>
          <a:ln/>
        </p:spPr>
        <p:txBody>
          <a:bodyPr wrap="square" lIns="0" tIns="0" rIns="0" bIns="0" rtlCol="0" anchor="t"/>
          <a:lstStyle/>
          <a:p>
            <a:pPr indent="0" marL="0">
              <a:buNone/>
            </a:pPr>
            <a:r>
              <a:rPr lang="en-US" sz="1200" dirty="0">
                <a:solidFill>
                  <a:schemeClr val="tx1"/>
                </a:solidFill>
              </a:rPr>
              <a:t>Lineage over 16 views from SYS.EXA_ALL_VIEWS names which views read the held value and which read only published values. The list is also in PUB.METRIC_TRUST (DOWNSTREAM_COUNT and DOWNSTREAM_OBJECTS).</a:t>
            </a:r>
            <a:endParaRPr lang="en-US" sz="1200" dirty="0"/>
          </a:p>
        </p:txBody>
      </p:sp>
      <p:sp>
        <p:nvSpPr>
          <p:cNvPr id="9" name="Shape 5"/>
          <p:cNvSpPr/>
          <p:nvPr/>
        </p:nvSpPr>
        <p:spPr>
          <a:xfrm>
            <a:off x="6858000" y="3081528"/>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7040880" y="3191256"/>
            <a:ext cx="43891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Who actually read it</a:t>
            </a:r>
            <a:endParaRPr lang="en-US" sz="1700" dirty="0"/>
          </a:p>
        </p:txBody>
      </p:sp>
      <p:sp>
        <p:nvSpPr>
          <p:cNvPr id="11" name="Text 7"/>
          <p:cNvSpPr txBox="1"/>
          <p:nvPr/>
        </p:nvSpPr>
        <p:spPr>
          <a:xfrm>
            <a:off x="7040880" y="3557016"/>
            <a:ext cx="4389120" cy="868680"/>
          </a:xfrm>
          <a:prstGeom prst="rect">
            <a:avLst/>
          </a:prstGeom>
          <a:noFill/>
          <a:ln/>
        </p:spPr>
        <p:txBody>
          <a:bodyPr wrap="square" lIns="0" tIns="0" rIns="0" bIns="0" rtlCol="0" anchor="t"/>
          <a:lstStyle/>
          <a:p>
            <a:pPr indent="0" marL="0">
              <a:buNone/>
            </a:pPr>
            <a:r>
              <a:rPr lang="en-US" sz="1200" dirty="0">
                <a:solidFill>
                  <a:schemeClr val="tx1"/>
                </a:solidFill>
              </a:rPr>
              <a:t>On Exasol the audit log lists the sessions that read the number in the bad window. The stand-in keeps no query log and says so. All 57 statements of one gate run matched the audit log, none missing [21].</a:t>
            </a:r>
            <a:endParaRPr lang="en-US" sz="1200" dirty="0"/>
          </a:p>
        </p:txBody>
      </p:sp>
      <p:sp>
        <p:nvSpPr>
          <p:cNvPr id="12" name="Shape 8"/>
          <p:cNvSpPr/>
          <p:nvPr/>
        </p:nvSpPr>
        <p:spPr>
          <a:xfrm>
            <a:off x="6858000" y="4562856"/>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7040880" y="4672584"/>
            <a:ext cx="4389120"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A badge for any BI tool</a:t>
            </a:r>
            <a:endParaRPr lang="en-US" sz="1700" dirty="0"/>
          </a:p>
        </p:txBody>
      </p:sp>
      <p:sp>
        <p:nvSpPr>
          <p:cNvPr id="14" name="Text 10"/>
          <p:cNvSpPr txBox="1"/>
          <p:nvPr/>
        </p:nvSpPr>
        <p:spPr>
          <a:xfrm>
            <a:off x="7040880" y="5038344"/>
            <a:ext cx="4389120" cy="868680"/>
          </a:xfrm>
          <a:prstGeom prst="rect">
            <a:avLst/>
          </a:prstGeom>
          <a:noFill/>
          <a:ln/>
        </p:spPr>
        <p:txBody>
          <a:bodyPr wrap="square" lIns="0" tIns="0" rIns="0" bIns="0" rtlCol="0" anchor="t"/>
          <a:lstStyle/>
          <a:p>
            <a:pPr indent="0" marL="0">
              <a:buNone/>
            </a:pPr>
            <a:r>
              <a:rPr lang="en-US" sz="1200" dirty="0">
                <a:solidFill>
                  <a:schemeClr val="tx1"/>
                </a:solidFill>
              </a:rPr>
              <a:t>GET /badge.svg shows TRUSTED, HELD, CORRECTED or REAL CHANGE with the last trusted day and no raw data. On Exasol it went HELD after the hold and CORRECTED after approval.</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Try it: break the pipeline and watch the proof</a:t>
            </a:r>
            <a:endParaRPr lang="en-US" sz="3400" dirty="0"/>
          </a:p>
        </p:txBody>
      </p:sp>
      <p:pic>
        <p:nvPicPr>
          <p:cNvPr id="3" name="Image 0" descr="break_it.png">    </p:cNvPr>
          <p:cNvPicPr>
            <a:picLocks noChangeAspect="1"/>
          </p:cNvPicPr>
          <p:nvPr/>
        </p:nvPicPr>
        <p:blipFill>
          <a:blip r:embed="rId1"/>
          <a:stretch>
            <a:fillRect/>
          </a:stretch>
        </p:blipFill>
        <p:spPr>
          <a:xfrm>
            <a:off x="548640" y="1600200"/>
            <a:ext cx="6675120" cy="2798064"/>
          </a:xfrm>
          <a:prstGeom prst="rect">
            <a:avLst/>
          </a:prstGeom>
        </p:spPr>
      </p:pic>
      <p:sp>
        <p:nvSpPr>
          <p:cNvPr id="4" name="Text 1"/>
          <p:cNvSpPr txBox="1"/>
          <p:nvPr/>
        </p:nvSpPr>
        <p:spPr>
          <a:xfrm>
            <a:off x="548640" y="4480560"/>
            <a:ext cx="6675120" cy="457200"/>
          </a:xfrm>
          <a:prstGeom prst="rect">
            <a:avLst/>
          </a:prstGeom>
          <a:noFill/>
          <a:ln/>
        </p:spPr>
        <p:txBody>
          <a:bodyPr wrap="square" lIns="0" tIns="0" rIns="0" bIns="0" rtlCol="0" anchor="t"/>
          <a:lstStyle/>
          <a:p>
            <a:pPr indent="0" marL="0">
              <a:buNone/>
            </a:pPr>
            <a:r>
              <a:rPr lang="en-US" sz="1200" dirty="0">
                <a:solidFill>
                  <a:srgbClr val="5B7684"/>
                </a:solidFill>
              </a:rPr>
              <a:t>One run in lab mode on Exasol: each step of the gate ticks off with its time from the database [21].</a:t>
            </a:r>
            <a:endParaRPr lang="en-US" sz="1200" dirty="0"/>
          </a:p>
        </p:txBody>
      </p:sp>
      <p:sp>
        <p:nvSpPr>
          <p:cNvPr id="5" name="Text 2"/>
          <p:cNvSpPr txBox="1"/>
          <p:nvPr/>
        </p:nvSpPr>
        <p:spPr>
          <a:xfrm>
            <a:off x="548640" y="4983480"/>
            <a:ext cx="6675120" cy="1097280"/>
          </a:xfrm>
          <a:prstGeom prst="rect">
            <a:avLst/>
          </a:prstGeom>
          <a:noFill/>
          <a:ln/>
        </p:spPr>
        <p:txBody>
          <a:bodyPr wrap="square" lIns="0" tIns="0" rIns="0" bIns="0" rtlCol="0" anchor="t"/>
          <a:lstStyle/>
          <a:p>
            <a:pPr indent="0" marL="0">
              <a:buNone/>
            </a:pPr>
            <a:r>
              <a:rPr lang="en-US" sz="1400" dirty="0">
                <a:solidFill>
                  <a:schemeClr val="tx1"/>
                </a:solidFill>
              </a:rPr>
              <a:t>A person picks a fault, how many rows to damage and which gateway. The gate runs while the steps tick off, the number is held, and the receipt opens. Reset puts the clean batch back so another fault can be tried.</a:t>
            </a:r>
            <a:endParaRPr lang="en-US" sz="1400" dirty="0"/>
          </a:p>
        </p:txBody>
      </p:sp>
      <p:sp>
        <p:nvSpPr>
          <p:cNvPr id="6" name="Shape 3"/>
          <p:cNvSpPr/>
          <p:nvPr/>
        </p:nvSpPr>
        <p:spPr>
          <a:xfrm>
            <a:off x="7589520" y="1600200"/>
            <a:ext cx="4023360" cy="1417320"/>
          </a:xfrm>
          <a:prstGeom prst="roundRect">
            <a:avLst>
              <a:gd name="adj" fmla="val 5161"/>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7772400" y="1737360"/>
            <a:ext cx="365760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Normal mode</a:t>
            </a:r>
            <a:endParaRPr lang="en-US" sz="1800" dirty="0"/>
          </a:p>
        </p:txBody>
      </p:sp>
      <p:sp>
        <p:nvSpPr>
          <p:cNvPr id="8" name="Text 5"/>
          <p:cNvSpPr txBox="1"/>
          <p:nvPr/>
        </p:nvSpPr>
        <p:spPr>
          <a:xfrm>
            <a:off x="7772400" y="2167128"/>
            <a:ext cx="3657600" cy="822960"/>
          </a:xfrm>
          <a:prstGeom prst="rect">
            <a:avLst/>
          </a:prstGeom>
          <a:noFill/>
          <a:ln/>
        </p:spPr>
        <p:txBody>
          <a:bodyPr wrap="square" lIns="0" tIns="0" rIns="0" bIns="0" rtlCol="0" anchor="t"/>
          <a:lstStyle/>
          <a:p>
            <a:pPr indent="0" marL="0">
              <a:buNone/>
            </a:pPr>
            <a:r>
              <a:rPr lang="en-US" sz="1300" dirty="0">
                <a:solidFill>
                  <a:schemeClr val="tx1"/>
                </a:solidFill>
              </a:rPr>
              <a:t>Watches every batch and proves why a number moved. It cannot change data. The only write a person can make is approving a proven correction.</a:t>
            </a:r>
            <a:endParaRPr lang="en-US" sz="1300" dirty="0"/>
          </a:p>
        </p:txBody>
      </p:sp>
      <p:sp>
        <p:nvSpPr>
          <p:cNvPr id="9" name="Shape 6"/>
          <p:cNvSpPr/>
          <p:nvPr/>
        </p:nvSpPr>
        <p:spPr>
          <a:xfrm>
            <a:off x="7589520" y="3154680"/>
            <a:ext cx="4023360" cy="1417320"/>
          </a:xfrm>
          <a:prstGeom prst="roundRect">
            <a:avLst>
              <a:gd name="adj" fmla="val 5161"/>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7772400" y="3291840"/>
            <a:ext cx="3657600" cy="365760"/>
          </a:xfrm>
          <a:prstGeom prst="rect">
            <a:avLst/>
          </a:prstGeom>
          <a:noFill/>
          <a:ln/>
        </p:spPr>
        <p:txBody>
          <a:bodyPr wrap="square" lIns="0" tIns="0" rIns="0" bIns="0" rtlCol="0" anchor="t"/>
          <a:lstStyle/>
          <a:p>
            <a:pPr indent="0" marL="0">
              <a:buNone/>
            </a:pPr>
            <a:r>
              <a:rPr lang="en-US" sz="1800" b="1" dirty="0">
                <a:solidFill>
                  <a:schemeClr val="accent2"/>
                </a:solidFill>
                <a:latin typeface="+mj-lt" pitchFamily="34" charset="0"/>
                <a:ea typeface="+mj-lt" pitchFamily="34" charset="-122"/>
                <a:cs typeface="+mj-lt" pitchFamily="34" charset="-120"/>
              </a:rPr>
              <a:t>Lab mode (--lab)</a:t>
            </a:r>
            <a:endParaRPr lang="en-US" sz="1800" dirty="0"/>
          </a:p>
        </p:txBody>
      </p:sp>
      <p:sp>
        <p:nvSpPr>
          <p:cNvPr id="11" name="Text 8"/>
          <p:cNvSpPr txBox="1"/>
          <p:nvPr/>
        </p:nvSpPr>
        <p:spPr>
          <a:xfrm>
            <a:off x="7772400" y="3721608"/>
            <a:ext cx="3657600" cy="822960"/>
          </a:xfrm>
          <a:prstGeom prst="rect">
            <a:avLst/>
          </a:prstGeom>
          <a:noFill/>
          <a:ln/>
        </p:spPr>
        <p:txBody>
          <a:bodyPr wrap="square" lIns="0" tIns="0" rIns="0" bIns="0" rtlCol="0" anchor="t"/>
          <a:lstStyle/>
          <a:p>
            <a:pPr indent="0" marL="0">
              <a:buNone/>
            </a:pPr>
            <a:r>
              <a:rPr lang="en-US" sz="1300" dirty="0">
                <a:solidFill>
                  <a:schemeClr val="tx1"/>
                </a:solidFill>
              </a:rPr>
              <a:t>Adds Break the pipeline, Reset and the Red team tab. Synthetic data only: it refuses to plant anything on other data.</a:t>
            </a:r>
            <a:endParaRPr lang="en-US" sz="1300" dirty="0"/>
          </a:p>
        </p:txBody>
      </p:sp>
      <p:sp>
        <p:nvSpPr>
          <p:cNvPr id="12" name="Shape 9"/>
          <p:cNvSpPr/>
          <p:nvPr/>
        </p:nvSpPr>
        <p:spPr>
          <a:xfrm>
            <a:off x="7589520" y="4709160"/>
            <a:ext cx="4023360" cy="1417320"/>
          </a:xfrm>
          <a:prstGeom prst="roundRect">
            <a:avLst>
              <a:gd name="adj" fmla="val 5161"/>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7772400" y="4846320"/>
            <a:ext cx="365760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Click to HELD</a:t>
            </a:r>
            <a:endParaRPr lang="en-US" sz="1800" dirty="0"/>
          </a:p>
        </p:txBody>
      </p:sp>
      <p:sp>
        <p:nvSpPr>
          <p:cNvPr id="14" name="Text 11"/>
          <p:cNvSpPr txBox="1"/>
          <p:nvPr/>
        </p:nvSpPr>
        <p:spPr>
          <a:xfrm>
            <a:off x="7772400" y="5276088"/>
            <a:ext cx="3657600" cy="822960"/>
          </a:xfrm>
          <a:prstGeom prst="rect">
            <a:avLst/>
          </a:prstGeom>
          <a:noFill/>
          <a:ln/>
        </p:spPr>
        <p:txBody>
          <a:bodyPr wrap="square" lIns="0" tIns="0" rIns="0" bIns="0" rtlCol="0" anchor="t"/>
          <a:lstStyle/>
          <a:p>
            <a:pPr indent="0" marL="0">
              <a:buNone/>
            </a:pPr>
            <a:r>
              <a:rPr lang="en-US" sz="1300" dirty="0">
                <a:solidFill>
                  <a:schemeClr val="tx1"/>
                </a:solidFill>
              </a:rPr>
              <a:t>Median 8.4 s over 5 runs on Exasol, from 6.8 s to one slow run at 20.5 s [21].</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Inside Exasol: where each feature is used</a:t>
            </a:r>
            <a:endParaRPr lang="en-US" sz="3400" dirty="0"/>
          </a:p>
        </p:txBody>
      </p:sp>
      <p:sp>
        <p:nvSpPr>
          <p:cNvPr id="3" name="!!n1"/>
          <p:cNvSpPr/>
          <p:nvPr/>
        </p:nvSpPr>
        <p:spPr>
          <a:xfrm>
            <a:off x="548640" y="1463040"/>
            <a:ext cx="1325880" cy="365760"/>
          </a:xfrm>
          <a:prstGeom prst="roundRect">
            <a:avLst>
              <a:gd name="adj" fmla="val 17500"/>
            </a:avLst>
          </a:prstGeom>
          <a:solidFill>
            <a:schemeClr val="tx1"/>
          </a:solidFill>
          <a:ln w="12700">
            <a:solidFill>
              <a:srgbClr val="1C7293"/>
            </a:solidFill>
            <a:prstDash val="solid"/>
          </a:ln>
        </p:spPr>
      </p:sp>
      <p:sp>
        <p:nvSpPr>
          <p:cNvPr id="4" name="!!nt1"/>
          <p:cNvSpPr txBox="1"/>
          <p:nvPr/>
        </p:nvSpPr>
        <p:spPr>
          <a:xfrm>
            <a:off x="548640" y="1463040"/>
            <a:ext cx="1325880" cy="365760"/>
          </a:xfrm>
          <a:prstGeom prst="rect">
            <a:avLst/>
          </a:prstGeom>
          <a:noFill/>
          <a:ln/>
        </p:spPr>
        <p:txBody>
          <a:bodyPr wrap="square" lIns="0" tIns="0" rIns="0" bIns="0" rtlCol="0" anchor="ctr"/>
          <a:lstStyle/>
          <a:p>
            <a:pPr algn="ctr" indent="0" marL="0">
              <a:buNone/>
            </a:pPr>
            <a:r>
              <a:rPr lang="en-US" sz="1200" b="1" dirty="0">
                <a:solidFill>
                  <a:schemeClr val="bg1"/>
                </a:solidFill>
              </a:rPr>
              <a:t>Batch</a:t>
            </a:r>
            <a:endParaRPr lang="en-US" sz="1200" dirty="0"/>
          </a:p>
        </p:txBody>
      </p:sp>
      <p:sp>
        <p:nvSpPr>
          <p:cNvPr id="5" name="!!n2"/>
          <p:cNvSpPr/>
          <p:nvPr/>
        </p:nvSpPr>
        <p:spPr>
          <a:xfrm>
            <a:off x="1938528" y="1463040"/>
            <a:ext cx="1325880" cy="365760"/>
          </a:xfrm>
          <a:prstGeom prst="roundRect">
            <a:avLst>
              <a:gd name="adj" fmla="val 17500"/>
            </a:avLst>
          </a:prstGeom>
          <a:solidFill>
            <a:schemeClr val="accent1"/>
          </a:solidFill>
          <a:ln w="12700">
            <a:solidFill>
              <a:srgbClr val="6AB541"/>
            </a:solidFill>
            <a:prstDash val="solid"/>
          </a:ln>
        </p:spPr>
      </p:sp>
      <p:sp>
        <p:nvSpPr>
          <p:cNvPr id="6" name="!!nt2"/>
          <p:cNvSpPr txBox="1"/>
          <p:nvPr/>
        </p:nvSpPr>
        <p:spPr>
          <a:xfrm>
            <a:off x="1938528" y="146304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Detectors</a:t>
            </a:r>
            <a:endParaRPr lang="en-US" sz="1200" dirty="0"/>
          </a:p>
        </p:txBody>
      </p:sp>
      <p:sp>
        <p:nvSpPr>
          <p:cNvPr id="7" name="!!n3"/>
          <p:cNvSpPr/>
          <p:nvPr/>
        </p:nvSpPr>
        <p:spPr>
          <a:xfrm>
            <a:off x="3328416" y="1463040"/>
            <a:ext cx="1325880" cy="365760"/>
          </a:xfrm>
          <a:prstGeom prst="roundRect">
            <a:avLst>
              <a:gd name="adj" fmla="val 17500"/>
            </a:avLst>
          </a:prstGeom>
          <a:solidFill>
            <a:schemeClr val="accent1"/>
          </a:solidFill>
          <a:ln w="12700">
            <a:solidFill>
              <a:srgbClr val="6AB541"/>
            </a:solidFill>
            <a:prstDash val="solid"/>
          </a:ln>
        </p:spPr>
      </p:sp>
      <p:sp>
        <p:nvSpPr>
          <p:cNvPr id="8" name="!!nt3"/>
          <p:cNvSpPr txBox="1"/>
          <p:nvPr/>
        </p:nvSpPr>
        <p:spPr>
          <a:xfrm>
            <a:off x="3328416" y="146304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CUBE</a:t>
            </a:r>
            <a:endParaRPr lang="en-US" sz="1200" dirty="0"/>
          </a:p>
        </p:txBody>
      </p:sp>
      <p:sp>
        <p:nvSpPr>
          <p:cNvPr id="9" name="!!n4"/>
          <p:cNvSpPr/>
          <p:nvPr/>
        </p:nvSpPr>
        <p:spPr>
          <a:xfrm>
            <a:off x="4718304" y="1463040"/>
            <a:ext cx="1325880" cy="365760"/>
          </a:xfrm>
          <a:prstGeom prst="roundRect">
            <a:avLst>
              <a:gd name="adj" fmla="val 17500"/>
            </a:avLst>
          </a:prstGeom>
          <a:solidFill>
            <a:schemeClr val="accent1"/>
          </a:solidFill>
          <a:ln w="12700">
            <a:solidFill>
              <a:srgbClr val="6AB541"/>
            </a:solidFill>
            <a:prstDash val="solid"/>
          </a:ln>
        </p:spPr>
      </p:sp>
      <p:sp>
        <p:nvSpPr>
          <p:cNvPr id="10" name="!!nt4"/>
          <p:cNvSpPr txBox="1"/>
          <p:nvPr/>
        </p:nvSpPr>
        <p:spPr>
          <a:xfrm>
            <a:off x="4718304" y="146304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Lineage</a:t>
            </a:r>
            <a:endParaRPr lang="en-US" sz="1200" dirty="0"/>
          </a:p>
        </p:txBody>
      </p:sp>
      <p:sp>
        <p:nvSpPr>
          <p:cNvPr id="11" name="!!n5"/>
          <p:cNvSpPr/>
          <p:nvPr/>
        </p:nvSpPr>
        <p:spPr>
          <a:xfrm>
            <a:off x="6108192" y="1463040"/>
            <a:ext cx="1325880" cy="365760"/>
          </a:xfrm>
          <a:prstGeom prst="roundRect">
            <a:avLst>
              <a:gd name="adj" fmla="val 17500"/>
            </a:avLst>
          </a:prstGeom>
          <a:solidFill>
            <a:schemeClr val="accent1"/>
          </a:solidFill>
          <a:ln w="12700">
            <a:solidFill>
              <a:srgbClr val="6AB541"/>
            </a:solidFill>
            <a:prstDash val="solid"/>
          </a:ln>
        </p:spPr>
      </p:sp>
      <p:sp>
        <p:nvSpPr>
          <p:cNvPr id="12" name="!!nt5"/>
          <p:cNvSpPr txBox="1"/>
          <p:nvPr/>
        </p:nvSpPr>
        <p:spPr>
          <a:xfrm>
            <a:off x="6108192" y="146304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Undo</a:t>
            </a:r>
            <a:endParaRPr lang="en-US" sz="1200" dirty="0"/>
          </a:p>
        </p:txBody>
      </p:sp>
      <p:sp>
        <p:nvSpPr>
          <p:cNvPr id="13" name="!!n6"/>
          <p:cNvSpPr/>
          <p:nvPr/>
        </p:nvSpPr>
        <p:spPr>
          <a:xfrm>
            <a:off x="7498080" y="1463040"/>
            <a:ext cx="1325880" cy="365760"/>
          </a:xfrm>
          <a:prstGeom prst="roundRect">
            <a:avLst>
              <a:gd name="adj" fmla="val 17500"/>
            </a:avLst>
          </a:prstGeom>
          <a:solidFill>
            <a:schemeClr val="tx1"/>
          </a:solidFill>
          <a:ln w="12700">
            <a:solidFill>
              <a:srgbClr val="1C7293"/>
            </a:solidFill>
            <a:prstDash val="solid"/>
          </a:ln>
        </p:spPr>
      </p:sp>
      <p:sp>
        <p:nvSpPr>
          <p:cNvPr id="14" name="!!nt6"/>
          <p:cNvSpPr txBox="1"/>
          <p:nvPr/>
        </p:nvSpPr>
        <p:spPr>
          <a:xfrm>
            <a:off x="7498080" y="1463040"/>
            <a:ext cx="1325880" cy="365760"/>
          </a:xfrm>
          <a:prstGeom prst="rect">
            <a:avLst/>
          </a:prstGeom>
          <a:noFill/>
          <a:ln/>
        </p:spPr>
        <p:txBody>
          <a:bodyPr wrap="square" lIns="0" tIns="0" rIns="0" bIns="0" rtlCol="0" anchor="ctr"/>
          <a:lstStyle/>
          <a:p>
            <a:pPr algn="ctr" indent="0" marL="0">
              <a:buNone/>
            </a:pPr>
            <a:r>
              <a:rPr lang="en-US" sz="1200" b="1" dirty="0">
                <a:solidFill>
                  <a:schemeClr val="bg1"/>
                </a:solidFill>
              </a:rPr>
              <a:t>Gate</a:t>
            </a:r>
            <a:endParaRPr lang="en-US" sz="1200" dirty="0"/>
          </a:p>
        </p:txBody>
      </p:sp>
      <p:sp>
        <p:nvSpPr>
          <p:cNvPr id="15" name="!!n7"/>
          <p:cNvSpPr/>
          <p:nvPr/>
        </p:nvSpPr>
        <p:spPr>
          <a:xfrm>
            <a:off x="8887968" y="1463040"/>
            <a:ext cx="1325880" cy="365760"/>
          </a:xfrm>
          <a:prstGeom prst="roundRect">
            <a:avLst>
              <a:gd name="adj" fmla="val 17500"/>
            </a:avLst>
          </a:prstGeom>
          <a:solidFill>
            <a:schemeClr val="tx1"/>
          </a:solidFill>
          <a:ln w="12700">
            <a:solidFill>
              <a:srgbClr val="1C7293"/>
            </a:solidFill>
            <a:prstDash val="solid"/>
          </a:ln>
        </p:spPr>
      </p:sp>
      <p:sp>
        <p:nvSpPr>
          <p:cNvPr id="16" name="!!nt7"/>
          <p:cNvSpPr txBox="1"/>
          <p:nvPr/>
        </p:nvSpPr>
        <p:spPr>
          <a:xfrm>
            <a:off x="8887968" y="1463040"/>
            <a:ext cx="1325880" cy="365760"/>
          </a:xfrm>
          <a:prstGeom prst="rect">
            <a:avLst/>
          </a:prstGeom>
          <a:noFill/>
          <a:ln/>
        </p:spPr>
        <p:txBody>
          <a:bodyPr wrap="square" lIns="0" tIns="0" rIns="0" bIns="0" rtlCol="0" anchor="ctr"/>
          <a:lstStyle/>
          <a:p>
            <a:pPr algn="ctr" indent="0" marL="0">
              <a:buNone/>
            </a:pPr>
            <a:r>
              <a:rPr lang="en-US" sz="1200" b="1" dirty="0">
                <a:solidFill>
                  <a:schemeClr val="bg1"/>
                </a:solidFill>
              </a:rPr>
              <a:t>Verdict</a:t>
            </a:r>
            <a:endParaRPr lang="en-US" sz="1200" dirty="0"/>
          </a:p>
        </p:txBody>
      </p:sp>
      <p:sp>
        <p:nvSpPr>
          <p:cNvPr id="17" name="!!n8"/>
          <p:cNvSpPr/>
          <p:nvPr/>
        </p:nvSpPr>
        <p:spPr>
          <a:xfrm>
            <a:off x="10277856" y="1463040"/>
            <a:ext cx="1325880" cy="365760"/>
          </a:xfrm>
          <a:prstGeom prst="roundRect">
            <a:avLst>
              <a:gd name="adj" fmla="val 17500"/>
            </a:avLst>
          </a:prstGeom>
          <a:solidFill>
            <a:schemeClr val="accent1"/>
          </a:solidFill>
          <a:ln w="12700">
            <a:solidFill>
              <a:srgbClr val="6AB541"/>
            </a:solidFill>
            <a:prstDash val="solid"/>
          </a:ln>
        </p:spPr>
      </p:sp>
      <p:sp>
        <p:nvSpPr>
          <p:cNvPr id="18" name="!!nt8"/>
          <p:cNvSpPr txBox="1"/>
          <p:nvPr/>
        </p:nvSpPr>
        <p:spPr>
          <a:xfrm>
            <a:off x="10277856" y="146304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Write</a:t>
            </a:r>
            <a:endParaRPr lang="en-US" sz="1200" dirty="0"/>
          </a:p>
        </p:txBody>
      </p:sp>
      <p:sp>
        <p:nvSpPr>
          <p:cNvPr id="19" name="Shape 17"/>
          <p:cNvSpPr/>
          <p:nvPr/>
        </p:nvSpPr>
        <p:spPr>
          <a:xfrm>
            <a:off x="548640" y="2011680"/>
            <a:ext cx="6217920" cy="457200"/>
          </a:xfrm>
          <a:prstGeom prst="roundRect">
            <a:avLst>
              <a:gd name="adj" fmla="val 10000"/>
            </a:avLst>
          </a:prstGeom>
          <a:solidFill>
            <a:schemeClr val="tx1"/>
          </a:solidFill>
          <a:ln w="6350">
            <a:solidFill>
              <a:srgbClr val="1C7293"/>
            </a:solidFill>
            <a:prstDash val="solid"/>
          </a:ln>
        </p:spPr>
      </p:sp>
      <p:sp>
        <p:nvSpPr>
          <p:cNvPr id="20" name="Text 18"/>
          <p:cNvSpPr txBox="1"/>
          <p:nvPr/>
        </p:nvSpPr>
        <p:spPr>
          <a:xfrm>
            <a:off x="685800" y="2011680"/>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GROUP BY CUBE with GROUPING_ID</a:t>
            </a:r>
            <a:endParaRPr lang="en-US" sz="1200" dirty="0"/>
          </a:p>
        </p:txBody>
      </p:sp>
      <p:sp>
        <p:nvSpPr>
          <p:cNvPr id="21" name="Text 19"/>
          <p:cNvSpPr txBox="1"/>
          <p:nvPr/>
        </p:nvSpPr>
        <p:spPr>
          <a:xfrm>
            <a:off x="3108960" y="2011680"/>
            <a:ext cx="3566160" cy="457200"/>
          </a:xfrm>
          <a:prstGeom prst="rect">
            <a:avLst/>
          </a:prstGeom>
          <a:noFill/>
          <a:ln/>
        </p:spPr>
        <p:txBody>
          <a:bodyPr wrap="square" lIns="0" tIns="0" rIns="0" bIns="0" rtlCol="0" anchor="ctr"/>
          <a:lstStyle/>
          <a:p>
            <a:pPr indent="0" marL="0">
              <a:buNone/>
            </a:pPr>
            <a:r>
              <a:rPr lang="en-US" sz="1200" dirty="0">
                <a:solidFill>
                  <a:srgbClr val="DDE8EC"/>
                </a:solidFill>
              </a:rPr>
              <a:t>11,074 slices of six dimensions in one scan</a:t>
            </a:r>
            <a:endParaRPr lang="en-US" sz="1200" dirty="0"/>
          </a:p>
        </p:txBody>
      </p:sp>
      <p:sp>
        <p:nvSpPr>
          <p:cNvPr id="22" name="Shape 20"/>
          <p:cNvSpPr/>
          <p:nvPr/>
        </p:nvSpPr>
        <p:spPr>
          <a:xfrm>
            <a:off x="548640" y="2532888"/>
            <a:ext cx="6217920" cy="457200"/>
          </a:xfrm>
          <a:prstGeom prst="roundRect">
            <a:avLst>
              <a:gd name="adj" fmla="val 10000"/>
            </a:avLst>
          </a:prstGeom>
          <a:solidFill>
            <a:schemeClr val="tx1"/>
          </a:solidFill>
          <a:ln w="6350">
            <a:solidFill>
              <a:srgbClr val="1C7293"/>
            </a:solidFill>
            <a:prstDash val="solid"/>
          </a:ln>
        </p:spPr>
      </p:sp>
      <p:sp>
        <p:nvSpPr>
          <p:cNvPr id="23" name="Text 21"/>
          <p:cNvSpPr txBox="1"/>
          <p:nvPr/>
        </p:nvSpPr>
        <p:spPr>
          <a:xfrm>
            <a:off x="685800" y="2532888"/>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Python3 SET SCRIPT UDF</a:t>
            </a:r>
            <a:endParaRPr lang="en-US" sz="1200" dirty="0"/>
          </a:p>
        </p:txBody>
      </p:sp>
      <p:sp>
        <p:nvSpPr>
          <p:cNvPr id="24" name="Text 22"/>
          <p:cNvSpPr txBox="1"/>
          <p:nvPr/>
        </p:nvSpPr>
        <p:spPr>
          <a:xfrm>
            <a:off x="3108960" y="2532888"/>
            <a:ext cx="3566160" cy="457200"/>
          </a:xfrm>
          <a:prstGeom prst="rect">
            <a:avLst/>
          </a:prstGeom>
          <a:noFill/>
          <a:ln/>
        </p:spPr>
        <p:txBody>
          <a:bodyPr wrap="square" lIns="0" tIns="0" rIns="0" bIns="0" rtlCol="0" anchor="ctr"/>
          <a:lstStyle/>
          <a:p>
            <a:pPr indent="0" marL="0">
              <a:buNone/>
            </a:pPr>
            <a:r>
              <a:rPr lang="en-US" sz="1200" dirty="0">
                <a:solidFill>
                  <a:srgbClr val="DDE8EC"/>
                </a:solidFill>
              </a:rPr>
              <a:t>RECEIPTS.CLOCK_DRIFT finds a clock shift per group</a:t>
            </a:r>
            <a:endParaRPr lang="en-US" sz="1200" dirty="0"/>
          </a:p>
        </p:txBody>
      </p:sp>
      <p:sp>
        <p:nvSpPr>
          <p:cNvPr id="25" name="Shape 23"/>
          <p:cNvSpPr/>
          <p:nvPr/>
        </p:nvSpPr>
        <p:spPr>
          <a:xfrm>
            <a:off x="548640" y="3054096"/>
            <a:ext cx="6217920" cy="457200"/>
          </a:xfrm>
          <a:prstGeom prst="roundRect">
            <a:avLst>
              <a:gd name="adj" fmla="val 10000"/>
            </a:avLst>
          </a:prstGeom>
          <a:solidFill>
            <a:schemeClr val="tx1"/>
          </a:solidFill>
          <a:ln w="6350">
            <a:solidFill>
              <a:srgbClr val="1C7293"/>
            </a:solidFill>
            <a:prstDash val="solid"/>
          </a:ln>
        </p:spPr>
      </p:sp>
      <p:sp>
        <p:nvSpPr>
          <p:cNvPr id="26" name="Text 24"/>
          <p:cNvSpPr txBox="1"/>
          <p:nvPr/>
        </p:nvSpPr>
        <p:spPr>
          <a:xfrm>
            <a:off x="685800" y="3054096"/>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SYS.EXA_ALL_VIEWS</a:t>
            </a:r>
            <a:endParaRPr lang="en-US" sz="1200" dirty="0"/>
          </a:p>
        </p:txBody>
      </p:sp>
      <p:sp>
        <p:nvSpPr>
          <p:cNvPr id="27" name="Text 25"/>
          <p:cNvSpPr txBox="1"/>
          <p:nvPr/>
        </p:nvSpPr>
        <p:spPr>
          <a:xfrm>
            <a:off x="3108960" y="3054096"/>
            <a:ext cx="3566160" cy="457200"/>
          </a:xfrm>
          <a:prstGeom prst="rect">
            <a:avLst/>
          </a:prstGeom>
          <a:noFill/>
          <a:ln/>
        </p:spPr>
        <p:txBody>
          <a:bodyPr wrap="square" lIns="0" tIns="0" rIns="0" bIns="0" rtlCol="0" anchor="ctr"/>
          <a:lstStyle/>
          <a:p>
            <a:pPr indent="0" marL="0">
              <a:buNone/>
            </a:pPr>
            <a:r>
              <a:rPr lang="en-US" sz="1200" dirty="0">
                <a:solidFill>
                  <a:srgbClr val="DDE8EC"/>
                </a:solidFill>
              </a:rPr>
              <a:t>Lineage and downstream views from the view text the database keeps</a:t>
            </a:r>
            <a:endParaRPr lang="en-US" sz="1200" dirty="0"/>
          </a:p>
        </p:txBody>
      </p:sp>
      <p:sp>
        <p:nvSpPr>
          <p:cNvPr id="28" name="Shape 26"/>
          <p:cNvSpPr/>
          <p:nvPr/>
        </p:nvSpPr>
        <p:spPr>
          <a:xfrm>
            <a:off x="548640" y="3575304"/>
            <a:ext cx="6217920" cy="457200"/>
          </a:xfrm>
          <a:prstGeom prst="roundRect">
            <a:avLst>
              <a:gd name="adj" fmla="val 10000"/>
            </a:avLst>
          </a:prstGeom>
          <a:solidFill>
            <a:schemeClr val="tx1"/>
          </a:solidFill>
          <a:ln w="6350">
            <a:solidFill>
              <a:srgbClr val="1C7293"/>
            </a:solidFill>
            <a:prstDash val="solid"/>
          </a:ln>
        </p:spPr>
      </p:sp>
      <p:sp>
        <p:nvSpPr>
          <p:cNvPr id="29" name="Text 27"/>
          <p:cNvSpPr txBox="1"/>
          <p:nvPr/>
        </p:nvSpPr>
        <p:spPr>
          <a:xfrm>
            <a:off x="685800" y="3575304"/>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Schemas and views</a:t>
            </a:r>
            <a:endParaRPr lang="en-US" sz="1200" dirty="0"/>
          </a:p>
        </p:txBody>
      </p:sp>
      <p:sp>
        <p:nvSpPr>
          <p:cNvPr id="30" name="Text 28"/>
          <p:cNvSpPr txBox="1"/>
          <p:nvPr/>
        </p:nvSpPr>
        <p:spPr>
          <a:xfrm>
            <a:off x="3108960" y="3575304"/>
            <a:ext cx="3566160" cy="457200"/>
          </a:xfrm>
          <a:prstGeom prst="rect">
            <a:avLst/>
          </a:prstGeom>
          <a:noFill/>
          <a:ln/>
        </p:spPr>
        <p:txBody>
          <a:bodyPr wrap="square" lIns="0" tIns="0" rIns="0" bIns="0" rtlCol="0" anchor="ctr"/>
          <a:lstStyle/>
          <a:p>
            <a:pPr indent="0" marL="0">
              <a:buNone/>
            </a:pPr>
            <a:r>
              <a:rPr lang="en-US" sz="1200" dirty="0">
                <a:solidFill>
                  <a:srgbClr val="DDE8EC"/>
                </a:solidFill>
              </a:rPr>
              <a:t>A sandbox schema rebuilds the pipeline with one fix</a:t>
            </a:r>
            <a:endParaRPr lang="en-US" sz="1200" dirty="0"/>
          </a:p>
        </p:txBody>
      </p:sp>
      <p:sp>
        <p:nvSpPr>
          <p:cNvPr id="31" name="Shape 29"/>
          <p:cNvSpPr/>
          <p:nvPr/>
        </p:nvSpPr>
        <p:spPr>
          <a:xfrm>
            <a:off x="548640" y="4096512"/>
            <a:ext cx="6217920" cy="457200"/>
          </a:xfrm>
          <a:prstGeom prst="roundRect">
            <a:avLst>
              <a:gd name="adj" fmla="val 10000"/>
            </a:avLst>
          </a:prstGeom>
          <a:solidFill>
            <a:schemeClr val="tx1"/>
          </a:solidFill>
          <a:ln w="6350">
            <a:solidFill>
              <a:srgbClr val="1C7293"/>
            </a:solidFill>
            <a:prstDash val="solid"/>
          </a:ln>
        </p:spPr>
      </p:sp>
      <p:sp>
        <p:nvSpPr>
          <p:cNvPr id="32" name="Text 30"/>
          <p:cNvSpPr txBox="1"/>
          <p:nvPr/>
        </p:nvSpPr>
        <p:spPr>
          <a:xfrm>
            <a:off x="685800" y="4096512"/>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EXA_SQL_LAST_DAY</a:t>
            </a:r>
            <a:endParaRPr lang="en-US" sz="1200" dirty="0"/>
          </a:p>
        </p:txBody>
      </p:sp>
      <p:sp>
        <p:nvSpPr>
          <p:cNvPr id="33" name="Text 31"/>
          <p:cNvSpPr txBox="1"/>
          <p:nvPr/>
        </p:nvSpPr>
        <p:spPr>
          <a:xfrm>
            <a:off x="3108960" y="4096512"/>
            <a:ext cx="3566160" cy="457200"/>
          </a:xfrm>
          <a:prstGeom prst="rect">
            <a:avLst/>
          </a:prstGeom>
          <a:noFill/>
          <a:ln/>
        </p:spPr>
        <p:txBody>
          <a:bodyPr wrap="square" lIns="0" tIns="0" rIns="0" bIns="0" rtlCol="0" anchor="ctr"/>
          <a:lstStyle/>
          <a:p>
            <a:pPr indent="0" marL="0">
              <a:buNone/>
            </a:pPr>
            <a:r>
              <a:rPr lang="en-US" sz="1200" dirty="0">
                <a:solidFill>
                  <a:srgbClr val="DDE8EC"/>
                </a:solidFill>
              </a:rPr>
              <a:t>Per-statement time and memory as Exasol itself recorded them</a:t>
            </a:r>
            <a:endParaRPr lang="en-US" sz="1200" dirty="0"/>
          </a:p>
        </p:txBody>
      </p:sp>
      <p:sp>
        <p:nvSpPr>
          <p:cNvPr id="34" name="Shape 32"/>
          <p:cNvSpPr/>
          <p:nvPr/>
        </p:nvSpPr>
        <p:spPr>
          <a:xfrm>
            <a:off x="548640" y="4617720"/>
            <a:ext cx="6217920" cy="457200"/>
          </a:xfrm>
          <a:prstGeom prst="roundRect">
            <a:avLst>
              <a:gd name="adj" fmla="val 10000"/>
            </a:avLst>
          </a:prstGeom>
          <a:solidFill>
            <a:schemeClr val="tx1"/>
          </a:solidFill>
          <a:ln w="6350">
            <a:solidFill>
              <a:srgbClr val="1C7293"/>
            </a:solidFill>
            <a:prstDash val="solid"/>
          </a:ln>
        </p:spPr>
      </p:sp>
      <p:sp>
        <p:nvSpPr>
          <p:cNvPr id="35" name="Text 33"/>
          <p:cNvSpPr txBox="1"/>
          <p:nvPr/>
        </p:nvSpPr>
        <p:spPr>
          <a:xfrm>
            <a:off x="685800" y="4617720"/>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Users and grants</a:t>
            </a:r>
            <a:endParaRPr lang="en-US" sz="1200" dirty="0"/>
          </a:p>
        </p:txBody>
      </p:sp>
      <p:sp>
        <p:nvSpPr>
          <p:cNvPr id="36" name="Text 34"/>
          <p:cNvSpPr txBox="1"/>
          <p:nvPr/>
        </p:nvSpPr>
        <p:spPr>
          <a:xfrm>
            <a:off x="3108960" y="4617720"/>
            <a:ext cx="3566160" cy="457200"/>
          </a:xfrm>
          <a:prstGeom prst="rect">
            <a:avLst/>
          </a:prstGeom>
          <a:noFill/>
          <a:ln/>
        </p:spPr>
        <p:txBody>
          <a:bodyPr wrap="square" lIns="0" tIns="0" rIns="0" bIns="0" rtlCol="0" anchor="ctr"/>
          <a:lstStyle/>
          <a:p>
            <a:pPr indent="0" marL="0">
              <a:buNone/>
            </a:pPr>
            <a:r>
              <a:rPr lang="en-US" sz="1200" dirty="0">
                <a:solidFill>
                  <a:srgbClr val="DDE8EC"/>
                </a:solidFill>
              </a:rPr>
              <a:t>AGENT_READER can read PUB and nothing else</a:t>
            </a:r>
            <a:endParaRPr lang="en-US" sz="1200" dirty="0"/>
          </a:p>
        </p:txBody>
      </p:sp>
      <p:sp>
        <p:nvSpPr>
          <p:cNvPr id="37" name="Shape 35"/>
          <p:cNvSpPr/>
          <p:nvPr/>
        </p:nvSpPr>
        <p:spPr>
          <a:xfrm>
            <a:off x="548640" y="5138928"/>
            <a:ext cx="6217920" cy="457200"/>
          </a:xfrm>
          <a:prstGeom prst="roundRect">
            <a:avLst>
              <a:gd name="adj" fmla="val 10000"/>
            </a:avLst>
          </a:prstGeom>
          <a:solidFill>
            <a:schemeClr val="tx1"/>
          </a:solidFill>
          <a:ln w="6350">
            <a:solidFill>
              <a:srgbClr val="1C7293"/>
            </a:solidFill>
            <a:prstDash val="solid"/>
          </a:ln>
        </p:spPr>
      </p:sp>
      <p:sp>
        <p:nvSpPr>
          <p:cNvPr id="38" name="Text 36"/>
          <p:cNvSpPr txBox="1"/>
          <p:nvPr/>
        </p:nvSpPr>
        <p:spPr>
          <a:xfrm>
            <a:off x="685800" y="5138928"/>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IMPORT through pyexasol</a:t>
            </a:r>
            <a:endParaRPr lang="en-US" sz="1200" dirty="0"/>
          </a:p>
        </p:txBody>
      </p:sp>
      <p:sp>
        <p:nvSpPr>
          <p:cNvPr id="39" name="Text 37"/>
          <p:cNvSpPr txBox="1"/>
          <p:nvPr/>
        </p:nvSpPr>
        <p:spPr>
          <a:xfrm>
            <a:off x="3108960" y="5138928"/>
            <a:ext cx="3566160" cy="457200"/>
          </a:xfrm>
          <a:prstGeom prst="rect">
            <a:avLst/>
          </a:prstGeom>
          <a:noFill/>
          <a:ln/>
        </p:spPr>
        <p:txBody>
          <a:bodyPr wrap="square" lIns="0" tIns="0" rIns="0" bIns="0" rtlCol="0" anchor="ctr"/>
          <a:lstStyle/>
          <a:p>
            <a:pPr indent="0" marL="0">
              <a:buNone/>
            </a:pPr>
            <a:r>
              <a:rPr lang="en-US" sz="1200" dirty="0">
                <a:solidFill>
                  <a:srgbClr val="DDE8EC"/>
                </a:solidFill>
              </a:rPr>
              <a:t>Bulk load of the landing data and 9.5M taxi trips</a:t>
            </a:r>
            <a:endParaRPr lang="en-US" sz="1200" dirty="0"/>
          </a:p>
        </p:txBody>
      </p:sp>
      <p:sp>
        <p:nvSpPr>
          <p:cNvPr id="40" name="Shape 38"/>
          <p:cNvSpPr/>
          <p:nvPr/>
        </p:nvSpPr>
        <p:spPr>
          <a:xfrm>
            <a:off x="548640" y="5660136"/>
            <a:ext cx="6217920" cy="457200"/>
          </a:xfrm>
          <a:prstGeom prst="roundRect">
            <a:avLst>
              <a:gd name="adj" fmla="val 10000"/>
            </a:avLst>
          </a:prstGeom>
          <a:solidFill>
            <a:schemeClr val="tx1"/>
          </a:solidFill>
          <a:ln w="6350">
            <a:solidFill>
              <a:srgbClr val="1C7293"/>
            </a:solidFill>
            <a:prstDash val="solid"/>
          </a:ln>
        </p:spPr>
      </p:sp>
      <p:sp>
        <p:nvSpPr>
          <p:cNvPr id="41" name="Text 39"/>
          <p:cNvSpPr txBox="1"/>
          <p:nvPr/>
        </p:nvSpPr>
        <p:spPr>
          <a:xfrm>
            <a:off x="685800" y="5660136"/>
            <a:ext cx="2377440" cy="457200"/>
          </a:xfrm>
          <a:prstGeom prst="rect">
            <a:avLst/>
          </a:prstGeom>
          <a:noFill/>
          <a:ln/>
        </p:spPr>
        <p:txBody>
          <a:bodyPr wrap="square" lIns="0" tIns="0" rIns="0" bIns="0" rtlCol="0" anchor="ctr"/>
          <a:lstStyle/>
          <a:p>
            <a:pPr indent="0" marL="0">
              <a:buNone/>
            </a:pPr>
            <a:r>
              <a:rPr lang="en-US" sz="1200" b="1" dirty="0">
                <a:solidFill>
                  <a:schemeClr val="accent1"/>
                </a:solidFill>
              </a:rPr>
              <a:t>Exasol MCP server</a:t>
            </a:r>
            <a:endParaRPr lang="en-US" sz="1200" dirty="0"/>
          </a:p>
        </p:txBody>
      </p:sp>
      <p:sp>
        <p:nvSpPr>
          <p:cNvPr id="42" name="Text 40"/>
          <p:cNvSpPr txBox="1"/>
          <p:nvPr/>
        </p:nvSpPr>
        <p:spPr>
          <a:xfrm>
            <a:off x="3108960" y="5660136"/>
            <a:ext cx="3566160" cy="457200"/>
          </a:xfrm>
          <a:prstGeom prst="rect">
            <a:avLst/>
          </a:prstGeom>
          <a:noFill/>
          <a:ln/>
        </p:spPr>
        <p:txBody>
          <a:bodyPr wrap="square" lIns="0" tIns="0" rIns="0" bIns="0" rtlCol="0" anchor="ctr"/>
          <a:lstStyle/>
          <a:p>
            <a:pPr indent="0" marL="0">
              <a:buNone/>
            </a:pPr>
            <a:r>
              <a:rPr lang="en-US" sz="1200" dirty="0">
                <a:solidFill>
                  <a:srgbClr val="DDE8EC"/>
                </a:solidFill>
              </a:rPr>
              <a:t>Agents read PUB.METRIC_TRUST through it, read-only</a:t>
            </a:r>
            <a:endParaRPr lang="en-US" sz="1200" dirty="0"/>
          </a:p>
        </p:txBody>
      </p:sp>
      <p:graphicFrame>
        <p:nvGraphicFramePr>
          <p:cNvPr id="43" name="Chart 0" descr=""/>
          <p:cNvGraphicFramePr/>
          <p:nvPr/>
        </p:nvGraphicFramePr>
        <p:xfrm>
          <a:off x="7040880" y="1828800"/>
          <a:ext cx="4572000" cy="3931920"/>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txBox="1"/>
          <p:nvPr/>
        </p:nvSpPr>
        <p:spPr>
          <a:xfrm>
            <a:off x="548640" y="6199632"/>
            <a:ext cx="11064240" cy="228600"/>
          </a:xfrm>
          <a:prstGeom prst="rect">
            <a:avLst/>
          </a:prstGeom>
          <a:noFill/>
          <a:ln/>
        </p:spPr>
        <p:txBody>
          <a:bodyPr wrap="square" lIns="0" tIns="0" rIns="0" bIns="0" rtlCol="0" anchor="t"/>
          <a:lstStyle/>
          <a:p>
            <a:pPr indent="0" marL="0">
              <a:buNone/>
            </a:pPr>
            <a:r>
              <a:rPr lang="en-US" sz="1100" dirty="0">
                <a:solidFill>
                  <a:srgbClr val="5B7684"/>
                </a:solidFill>
              </a:rPr>
              <a:t>Exasol Personal is free to use for one user and runs locally on Windows, macOS and Linux [10][11]. Timings: one laptop, 29 Oct 2026, gate without write-back [21].</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50 of 50 runs, and what the baselines miss</a:t>
            </a:r>
            <a:endParaRPr lang="en-US" sz="3400" dirty="0"/>
          </a:p>
        </p:txBody>
      </p:sp>
      <p:graphicFrame>
        <p:nvGraphicFramePr>
          <p:cNvPr id="3" name="Chart 0" descr=""/>
          <p:cNvGraphicFramePr/>
          <p:nvPr/>
        </p:nvGraphicFramePr>
        <p:xfrm>
          <a:off x="548640" y="160020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600200"/>
            <a:ext cx="4114800" cy="960120"/>
          </a:xfrm>
          <a:prstGeom prst="roundRect">
            <a:avLst>
              <a:gd name="adj" fmla="val 7619"/>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7680960" y="1600200"/>
            <a:ext cx="1600200" cy="96012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50 of 50</a:t>
            </a:r>
            <a:endParaRPr lang="en-US" sz="2400" dirty="0"/>
          </a:p>
        </p:txBody>
      </p:sp>
      <p:sp>
        <p:nvSpPr>
          <p:cNvPr id="6" name="Text 3"/>
          <p:cNvSpPr txBox="1"/>
          <p:nvPr/>
        </p:nvSpPr>
        <p:spPr>
          <a:xfrm>
            <a:off x="9326880" y="1600200"/>
            <a:ext cx="2194560" cy="960120"/>
          </a:xfrm>
          <a:prstGeom prst="rect">
            <a:avLst/>
          </a:prstGeom>
          <a:noFill/>
          <a:ln/>
        </p:spPr>
        <p:txBody>
          <a:bodyPr wrap="square" lIns="0" tIns="0" rIns="0" bIns="0" rtlCol="0" anchor="ctr"/>
          <a:lstStyle/>
          <a:p>
            <a:pPr indent="0" marL="0">
              <a:buNone/>
            </a:pPr>
            <a:r>
              <a:rPr lang="en-US" sz="1300" dirty="0">
                <a:solidFill>
                  <a:schemeClr val="tx1"/>
                </a:solidFill>
              </a:rPr>
              <a:t>right verdict and exactly the right causes</a:t>
            </a:r>
            <a:endParaRPr lang="en-US" sz="1300" dirty="0"/>
          </a:p>
        </p:txBody>
      </p:sp>
      <p:sp>
        <p:nvSpPr>
          <p:cNvPr id="7" name="Shape 4"/>
          <p:cNvSpPr/>
          <p:nvPr/>
        </p:nvSpPr>
        <p:spPr>
          <a:xfrm>
            <a:off x="7498080" y="2679192"/>
            <a:ext cx="4114800" cy="960120"/>
          </a:xfrm>
          <a:prstGeom prst="roundRect">
            <a:avLst>
              <a:gd name="adj" fmla="val 7619"/>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7680960" y="2679192"/>
            <a:ext cx="1600200" cy="96012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0</a:t>
            </a:r>
            <a:endParaRPr lang="en-US" sz="2400" dirty="0"/>
          </a:p>
        </p:txBody>
      </p:sp>
      <p:sp>
        <p:nvSpPr>
          <p:cNvPr id="9" name="Text 6"/>
          <p:cNvSpPr txBox="1"/>
          <p:nvPr/>
        </p:nvSpPr>
        <p:spPr>
          <a:xfrm>
            <a:off x="9326880" y="2679192"/>
            <a:ext cx="2194560" cy="960120"/>
          </a:xfrm>
          <a:prstGeom prst="rect">
            <a:avLst/>
          </a:prstGeom>
          <a:noFill/>
          <a:ln/>
        </p:spPr>
        <p:txBody>
          <a:bodyPr wrap="square" lIns="0" tIns="0" rIns="0" bIns="0" rtlCol="0" anchor="ctr"/>
          <a:lstStyle/>
          <a:p>
            <a:pPr indent="0" marL="0">
              <a:buNone/>
            </a:pPr>
            <a:r>
              <a:rPr lang="en-US" sz="1300" dirty="0">
                <a:solidFill>
                  <a:schemeClr val="tx1"/>
                </a:solidFill>
              </a:rPr>
              <a:t>wrong causes named</a:t>
            </a:r>
            <a:endParaRPr lang="en-US" sz="1300" dirty="0"/>
          </a:p>
        </p:txBody>
      </p:sp>
      <p:sp>
        <p:nvSpPr>
          <p:cNvPr id="10" name="Shape 7"/>
          <p:cNvSpPr/>
          <p:nvPr/>
        </p:nvSpPr>
        <p:spPr>
          <a:xfrm>
            <a:off x="7498080" y="3758184"/>
            <a:ext cx="4114800" cy="960120"/>
          </a:xfrm>
          <a:prstGeom prst="roundRect">
            <a:avLst>
              <a:gd name="adj" fmla="val 7619"/>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7680960" y="3758184"/>
            <a:ext cx="1600200" cy="96012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0.017%</a:t>
            </a:r>
            <a:endParaRPr lang="en-US" sz="2400" dirty="0"/>
          </a:p>
        </p:txBody>
      </p:sp>
      <p:sp>
        <p:nvSpPr>
          <p:cNvPr id="12" name="Text 9"/>
          <p:cNvSpPr txBox="1"/>
          <p:nvPr/>
        </p:nvSpPr>
        <p:spPr>
          <a:xfrm>
            <a:off x="9326880" y="3758184"/>
            <a:ext cx="2194560" cy="960120"/>
          </a:xfrm>
          <a:prstGeom prst="rect">
            <a:avLst/>
          </a:prstGeom>
          <a:noFill/>
          <a:ln/>
        </p:spPr>
        <p:txBody>
          <a:bodyPr wrap="square" lIns="0" tIns="0" rIns="0" bIns="0" rtlCol="0" anchor="ctr"/>
          <a:lstStyle/>
          <a:p>
            <a:pPr indent="0" marL="0">
              <a:buNone/>
            </a:pPr>
            <a:r>
              <a:rPr lang="en-US" sz="1300" dirty="0">
                <a:solidFill>
                  <a:schemeClr val="tx1"/>
                </a:solidFill>
              </a:rPr>
              <a:t>largest gap between corrected and true clean revenue (mean 0.001%)</a:t>
            </a:r>
            <a:endParaRPr lang="en-US" sz="1300" dirty="0"/>
          </a:p>
        </p:txBody>
      </p:sp>
      <p:sp>
        <p:nvSpPr>
          <p:cNvPr id="13" name="Shape 10"/>
          <p:cNvSpPr/>
          <p:nvPr/>
        </p:nvSpPr>
        <p:spPr>
          <a:xfrm>
            <a:off x="7498080" y="4837176"/>
            <a:ext cx="4114800" cy="960120"/>
          </a:xfrm>
          <a:prstGeom prst="roundRect">
            <a:avLst>
              <a:gd name="adj" fmla="val 7619"/>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7680960" y="4837176"/>
            <a:ext cx="1600200" cy="96012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5 and 40</a:t>
            </a:r>
            <a:endParaRPr lang="en-US" sz="2400" dirty="0"/>
          </a:p>
        </p:txBody>
      </p:sp>
      <p:sp>
        <p:nvSpPr>
          <p:cNvPr id="15" name="Text 12"/>
          <p:cNvSpPr txBox="1"/>
          <p:nvPr/>
        </p:nvSpPr>
        <p:spPr>
          <a:xfrm>
            <a:off x="9326880" y="4837176"/>
            <a:ext cx="2194560" cy="960120"/>
          </a:xfrm>
          <a:prstGeom prst="rect">
            <a:avLst/>
          </a:prstGeom>
          <a:noFill/>
          <a:ln/>
        </p:spPr>
        <p:txBody>
          <a:bodyPr wrap="square" lIns="0" tIns="0" rIns="0" bIns="0" rtlCol="0" anchor="ctr"/>
          <a:lstStyle/>
          <a:p>
            <a:pPr indent="0" marL="0">
              <a:buNone/>
            </a:pPr>
            <a:r>
              <a:rPr lang="en-US" sz="1300" dirty="0">
                <a:solidFill>
                  <a:schemeClr val="tx1"/>
                </a:solidFill>
              </a:rPr>
              <a:t>wrong causes without the undo test, and causes the threshold alert missed</a:t>
            </a:r>
            <a:endParaRPr lang="en-US" sz="1300" dirty="0"/>
          </a:p>
        </p:txBody>
      </p:sp>
      <p:sp>
        <p:nvSpPr>
          <p:cNvPr id="16" name="Text 13"/>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5B7684"/>
                </a:solidFill>
              </a:rPr>
              <a:t>10 scenarios on 5 seeds, 20,000 orders a day, 42 days of history, Exasol Personal, re-run after the unit tail check. Synthetic data with planted faults [13].</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Tested on faults we did not tune for</a:t>
            </a:r>
            <a:endParaRPr lang="en-US" sz="3400" dirty="0"/>
          </a:p>
        </p:txBody>
      </p:sp>
      <p:graphicFrame>
        <p:nvGraphicFramePr>
          <p:cNvPr id="3" name="Chart 0" descr=""/>
          <p:cNvGraphicFramePr/>
          <p:nvPr/>
        </p:nvGraphicFramePr>
        <p:xfrm>
          <a:off x="548640" y="1600200"/>
          <a:ext cx="4206240" cy="41148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120640" y="1600200"/>
            <a:ext cx="6492240" cy="1325880"/>
          </a:xfrm>
          <a:prstGeom prst="roundRect">
            <a:avLst>
              <a:gd name="adj" fmla="val 5517"/>
            </a:avLst>
          </a:prstGeom>
          <a:solidFill>
            <a:schemeClr val="tx1"/>
          </a:solidFill>
          <a:ln w="9525">
            <a:solidFill>
              <a:srgbClr val="1C7293"/>
            </a:solidFill>
            <a:prstDash val="solid"/>
          </a:ln>
        </p:spPr>
      </p:sp>
      <p:sp>
        <p:nvSpPr>
          <p:cNvPr id="5" name="Text 2"/>
          <p:cNvSpPr txBox="1"/>
          <p:nvPr/>
        </p:nvSpPr>
        <p:spPr>
          <a:xfrm>
            <a:off x="5349240" y="1737360"/>
            <a:ext cx="6035040"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Written after the detectors were frozen</a:t>
            </a:r>
            <a:endParaRPr lang="en-US" sz="1800" dirty="0"/>
          </a:p>
        </p:txBody>
      </p:sp>
      <p:sp>
        <p:nvSpPr>
          <p:cNvPr id="6" name="Text 3"/>
          <p:cNvSpPr txBox="1"/>
          <p:nvPr/>
        </p:nvSpPr>
        <p:spPr>
          <a:xfrm>
            <a:off x="5349240" y="2148840"/>
            <a:ext cx="6035040" cy="731520"/>
          </a:xfrm>
          <a:prstGeom prst="rect">
            <a:avLst/>
          </a:prstGeom>
          <a:noFill/>
          <a:ln/>
        </p:spPr>
        <p:txBody>
          <a:bodyPr wrap="square" lIns="0" tIns="0" rIns="0" bIns="0" rtlCol="0" anchor="t"/>
          <a:lstStyle/>
          <a:p>
            <a:pPr indent="0" marL="0">
              <a:buNone/>
            </a:pPr>
            <a:r>
              <a:rPr lang="en-US" sz="1300" dirty="0">
                <a:solidFill>
                  <a:srgbClr val="DDE8EC"/>
                </a:solidFill>
              </a:rPr>
              <a:t>17 variants: other gateways, other sizes, partial rows, two faults at once. Re-run after the unit tail check [14].</a:t>
            </a:r>
            <a:endParaRPr lang="en-US" sz="1300" dirty="0"/>
          </a:p>
        </p:txBody>
      </p:sp>
      <p:sp>
        <p:nvSpPr>
          <p:cNvPr id="7" name="Shape 4"/>
          <p:cNvSpPr/>
          <p:nvPr/>
        </p:nvSpPr>
        <p:spPr>
          <a:xfrm>
            <a:off x="5120640" y="3063240"/>
            <a:ext cx="6492240" cy="1325880"/>
          </a:xfrm>
          <a:prstGeom prst="roundRect">
            <a:avLst>
              <a:gd name="adj" fmla="val 5517"/>
            </a:avLst>
          </a:prstGeom>
          <a:solidFill>
            <a:schemeClr val="tx1"/>
          </a:solidFill>
          <a:ln w="9525">
            <a:solidFill>
              <a:srgbClr val="1C7293"/>
            </a:solidFill>
            <a:prstDash val="solid"/>
          </a:ln>
        </p:spPr>
      </p:sp>
      <p:sp>
        <p:nvSpPr>
          <p:cNvPr id="8" name="Text 5"/>
          <p:cNvSpPr txBox="1"/>
          <p:nvPr/>
        </p:nvSpPr>
        <p:spPr>
          <a:xfrm>
            <a:off x="5349240" y="3200400"/>
            <a:ext cx="603504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0 wrong numbers published</a:t>
            </a:r>
            <a:endParaRPr lang="en-US" sz="1800" dirty="0"/>
          </a:p>
        </p:txBody>
      </p:sp>
      <p:sp>
        <p:nvSpPr>
          <p:cNvPr id="9" name="Text 6"/>
          <p:cNvSpPr txBox="1"/>
          <p:nvPr/>
        </p:nvSpPr>
        <p:spPr>
          <a:xfrm>
            <a:off x="5349240" y="3611880"/>
            <a:ext cx="6035040" cy="731520"/>
          </a:xfrm>
          <a:prstGeom prst="rect">
            <a:avLst/>
          </a:prstGeom>
          <a:noFill/>
          <a:ln/>
        </p:spPr>
        <p:txBody>
          <a:bodyPr wrap="square" lIns="0" tIns="0" rIns="0" bIns="0" rtlCol="0" anchor="t"/>
          <a:lstStyle/>
          <a:p>
            <a:pPr indent="0" marL="0">
              <a:buNone/>
            </a:pPr>
            <a:r>
              <a:rPr lang="en-US" sz="1300" dirty="0">
                <a:solidFill>
                  <a:srgbClr val="DDE8EC"/>
                </a:solidFill>
              </a:rPr>
              <a:t>Exasol: 15 caught, 1 held, 1 small enough to publish (under 4% error), 0 wrong of 17. DuckDB, 2 seeds: 30 caught, 2 held, 2 small, 0 wrong of 34 [14].</a:t>
            </a:r>
            <a:endParaRPr lang="en-US" sz="1300" dirty="0"/>
          </a:p>
        </p:txBody>
      </p:sp>
      <p:sp>
        <p:nvSpPr>
          <p:cNvPr id="10" name="Shape 7"/>
          <p:cNvSpPr/>
          <p:nvPr/>
        </p:nvSpPr>
        <p:spPr>
          <a:xfrm>
            <a:off x="5120640" y="4526280"/>
            <a:ext cx="6492240" cy="1325880"/>
          </a:xfrm>
          <a:prstGeom prst="roundRect">
            <a:avLst>
              <a:gd name="adj" fmla="val 5517"/>
            </a:avLst>
          </a:prstGeom>
          <a:solidFill>
            <a:schemeClr val="tx1"/>
          </a:solidFill>
          <a:ln w="9525">
            <a:solidFill>
              <a:srgbClr val="1C7293"/>
            </a:solidFill>
            <a:prstDash val="solid"/>
          </a:ln>
        </p:spPr>
      </p:sp>
      <p:sp>
        <p:nvSpPr>
          <p:cNvPr id="11" name="Text 8"/>
          <p:cNvSpPr txBox="1"/>
          <p:nvPr/>
        </p:nvSpPr>
        <p:spPr>
          <a:xfrm>
            <a:off x="5349240" y="4663440"/>
            <a:ext cx="6035040"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The honest misses</a:t>
            </a:r>
            <a:endParaRPr lang="en-US" sz="1800" dirty="0"/>
          </a:p>
        </p:txBody>
      </p:sp>
      <p:sp>
        <p:nvSpPr>
          <p:cNvPr id="12" name="Text 9"/>
          <p:cNvSpPr txBox="1"/>
          <p:nvPr/>
        </p:nvSpPr>
        <p:spPr>
          <a:xfrm>
            <a:off x="5349240" y="5074920"/>
            <a:ext cx="6035040" cy="731520"/>
          </a:xfrm>
          <a:prstGeom prst="rect">
            <a:avLst/>
          </a:prstGeom>
          <a:noFill/>
          <a:ln/>
        </p:spPr>
        <p:txBody>
          <a:bodyPr wrap="square" lIns="0" tIns="0" rIns="0" bIns="0" rtlCol="0" anchor="t"/>
          <a:lstStyle/>
          <a:p>
            <a:pPr indent="0" marL="0">
              <a:buNone/>
            </a:pPr>
            <a:r>
              <a:rPr lang="en-US" sz="1300" dirty="0">
                <a:solidFill>
                  <a:srgbClr val="DDE8EC"/>
                </a:solidFill>
              </a:rPr>
              <a:t>A 12 hour clock shift was held with no cause named. A 1 hour shift (-1.5%) was small enough to publish. A x10 unit error on 2% to 10% of one gateway is held, not proven (12 of 24 held-out cases) [21].</a:t>
            </a:r>
            <a:endParaRPr lang="en-US" sz="1300" dirty="0"/>
          </a:p>
        </p:txBody>
      </p:sp>
      <p:sp>
        <p:nvSpPr>
          <p:cNvPr id="13" name="Text 10"/>
          <p:cNvSpPr txBox="1"/>
          <p:nvPr/>
        </p:nvSpPr>
        <p:spPr>
          <a:xfrm>
            <a:off x="5120640" y="5989320"/>
            <a:ext cx="6492240" cy="365760"/>
          </a:xfrm>
          <a:prstGeom prst="rect">
            <a:avLst/>
          </a:prstGeom>
          <a:noFill/>
          <a:ln/>
        </p:spPr>
        <p:txBody>
          <a:bodyPr wrap="square" lIns="0" tIns="0" rIns="0" bIns="0" rtlCol="0" anchor="t"/>
          <a:lstStyle/>
          <a:p>
            <a:pPr indent="0" marL="0">
              <a:buNone/>
            </a:pPr>
            <a:r>
              <a:rPr lang="en-US" sz="1200" dirty="0">
                <a:solidFill>
                  <a:srgbClr val="5B7684"/>
                </a:solidFill>
              </a:rPr>
              <a:t>When Receipts cannot prove a cause it holds the number and names nothing. That is the designed behaviour for the unknown.</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We attacked our own gate: fixed one hole, found more</a:t>
            </a:r>
            <a:endParaRPr lang="en-US" sz="3400" dirty="0"/>
          </a:p>
        </p:txBody>
      </p:sp>
      <p:graphicFrame>
        <p:nvGraphicFramePr>
          <p:cNvPr id="3" name="Chart 0" descr=""/>
          <p:cNvGraphicFramePr/>
          <p:nvPr/>
        </p:nvGraphicFramePr>
        <p:xfrm>
          <a:off x="548640" y="1554480"/>
          <a:ext cx="630936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132320" y="1600200"/>
            <a:ext cx="448056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7315200" y="1709928"/>
            <a:ext cx="4114800"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The hole</a:t>
            </a:r>
            <a:endParaRPr lang="en-US" sz="1700" dirty="0"/>
          </a:p>
        </p:txBody>
      </p:sp>
      <p:sp>
        <p:nvSpPr>
          <p:cNvPr id="6" name="Text 3"/>
          <p:cNvSpPr txBox="1"/>
          <p:nvPr/>
        </p:nvSpPr>
        <p:spPr>
          <a:xfrm>
            <a:off x="7315200" y="2075688"/>
            <a:ext cx="4114800" cy="868680"/>
          </a:xfrm>
          <a:prstGeom prst="rect">
            <a:avLst/>
          </a:prstGeom>
          <a:noFill/>
          <a:ln/>
        </p:spPr>
        <p:txBody>
          <a:bodyPr wrap="square" lIns="0" tIns="0" rIns="0" bIns="0" rtlCol="0" anchor="t"/>
          <a:lstStyle/>
          <a:p>
            <a:pPr indent="0" marL="0">
              <a:buNone/>
            </a:pPr>
            <a:r>
              <a:rPr lang="en-US" sz="1200" dirty="0">
                <a:solidFill>
                  <a:schemeClr val="tx1"/>
                </a:solidFill>
              </a:rPr>
              <a:t>A x100 unit change on 2% of one gateway was published as a real change, 6.5% off. The unit check compared medians, and 2% of rows does not move a median.</a:t>
            </a:r>
            <a:endParaRPr lang="en-US" sz="1200" dirty="0"/>
          </a:p>
        </p:txBody>
      </p:sp>
      <p:sp>
        <p:nvSpPr>
          <p:cNvPr id="7" name="Shape 4"/>
          <p:cNvSpPr/>
          <p:nvPr/>
        </p:nvSpPr>
        <p:spPr>
          <a:xfrm>
            <a:off x="7132320" y="3081528"/>
            <a:ext cx="448056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7315200" y="3191256"/>
            <a:ext cx="411480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The fix</a:t>
            </a:r>
            <a:endParaRPr lang="en-US" sz="1700" dirty="0"/>
          </a:p>
        </p:txBody>
      </p:sp>
      <p:sp>
        <p:nvSpPr>
          <p:cNvPr id="9" name="Text 6"/>
          <p:cNvSpPr txBox="1"/>
          <p:nvPr/>
        </p:nvSpPr>
        <p:spPr>
          <a:xfrm>
            <a:off x="7315200" y="3557016"/>
            <a:ext cx="4114800" cy="868680"/>
          </a:xfrm>
          <a:prstGeom prst="rect">
            <a:avLst/>
          </a:prstGeom>
          <a:noFill/>
          <a:ln/>
        </p:spPr>
        <p:txBody>
          <a:bodyPr wrap="square" lIns="0" tIns="0" rIns="0" bIns="0" rtlCol="0" anchor="t"/>
          <a:lstStyle/>
          <a:p>
            <a:pPr indent="0" marL="0">
              <a:buNone/>
            </a:pPr>
            <a:r>
              <a:rPr lang="en-US" sz="1200" dirty="0">
                <a:solidFill>
                  <a:schemeClr val="tx1"/>
                </a:solidFill>
              </a:rPr>
              <a:t>Count amounts above 20 times the baseline median, per gateway and currency, and test the count. The undo test then divides only those rows.</a:t>
            </a:r>
            <a:endParaRPr lang="en-US" sz="1200" dirty="0"/>
          </a:p>
        </p:txBody>
      </p:sp>
      <p:sp>
        <p:nvSpPr>
          <p:cNvPr id="10" name="Shape 7"/>
          <p:cNvSpPr/>
          <p:nvPr/>
        </p:nvSpPr>
        <p:spPr>
          <a:xfrm>
            <a:off x="7132320" y="4562856"/>
            <a:ext cx="448056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7315200" y="4672584"/>
            <a:ext cx="4114800"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Then 25 seeds</a:t>
            </a:r>
            <a:endParaRPr lang="en-US" sz="1700" dirty="0"/>
          </a:p>
        </p:txBody>
      </p:sp>
      <p:sp>
        <p:nvSpPr>
          <p:cNvPr id="12" name="Text 9"/>
          <p:cNvSpPr txBox="1"/>
          <p:nvPr/>
        </p:nvSpPr>
        <p:spPr>
          <a:xfrm>
            <a:off x="7315200" y="5038344"/>
            <a:ext cx="4114800" cy="868680"/>
          </a:xfrm>
          <a:prstGeom prst="rect">
            <a:avLst/>
          </a:prstGeom>
          <a:noFill/>
          <a:ln/>
        </p:spPr>
        <p:txBody>
          <a:bodyPr wrap="square" lIns="0" tIns="0" rIns="0" bIns="0" rtlCol="0" anchor="t"/>
          <a:lstStyle/>
          <a:p>
            <a:pPr indent="0" marL="0">
              <a:buNone/>
            </a:pPr>
            <a:r>
              <a:rPr lang="en-US" sz="1200" dirty="0">
                <a:solidFill>
                  <a:schemeClr val="tx1"/>
                </a:solidFill>
              </a:rPr>
              <a:t>Seed 11: 0 holes, and held-out partial unit cases went from 0 of 24 proven to 12. Over 25 seeds the red team found 13 holes, all partial clock shifts on one gateway: 25% of its rows moves revenue about 4% and goes out as no incident. Not closed [21].</a:t>
            </a:r>
            <a:endParaRPr lang="en-US" sz="1200" dirty="0"/>
          </a:p>
        </p:txBody>
      </p:sp>
      <p:sp>
        <p:nvSpPr>
          <p:cNvPr id="13" name="Text 10"/>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100" dirty="0">
                <a:solidFill>
                  <a:srgbClr val="5B7684"/>
                </a:solidFill>
              </a:rPr>
              <a:t>Chart: Exasol, seed 11, 20,000 orders a day; floors vary by seed (the unit change is proven down to 2% on 20 of 25 seeds). Stale FX feed is all or nothing and was caught. Not closed: partial clock shifts, and x10 errors on 2% to 10% of a gateway are held, not proven [21].</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The undo test can fail: 235 wrong fixes, 225 rejected</a:t>
            </a:r>
            <a:endParaRPr lang="en-US" sz="3400" dirty="0"/>
          </a:p>
        </p:txBody>
      </p:sp>
      <p:graphicFrame>
        <p:nvGraphicFramePr>
          <p:cNvPr id="3" name="Chart 0" descr=""/>
          <p:cNvGraphicFramePr/>
          <p:nvPr/>
        </p:nvGraphicFramePr>
        <p:xfrm>
          <a:off x="548640" y="1554480"/>
          <a:ext cx="603504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858000" y="1600200"/>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7040880" y="1709928"/>
            <a:ext cx="43891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Is the undo test circular?</a:t>
            </a:r>
            <a:endParaRPr lang="en-US" sz="1700" dirty="0"/>
          </a:p>
        </p:txBody>
      </p:sp>
      <p:sp>
        <p:nvSpPr>
          <p:cNvPr id="6" name="Text 3"/>
          <p:cNvSpPr txBox="1"/>
          <p:nvPr/>
        </p:nvSpPr>
        <p:spPr>
          <a:xfrm>
            <a:off x="7040880" y="2075688"/>
            <a:ext cx="4389120" cy="868680"/>
          </a:xfrm>
          <a:prstGeom prst="rect">
            <a:avLst/>
          </a:prstGeom>
          <a:noFill/>
          <a:ln/>
        </p:spPr>
        <p:txBody>
          <a:bodyPr wrap="square" lIns="0" tIns="0" rIns="0" bIns="0" rtlCol="0" anchor="t"/>
          <a:lstStyle/>
          <a:p>
            <a:pPr indent="0" marL="0">
              <a:buNone/>
            </a:pPr>
            <a:r>
              <a:rPr lang="en-US" sz="1200" dirty="0">
                <a:solidFill>
                  <a:schemeClr val="tx1"/>
                </a:solidFill>
              </a:rPr>
              <a:t>For every planted fault the gate is also shown wrong corrections: the wrong gateway, the wrong factor, a fix applied to every day, or a fix for a different cause. 225 of 235 were rejected.</a:t>
            </a:r>
            <a:endParaRPr lang="en-US" sz="1200" dirty="0"/>
          </a:p>
        </p:txBody>
      </p:sp>
      <p:sp>
        <p:nvSpPr>
          <p:cNvPr id="7" name="Shape 4"/>
          <p:cNvSpPr/>
          <p:nvPr/>
        </p:nvSpPr>
        <p:spPr>
          <a:xfrm>
            <a:off x="6858000" y="3081528"/>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7040880" y="3191256"/>
            <a:ext cx="4389120"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The 10 it accepted</a:t>
            </a:r>
            <a:endParaRPr lang="en-US" sz="1700" dirty="0"/>
          </a:p>
        </p:txBody>
      </p:sp>
      <p:sp>
        <p:nvSpPr>
          <p:cNvPr id="9" name="Text 6"/>
          <p:cNvSpPr txBox="1"/>
          <p:nvPr/>
        </p:nvSpPr>
        <p:spPr>
          <a:xfrm>
            <a:off x="7040880" y="3557016"/>
            <a:ext cx="4389120" cy="868680"/>
          </a:xfrm>
          <a:prstGeom prst="rect">
            <a:avLst/>
          </a:prstGeom>
          <a:noFill/>
          <a:ln/>
        </p:spPr>
        <p:txBody>
          <a:bodyPr wrap="square" lIns="0" tIns="0" rIns="0" bIns="0" rtlCol="0" anchor="t"/>
          <a:lstStyle/>
          <a:p>
            <a:pPr indent="0" marL="0">
              <a:buNone/>
            </a:pPr>
            <a:r>
              <a:rPr lang="en-US" sz="1200" dirty="0">
                <a:solidFill>
                  <a:schemeClr val="tx1"/>
                </a:solidFill>
              </a:rPr>
              <a:t>All 10 touch GW_C, the smallest gateway, about 5% of revenue. Its share is smaller than the normal range, so a wrong correction can land inside it. Six are a divide by 100, four a divide by 1000 where x100 was planted.</a:t>
            </a:r>
            <a:endParaRPr lang="en-US" sz="1200" dirty="0"/>
          </a:p>
        </p:txBody>
      </p:sp>
      <p:sp>
        <p:nvSpPr>
          <p:cNvPr id="10" name="Shape 7"/>
          <p:cNvSpPr/>
          <p:nvPr/>
        </p:nvSpPr>
        <p:spPr>
          <a:xfrm>
            <a:off x="6858000" y="4562856"/>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7040880" y="4672584"/>
            <a:ext cx="43891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Why verdicts stayed right</a:t>
            </a:r>
            <a:endParaRPr lang="en-US" sz="1700" dirty="0"/>
          </a:p>
        </p:txBody>
      </p:sp>
      <p:sp>
        <p:nvSpPr>
          <p:cNvPr id="12" name="Text 9"/>
          <p:cNvSpPr txBox="1"/>
          <p:nvPr/>
        </p:nvSpPr>
        <p:spPr>
          <a:xfrm>
            <a:off x="7040880" y="5038344"/>
            <a:ext cx="4389120" cy="868680"/>
          </a:xfrm>
          <a:prstGeom prst="rect">
            <a:avLst/>
          </a:prstGeom>
          <a:noFill/>
          <a:ln/>
        </p:spPr>
        <p:txBody>
          <a:bodyPr wrap="square" lIns="0" tIns="0" rIns="0" bIns="0" rtlCol="0" anchor="t"/>
          <a:lstStyle/>
          <a:p>
            <a:pPr indent="0" marL="0">
              <a:buNone/>
            </a:pPr>
            <a:r>
              <a:rPr lang="en-US" sz="1200" dirty="0">
                <a:solidFill>
                  <a:schemeClr val="tx1"/>
                </a:solidFill>
              </a:rPr>
              <a:t>No detector nominated these fixes, so none was used. On a slice smaller than the range the undo test alone cannot tell a right correction from a wrong one. We did not tune the gate after seeing them.</a:t>
            </a:r>
            <a:endParaRPr lang="en-US" sz="1200" dirty="0"/>
          </a:p>
        </p:txBody>
      </p:sp>
      <p:sp>
        <p:nvSpPr>
          <p:cNvPr id="13" name="Text 10"/>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5B7684"/>
                </a:solidFill>
              </a:rPr>
              <a:t>Exasol 2026.2.0-nano.3, 5 seeds, 20,000 orders a day, 615 s. Reproduce: receipts wrongfix --backend exasol [22].</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Your own metric: one config file, the same gate</a:t>
            </a:r>
            <a:endParaRPr lang="en-US" sz="3400" dirty="0"/>
          </a:p>
        </p:txBody>
      </p:sp>
      <p:sp>
        <p:nvSpPr>
          <p:cNvPr id="3" name="Shape 1"/>
          <p:cNvSpPr/>
          <p:nvPr/>
        </p:nvSpPr>
        <p:spPr>
          <a:xfrm>
            <a:off x="548640" y="1600200"/>
            <a:ext cx="5120640" cy="2743200"/>
          </a:xfrm>
          <a:prstGeom prst="roundRect">
            <a:avLst>
              <a:gd name="adj" fmla="val 2667"/>
            </a:avLst>
          </a:prstGeom>
          <a:solidFill>
            <a:schemeClr val="tx1"/>
          </a:solidFill>
          <a:ln w="9525">
            <a:solidFill>
              <a:srgbClr val="1C7293"/>
            </a:solidFill>
            <a:prstDash val="solid"/>
          </a:ln>
        </p:spPr>
      </p:sp>
      <p:sp>
        <p:nvSpPr>
          <p:cNvPr id="4" name="Text 2"/>
          <p:cNvSpPr txBox="1"/>
          <p:nvPr/>
        </p:nvSpPr>
        <p:spPr>
          <a:xfrm>
            <a:off x="731520" y="1691640"/>
            <a:ext cx="4754880" cy="2560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metrics:</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 name: avg_basket_inr</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view: PIPE.DAILY_ORDERS</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value_column: AVG_BASKET_INR</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day_column: TXN_DAY</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raw_tables: [RAW.ORDERS, RAW.PAYMENTS]</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amount: RAW.PAYMENTS.AMOUNT</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id: RAW.ORDERS.ORDER_ID</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    time: RAW.PAYMENTS.CAPTURED_AT</a:t>
            </a:r>
            <a:endParaRPr lang="en-US" sz="1200" dirty="0"/>
          </a:p>
        </p:txBody>
      </p:sp>
      <p:sp>
        <p:nvSpPr>
          <p:cNvPr id="5" name="Text 3"/>
          <p:cNvSpPr txBox="1"/>
          <p:nvPr/>
        </p:nvSpPr>
        <p:spPr>
          <a:xfrm>
            <a:off x="548640" y="4480560"/>
            <a:ext cx="5120640" cy="914400"/>
          </a:xfrm>
          <a:prstGeom prst="rect">
            <a:avLst/>
          </a:prstGeom>
          <a:noFill/>
          <a:ln/>
        </p:spPr>
        <p:txBody>
          <a:bodyPr wrap="square" lIns="0" tIns="0" rIns="0" bIns="0" rtlCol="0" anchor="t"/>
          <a:lstStyle/>
          <a:p>
            <a:pPr indent="0" marL="0">
              <a:buNone/>
            </a:pPr>
            <a:r>
              <a:rPr lang="en-US" sz="1300" dirty="0">
                <a:solidFill>
                  <a:schemeClr val="tx1"/>
                </a:solidFill>
              </a:rPr>
              <a:t>receipts.yaml names the view, the raw tables and the amount, ID and time columns. Three metrics run through the same gate. receipts connect --check validated the file against Exasol: 27 checks, 0 problems [23].</a:t>
            </a:r>
            <a:endParaRPr lang="en-US" sz="1300" dirty="0"/>
          </a:p>
        </p:txBody>
      </p:sp>
      <p:sp>
        <p:nvSpPr>
          <p:cNvPr id="6" name="Text 4"/>
          <p:cNvSpPr txBox="1"/>
          <p:nvPr/>
        </p:nvSpPr>
        <p:spPr>
          <a:xfrm>
            <a:off x="548640" y="5440680"/>
            <a:ext cx="5120640" cy="548640"/>
          </a:xfrm>
          <a:prstGeom prst="rect">
            <a:avLst/>
          </a:prstGeom>
          <a:noFill/>
          <a:ln/>
        </p:spPr>
        <p:txBody>
          <a:bodyPr wrap="square" lIns="0" tIns="0" rIns="0" bIns="0" rtlCol="0" anchor="t"/>
          <a:lstStyle/>
          <a:p>
            <a:pPr indent="0" marL="0">
              <a:buNone/>
            </a:pPr>
            <a:r>
              <a:rPr lang="en-US" sz="1300" b="1" dirty="0">
                <a:solidFill>
                  <a:schemeClr val="accent2"/>
                </a:solidFill>
              </a:rPr>
              <a:t>Order count was never published wrong. The average basket was, until the second run found why.</a:t>
            </a:r>
            <a:endParaRPr lang="en-US" sz="1300" dirty="0"/>
          </a:p>
        </p:txBody>
      </p:sp>
      <p:graphicFrame>
        <p:nvGraphicFramePr>
          <p:cNvPr id="7" name="Chart 0" descr=""/>
          <p:cNvGraphicFramePr/>
          <p:nvPr/>
        </p:nvGraphicFramePr>
        <p:xfrm>
          <a:off x="5943600" y="1554480"/>
          <a:ext cx="5669280" cy="27432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943600" y="4434840"/>
            <a:ext cx="5669280" cy="1554480"/>
          </a:xfrm>
          <a:prstGeom prst="roundRect">
            <a:avLst>
              <a:gd name="adj" fmla="val 4706"/>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6126480" y="4526280"/>
            <a:ext cx="53035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The bug, and the fix</a:t>
            </a:r>
            <a:endParaRPr lang="en-US" sz="1700" dirty="0"/>
          </a:p>
        </p:txBody>
      </p:sp>
      <p:sp>
        <p:nvSpPr>
          <p:cNvPr id="10" name="Text 7"/>
          <p:cNvSpPr txBox="1"/>
          <p:nvPr/>
        </p:nvSpPr>
        <p:spPr>
          <a:xfrm>
            <a:off x="6126480" y="4873752"/>
            <a:ext cx="5303520" cy="1097280"/>
          </a:xfrm>
          <a:prstGeom prst="rect">
            <a:avLst/>
          </a:prstGeom>
          <a:noFill/>
          <a:ln/>
        </p:spPr>
        <p:txBody>
          <a:bodyPr wrap="square" lIns="0" tIns="0" rIns="0" bIns="0" rtlCol="0" anchor="t"/>
          <a:lstStyle/>
          <a:p>
            <a:pPr indent="0" marL="0">
              <a:buNone/>
            </a:pPr>
            <a:r>
              <a:rPr lang="en-US" sz="1200" dirty="0">
                <a:solidFill>
                  <a:schemeClr val="tx1"/>
                </a:solidFill>
              </a:rPr>
              <a:t>A metric that was not published took its history from its own live view, so a merchant fan-out rewrote the past and moved the baseline with it. The fix keeps a trusted history snapshot. The 16 cases were written before the fix.</a:t>
            </a:r>
            <a:endParaRPr lang="en-US" sz="1200" dirty="0"/>
          </a:p>
        </p:txBody>
      </p:sp>
      <p:sp>
        <p:nvSpPr>
          <p:cNvPr id="11" name="Text 8"/>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100" dirty="0">
                <a:solidFill>
                  <a:srgbClr val="5B7684"/>
                </a:solidFill>
              </a:rPr>
              <a:t>Before and after on the stand-in, synthetic data, seeds 31 and 32. The Exasol repeat gave the same outcome: 0 published wrong in 32 runs [22].</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On real data: 56 taxi days, no false holds</a:t>
            </a:r>
            <a:endParaRPr lang="en-US" sz="3400" dirty="0"/>
          </a:p>
        </p:txBody>
      </p:sp>
      <p:sp>
        <p:nvSpPr>
          <p:cNvPr id="3" name="Text 1"/>
          <p:cNvSpPr txBox="1"/>
          <p:nvPr/>
        </p:nvSpPr>
        <p:spPr>
          <a:xfrm>
            <a:off x="548640" y="1874520"/>
            <a:ext cx="457200" cy="502920"/>
          </a:xfrm>
          <a:prstGeom prst="rect">
            <a:avLst/>
          </a:prstGeom>
          <a:noFill/>
          <a:ln/>
        </p:spPr>
        <p:txBody>
          <a:bodyPr wrap="square" lIns="0" tIns="0" rIns="0" bIns="0" rtlCol="0" anchor="ctr"/>
          <a:lstStyle/>
          <a:p>
            <a:pPr indent="0" marL="0">
              <a:buNone/>
            </a:pPr>
            <a:r>
              <a:rPr lang="en-US" sz="1100" dirty="0">
                <a:solidFill>
                  <a:srgbClr val="5B7684"/>
                </a:solidFill>
              </a:rPr>
              <a:t>Mon</a:t>
            </a:r>
            <a:endParaRPr lang="en-US" sz="1100" dirty="0"/>
          </a:p>
        </p:txBody>
      </p:sp>
      <p:sp>
        <p:nvSpPr>
          <p:cNvPr id="4" name="Text 2"/>
          <p:cNvSpPr txBox="1"/>
          <p:nvPr/>
        </p:nvSpPr>
        <p:spPr>
          <a:xfrm>
            <a:off x="548640" y="2450592"/>
            <a:ext cx="457200" cy="502920"/>
          </a:xfrm>
          <a:prstGeom prst="rect">
            <a:avLst/>
          </a:prstGeom>
          <a:noFill/>
          <a:ln/>
        </p:spPr>
        <p:txBody>
          <a:bodyPr wrap="square" lIns="0" tIns="0" rIns="0" bIns="0" rtlCol="0" anchor="ctr"/>
          <a:lstStyle/>
          <a:p>
            <a:pPr indent="0" marL="0">
              <a:buNone/>
            </a:pPr>
            <a:r>
              <a:rPr lang="en-US" sz="1100" dirty="0">
                <a:solidFill>
                  <a:srgbClr val="5B7684"/>
                </a:solidFill>
              </a:rPr>
              <a:t>Tue</a:t>
            </a:r>
            <a:endParaRPr lang="en-US" sz="1100" dirty="0"/>
          </a:p>
        </p:txBody>
      </p:sp>
      <p:sp>
        <p:nvSpPr>
          <p:cNvPr id="5" name="Text 3"/>
          <p:cNvSpPr txBox="1"/>
          <p:nvPr/>
        </p:nvSpPr>
        <p:spPr>
          <a:xfrm>
            <a:off x="548640" y="3026664"/>
            <a:ext cx="457200" cy="502920"/>
          </a:xfrm>
          <a:prstGeom prst="rect">
            <a:avLst/>
          </a:prstGeom>
          <a:noFill/>
          <a:ln/>
        </p:spPr>
        <p:txBody>
          <a:bodyPr wrap="square" lIns="0" tIns="0" rIns="0" bIns="0" rtlCol="0" anchor="ctr"/>
          <a:lstStyle/>
          <a:p>
            <a:pPr indent="0" marL="0">
              <a:buNone/>
            </a:pPr>
            <a:r>
              <a:rPr lang="en-US" sz="1100" dirty="0">
                <a:solidFill>
                  <a:srgbClr val="5B7684"/>
                </a:solidFill>
              </a:rPr>
              <a:t>Wed</a:t>
            </a:r>
            <a:endParaRPr lang="en-US" sz="1100" dirty="0"/>
          </a:p>
        </p:txBody>
      </p:sp>
      <p:sp>
        <p:nvSpPr>
          <p:cNvPr id="6" name="Text 4"/>
          <p:cNvSpPr txBox="1"/>
          <p:nvPr/>
        </p:nvSpPr>
        <p:spPr>
          <a:xfrm>
            <a:off x="548640" y="3602736"/>
            <a:ext cx="457200" cy="502920"/>
          </a:xfrm>
          <a:prstGeom prst="rect">
            <a:avLst/>
          </a:prstGeom>
          <a:noFill/>
          <a:ln/>
        </p:spPr>
        <p:txBody>
          <a:bodyPr wrap="square" lIns="0" tIns="0" rIns="0" bIns="0" rtlCol="0" anchor="ctr"/>
          <a:lstStyle/>
          <a:p>
            <a:pPr indent="0" marL="0">
              <a:buNone/>
            </a:pPr>
            <a:r>
              <a:rPr lang="en-US" sz="1100" dirty="0">
                <a:solidFill>
                  <a:srgbClr val="5B7684"/>
                </a:solidFill>
              </a:rPr>
              <a:t>Thu</a:t>
            </a:r>
            <a:endParaRPr lang="en-US" sz="1100" dirty="0"/>
          </a:p>
        </p:txBody>
      </p:sp>
      <p:sp>
        <p:nvSpPr>
          <p:cNvPr id="7" name="Text 5"/>
          <p:cNvSpPr txBox="1"/>
          <p:nvPr/>
        </p:nvSpPr>
        <p:spPr>
          <a:xfrm>
            <a:off x="548640" y="4178808"/>
            <a:ext cx="457200" cy="502920"/>
          </a:xfrm>
          <a:prstGeom prst="rect">
            <a:avLst/>
          </a:prstGeom>
          <a:noFill/>
          <a:ln/>
        </p:spPr>
        <p:txBody>
          <a:bodyPr wrap="square" lIns="0" tIns="0" rIns="0" bIns="0" rtlCol="0" anchor="ctr"/>
          <a:lstStyle/>
          <a:p>
            <a:pPr indent="0" marL="0">
              <a:buNone/>
            </a:pPr>
            <a:r>
              <a:rPr lang="en-US" sz="1100" dirty="0">
                <a:solidFill>
                  <a:srgbClr val="5B7684"/>
                </a:solidFill>
              </a:rPr>
              <a:t>Fri</a:t>
            </a:r>
            <a:endParaRPr lang="en-US" sz="1100" dirty="0"/>
          </a:p>
        </p:txBody>
      </p:sp>
      <p:sp>
        <p:nvSpPr>
          <p:cNvPr id="8" name="Text 6"/>
          <p:cNvSpPr txBox="1"/>
          <p:nvPr/>
        </p:nvSpPr>
        <p:spPr>
          <a:xfrm>
            <a:off x="548640" y="4754880"/>
            <a:ext cx="457200" cy="502920"/>
          </a:xfrm>
          <a:prstGeom prst="rect">
            <a:avLst/>
          </a:prstGeom>
          <a:noFill/>
          <a:ln/>
        </p:spPr>
        <p:txBody>
          <a:bodyPr wrap="square" lIns="0" tIns="0" rIns="0" bIns="0" rtlCol="0" anchor="ctr"/>
          <a:lstStyle/>
          <a:p>
            <a:pPr indent="0" marL="0">
              <a:buNone/>
            </a:pPr>
            <a:r>
              <a:rPr lang="en-US" sz="1100" dirty="0">
                <a:solidFill>
                  <a:srgbClr val="5B7684"/>
                </a:solidFill>
              </a:rPr>
              <a:t>Sat</a:t>
            </a:r>
            <a:endParaRPr lang="en-US" sz="1100" dirty="0"/>
          </a:p>
        </p:txBody>
      </p:sp>
      <p:sp>
        <p:nvSpPr>
          <p:cNvPr id="9" name="Text 7"/>
          <p:cNvSpPr txBox="1"/>
          <p:nvPr/>
        </p:nvSpPr>
        <p:spPr>
          <a:xfrm>
            <a:off x="548640" y="5330952"/>
            <a:ext cx="457200" cy="502920"/>
          </a:xfrm>
          <a:prstGeom prst="rect">
            <a:avLst/>
          </a:prstGeom>
          <a:noFill/>
          <a:ln/>
        </p:spPr>
        <p:txBody>
          <a:bodyPr wrap="square" lIns="0" tIns="0" rIns="0" bIns="0" rtlCol="0" anchor="ctr"/>
          <a:lstStyle/>
          <a:p>
            <a:pPr indent="0" marL="0">
              <a:buNone/>
            </a:pPr>
            <a:r>
              <a:rPr lang="en-US" sz="1100" dirty="0">
                <a:solidFill>
                  <a:srgbClr val="5B7684"/>
                </a:solidFill>
              </a:rPr>
              <a:t>Sun</a:t>
            </a:r>
            <a:endParaRPr lang="en-US" sz="1100" dirty="0"/>
          </a:p>
        </p:txBody>
      </p:sp>
      <p:sp>
        <p:nvSpPr>
          <p:cNvPr id="10" name="Shape 8"/>
          <p:cNvSpPr/>
          <p:nvPr/>
        </p:nvSpPr>
        <p:spPr>
          <a:xfrm>
            <a:off x="1051560" y="1874520"/>
            <a:ext cx="502920" cy="502920"/>
          </a:xfrm>
          <a:prstGeom prst="roundRect">
            <a:avLst>
              <a:gd name="adj" fmla="val 10909"/>
            </a:avLst>
          </a:prstGeom>
          <a:solidFill>
            <a:schemeClr val="accent3"/>
          </a:solidFill>
          <a:ln w="6350">
            <a:solidFill>
              <a:srgbClr val="1C7293"/>
            </a:solidFill>
            <a:prstDash val="solid"/>
          </a:ln>
        </p:spPr>
      </p:sp>
      <p:sp>
        <p:nvSpPr>
          <p:cNvPr id="11" name="Shape 9"/>
          <p:cNvSpPr/>
          <p:nvPr/>
        </p:nvSpPr>
        <p:spPr>
          <a:xfrm>
            <a:off x="1051560" y="2450592"/>
            <a:ext cx="502920" cy="502920"/>
          </a:xfrm>
          <a:prstGeom prst="roundRect">
            <a:avLst>
              <a:gd name="adj" fmla="val 10909"/>
            </a:avLst>
          </a:prstGeom>
          <a:solidFill>
            <a:schemeClr val="accent3"/>
          </a:solidFill>
          <a:ln w="6350">
            <a:solidFill>
              <a:srgbClr val="1C7293"/>
            </a:solidFill>
            <a:prstDash val="solid"/>
          </a:ln>
        </p:spPr>
      </p:sp>
      <p:sp>
        <p:nvSpPr>
          <p:cNvPr id="12" name="Shape 10"/>
          <p:cNvSpPr/>
          <p:nvPr/>
        </p:nvSpPr>
        <p:spPr>
          <a:xfrm>
            <a:off x="1051560" y="3026664"/>
            <a:ext cx="502920" cy="502920"/>
          </a:xfrm>
          <a:prstGeom prst="roundRect">
            <a:avLst>
              <a:gd name="adj" fmla="val 10909"/>
            </a:avLst>
          </a:prstGeom>
          <a:solidFill>
            <a:schemeClr val="accent3"/>
          </a:solidFill>
          <a:ln w="6350">
            <a:solidFill>
              <a:srgbClr val="1C7293"/>
            </a:solidFill>
            <a:prstDash val="solid"/>
          </a:ln>
        </p:spPr>
      </p:sp>
      <p:sp>
        <p:nvSpPr>
          <p:cNvPr id="13" name="Shape 11"/>
          <p:cNvSpPr/>
          <p:nvPr/>
        </p:nvSpPr>
        <p:spPr>
          <a:xfrm>
            <a:off x="1051560" y="3602736"/>
            <a:ext cx="502920" cy="502920"/>
          </a:xfrm>
          <a:prstGeom prst="roundRect">
            <a:avLst>
              <a:gd name="adj" fmla="val 10909"/>
            </a:avLst>
          </a:prstGeom>
          <a:solidFill>
            <a:schemeClr val="accent3"/>
          </a:solidFill>
          <a:ln w="6350">
            <a:solidFill>
              <a:srgbClr val="1C7293"/>
            </a:solidFill>
            <a:prstDash val="solid"/>
          </a:ln>
        </p:spPr>
      </p:sp>
      <p:sp>
        <p:nvSpPr>
          <p:cNvPr id="14" name="Shape 12"/>
          <p:cNvSpPr/>
          <p:nvPr/>
        </p:nvSpPr>
        <p:spPr>
          <a:xfrm>
            <a:off x="1051560" y="4178808"/>
            <a:ext cx="502920" cy="502920"/>
          </a:xfrm>
          <a:prstGeom prst="roundRect">
            <a:avLst>
              <a:gd name="adj" fmla="val 10909"/>
            </a:avLst>
          </a:prstGeom>
          <a:solidFill>
            <a:schemeClr val="accent3"/>
          </a:solidFill>
          <a:ln w="6350">
            <a:solidFill>
              <a:srgbClr val="1C7293"/>
            </a:solidFill>
            <a:prstDash val="solid"/>
          </a:ln>
        </p:spPr>
      </p:sp>
      <p:sp>
        <p:nvSpPr>
          <p:cNvPr id="15" name="Shape 13"/>
          <p:cNvSpPr/>
          <p:nvPr/>
        </p:nvSpPr>
        <p:spPr>
          <a:xfrm>
            <a:off x="1051560" y="4754880"/>
            <a:ext cx="502920" cy="502920"/>
          </a:xfrm>
          <a:prstGeom prst="roundRect">
            <a:avLst>
              <a:gd name="adj" fmla="val 10909"/>
            </a:avLst>
          </a:prstGeom>
          <a:solidFill>
            <a:schemeClr val="accent3"/>
          </a:solidFill>
          <a:ln w="6350">
            <a:solidFill>
              <a:srgbClr val="1C7293"/>
            </a:solidFill>
            <a:prstDash val="solid"/>
          </a:ln>
        </p:spPr>
      </p:sp>
      <p:sp>
        <p:nvSpPr>
          <p:cNvPr id="16" name="Shape 14"/>
          <p:cNvSpPr/>
          <p:nvPr/>
        </p:nvSpPr>
        <p:spPr>
          <a:xfrm>
            <a:off x="1051560" y="5330952"/>
            <a:ext cx="502920" cy="502920"/>
          </a:xfrm>
          <a:prstGeom prst="roundRect">
            <a:avLst>
              <a:gd name="adj" fmla="val 10909"/>
            </a:avLst>
          </a:prstGeom>
          <a:solidFill>
            <a:schemeClr val="accent3"/>
          </a:solidFill>
          <a:ln w="6350">
            <a:solidFill>
              <a:srgbClr val="1C7293"/>
            </a:solidFill>
            <a:prstDash val="solid"/>
          </a:ln>
        </p:spPr>
      </p:sp>
      <p:sp>
        <p:nvSpPr>
          <p:cNvPr id="17" name="Shape 15"/>
          <p:cNvSpPr/>
          <p:nvPr/>
        </p:nvSpPr>
        <p:spPr>
          <a:xfrm>
            <a:off x="1627632" y="1874520"/>
            <a:ext cx="502920" cy="502920"/>
          </a:xfrm>
          <a:prstGeom prst="roundRect">
            <a:avLst>
              <a:gd name="adj" fmla="val 10909"/>
            </a:avLst>
          </a:prstGeom>
          <a:solidFill>
            <a:schemeClr val="accent3"/>
          </a:solidFill>
          <a:ln w="6350">
            <a:solidFill>
              <a:srgbClr val="1C7293"/>
            </a:solidFill>
            <a:prstDash val="solid"/>
          </a:ln>
        </p:spPr>
      </p:sp>
      <p:sp>
        <p:nvSpPr>
          <p:cNvPr id="18" name="Shape 16"/>
          <p:cNvSpPr/>
          <p:nvPr/>
        </p:nvSpPr>
        <p:spPr>
          <a:xfrm>
            <a:off x="1627632" y="2450592"/>
            <a:ext cx="502920" cy="502920"/>
          </a:xfrm>
          <a:prstGeom prst="roundRect">
            <a:avLst>
              <a:gd name="adj" fmla="val 10909"/>
            </a:avLst>
          </a:prstGeom>
          <a:solidFill>
            <a:schemeClr val="accent2"/>
          </a:solidFill>
          <a:ln w="6350">
            <a:solidFill>
              <a:srgbClr val="E8772E"/>
            </a:solidFill>
            <a:prstDash val="solid"/>
          </a:ln>
        </p:spPr>
      </p:sp>
      <p:sp>
        <p:nvSpPr>
          <p:cNvPr id="19" name="Shape 17"/>
          <p:cNvSpPr/>
          <p:nvPr/>
        </p:nvSpPr>
        <p:spPr>
          <a:xfrm>
            <a:off x="1627632" y="3026664"/>
            <a:ext cx="502920" cy="502920"/>
          </a:xfrm>
          <a:prstGeom prst="roundRect">
            <a:avLst>
              <a:gd name="adj" fmla="val 10909"/>
            </a:avLst>
          </a:prstGeom>
          <a:solidFill>
            <a:schemeClr val="accent3"/>
          </a:solidFill>
          <a:ln w="38100">
            <a:solidFill>
              <a:srgbClr val="0A2A38"/>
            </a:solidFill>
            <a:prstDash val="solid"/>
          </a:ln>
        </p:spPr>
      </p:sp>
      <p:sp>
        <p:nvSpPr>
          <p:cNvPr id="20" name="Shape 18"/>
          <p:cNvSpPr/>
          <p:nvPr/>
        </p:nvSpPr>
        <p:spPr>
          <a:xfrm>
            <a:off x="1627632" y="3602736"/>
            <a:ext cx="502920" cy="502920"/>
          </a:xfrm>
          <a:prstGeom prst="roundRect">
            <a:avLst>
              <a:gd name="adj" fmla="val 10909"/>
            </a:avLst>
          </a:prstGeom>
          <a:solidFill>
            <a:schemeClr val="accent3"/>
          </a:solidFill>
          <a:ln w="6350">
            <a:solidFill>
              <a:srgbClr val="1C7293"/>
            </a:solidFill>
            <a:prstDash val="solid"/>
          </a:ln>
        </p:spPr>
      </p:sp>
      <p:sp>
        <p:nvSpPr>
          <p:cNvPr id="21" name="Shape 19"/>
          <p:cNvSpPr/>
          <p:nvPr/>
        </p:nvSpPr>
        <p:spPr>
          <a:xfrm>
            <a:off x="1627632" y="4178808"/>
            <a:ext cx="502920" cy="502920"/>
          </a:xfrm>
          <a:prstGeom prst="roundRect">
            <a:avLst>
              <a:gd name="adj" fmla="val 10909"/>
            </a:avLst>
          </a:prstGeom>
          <a:solidFill>
            <a:schemeClr val="accent3"/>
          </a:solidFill>
          <a:ln w="6350">
            <a:solidFill>
              <a:srgbClr val="1C7293"/>
            </a:solidFill>
            <a:prstDash val="solid"/>
          </a:ln>
        </p:spPr>
      </p:sp>
      <p:sp>
        <p:nvSpPr>
          <p:cNvPr id="22" name="Shape 20"/>
          <p:cNvSpPr/>
          <p:nvPr/>
        </p:nvSpPr>
        <p:spPr>
          <a:xfrm>
            <a:off x="1627632" y="4754880"/>
            <a:ext cx="502920" cy="502920"/>
          </a:xfrm>
          <a:prstGeom prst="roundRect">
            <a:avLst>
              <a:gd name="adj" fmla="val 10909"/>
            </a:avLst>
          </a:prstGeom>
          <a:solidFill>
            <a:schemeClr val="accent3"/>
          </a:solidFill>
          <a:ln w="6350">
            <a:solidFill>
              <a:srgbClr val="1C7293"/>
            </a:solidFill>
            <a:prstDash val="solid"/>
          </a:ln>
        </p:spPr>
      </p:sp>
      <p:sp>
        <p:nvSpPr>
          <p:cNvPr id="23" name="Shape 21"/>
          <p:cNvSpPr/>
          <p:nvPr/>
        </p:nvSpPr>
        <p:spPr>
          <a:xfrm>
            <a:off x="1627632" y="5330952"/>
            <a:ext cx="502920" cy="502920"/>
          </a:xfrm>
          <a:prstGeom prst="roundRect">
            <a:avLst>
              <a:gd name="adj" fmla="val 10909"/>
            </a:avLst>
          </a:prstGeom>
          <a:solidFill>
            <a:schemeClr val="accent3"/>
          </a:solidFill>
          <a:ln w="6350">
            <a:solidFill>
              <a:srgbClr val="1C7293"/>
            </a:solidFill>
            <a:prstDash val="solid"/>
          </a:ln>
        </p:spPr>
      </p:sp>
      <p:sp>
        <p:nvSpPr>
          <p:cNvPr id="24" name="Shape 22"/>
          <p:cNvSpPr/>
          <p:nvPr/>
        </p:nvSpPr>
        <p:spPr>
          <a:xfrm>
            <a:off x="2203704" y="1874520"/>
            <a:ext cx="502920" cy="502920"/>
          </a:xfrm>
          <a:prstGeom prst="roundRect">
            <a:avLst>
              <a:gd name="adj" fmla="val 10909"/>
            </a:avLst>
          </a:prstGeom>
          <a:solidFill>
            <a:schemeClr val="accent3"/>
          </a:solidFill>
          <a:ln w="6350">
            <a:solidFill>
              <a:srgbClr val="1C7293"/>
            </a:solidFill>
            <a:prstDash val="solid"/>
          </a:ln>
        </p:spPr>
      </p:sp>
      <p:sp>
        <p:nvSpPr>
          <p:cNvPr id="25" name="Shape 23"/>
          <p:cNvSpPr/>
          <p:nvPr/>
        </p:nvSpPr>
        <p:spPr>
          <a:xfrm>
            <a:off x="2203704" y="2450592"/>
            <a:ext cx="502920" cy="502920"/>
          </a:xfrm>
          <a:prstGeom prst="roundRect">
            <a:avLst>
              <a:gd name="adj" fmla="val 10909"/>
            </a:avLst>
          </a:prstGeom>
          <a:solidFill>
            <a:schemeClr val="accent3"/>
          </a:solidFill>
          <a:ln w="6350">
            <a:solidFill>
              <a:srgbClr val="1C7293"/>
            </a:solidFill>
            <a:prstDash val="solid"/>
          </a:ln>
        </p:spPr>
      </p:sp>
      <p:sp>
        <p:nvSpPr>
          <p:cNvPr id="26" name="Shape 24"/>
          <p:cNvSpPr/>
          <p:nvPr/>
        </p:nvSpPr>
        <p:spPr>
          <a:xfrm>
            <a:off x="2203704" y="3026664"/>
            <a:ext cx="502920" cy="502920"/>
          </a:xfrm>
          <a:prstGeom prst="roundRect">
            <a:avLst>
              <a:gd name="adj" fmla="val 10909"/>
            </a:avLst>
          </a:prstGeom>
          <a:solidFill>
            <a:schemeClr val="accent3"/>
          </a:solidFill>
          <a:ln w="38100">
            <a:solidFill>
              <a:srgbClr val="0A2A38"/>
            </a:solidFill>
            <a:prstDash val="solid"/>
          </a:ln>
        </p:spPr>
      </p:sp>
      <p:sp>
        <p:nvSpPr>
          <p:cNvPr id="27" name="Shape 25"/>
          <p:cNvSpPr/>
          <p:nvPr/>
        </p:nvSpPr>
        <p:spPr>
          <a:xfrm>
            <a:off x="2203704" y="3602736"/>
            <a:ext cx="502920" cy="502920"/>
          </a:xfrm>
          <a:prstGeom prst="roundRect">
            <a:avLst>
              <a:gd name="adj" fmla="val 10909"/>
            </a:avLst>
          </a:prstGeom>
          <a:solidFill>
            <a:schemeClr val="accent3"/>
          </a:solidFill>
          <a:ln w="6350">
            <a:solidFill>
              <a:srgbClr val="1C7293"/>
            </a:solidFill>
            <a:prstDash val="solid"/>
          </a:ln>
        </p:spPr>
      </p:sp>
      <p:sp>
        <p:nvSpPr>
          <p:cNvPr id="28" name="Shape 26"/>
          <p:cNvSpPr/>
          <p:nvPr/>
        </p:nvSpPr>
        <p:spPr>
          <a:xfrm>
            <a:off x="2203704" y="4178808"/>
            <a:ext cx="502920" cy="502920"/>
          </a:xfrm>
          <a:prstGeom prst="roundRect">
            <a:avLst>
              <a:gd name="adj" fmla="val 10909"/>
            </a:avLst>
          </a:prstGeom>
          <a:solidFill>
            <a:schemeClr val="accent3"/>
          </a:solidFill>
          <a:ln w="6350">
            <a:solidFill>
              <a:srgbClr val="1C7293"/>
            </a:solidFill>
            <a:prstDash val="solid"/>
          </a:ln>
        </p:spPr>
      </p:sp>
      <p:sp>
        <p:nvSpPr>
          <p:cNvPr id="29" name="Shape 27"/>
          <p:cNvSpPr/>
          <p:nvPr/>
        </p:nvSpPr>
        <p:spPr>
          <a:xfrm>
            <a:off x="2203704" y="4754880"/>
            <a:ext cx="502920" cy="502920"/>
          </a:xfrm>
          <a:prstGeom prst="roundRect">
            <a:avLst>
              <a:gd name="adj" fmla="val 10909"/>
            </a:avLst>
          </a:prstGeom>
          <a:solidFill>
            <a:schemeClr val="accent3"/>
          </a:solidFill>
          <a:ln w="6350">
            <a:solidFill>
              <a:srgbClr val="1C7293"/>
            </a:solidFill>
            <a:prstDash val="solid"/>
          </a:ln>
        </p:spPr>
      </p:sp>
      <p:sp>
        <p:nvSpPr>
          <p:cNvPr id="30" name="Shape 28"/>
          <p:cNvSpPr/>
          <p:nvPr/>
        </p:nvSpPr>
        <p:spPr>
          <a:xfrm>
            <a:off x="2203704" y="5330952"/>
            <a:ext cx="502920" cy="502920"/>
          </a:xfrm>
          <a:prstGeom prst="roundRect">
            <a:avLst>
              <a:gd name="adj" fmla="val 10909"/>
            </a:avLst>
          </a:prstGeom>
          <a:solidFill>
            <a:schemeClr val="accent3"/>
          </a:solidFill>
          <a:ln w="6350">
            <a:solidFill>
              <a:srgbClr val="1C7293"/>
            </a:solidFill>
            <a:prstDash val="solid"/>
          </a:ln>
        </p:spPr>
      </p:sp>
      <p:sp>
        <p:nvSpPr>
          <p:cNvPr id="31" name="Shape 29"/>
          <p:cNvSpPr/>
          <p:nvPr/>
        </p:nvSpPr>
        <p:spPr>
          <a:xfrm>
            <a:off x="2779776" y="1874520"/>
            <a:ext cx="502920" cy="502920"/>
          </a:xfrm>
          <a:prstGeom prst="roundRect">
            <a:avLst>
              <a:gd name="adj" fmla="val 10909"/>
            </a:avLst>
          </a:prstGeom>
          <a:solidFill>
            <a:schemeClr val="accent3"/>
          </a:solidFill>
          <a:ln w="6350">
            <a:solidFill>
              <a:srgbClr val="1C7293"/>
            </a:solidFill>
            <a:prstDash val="solid"/>
          </a:ln>
        </p:spPr>
      </p:sp>
      <p:sp>
        <p:nvSpPr>
          <p:cNvPr id="32" name="Shape 30"/>
          <p:cNvSpPr/>
          <p:nvPr/>
        </p:nvSpPr>
        <p:spPr>
          <a:xfrm>
            <a:off x="2779776" y="2450592"/>
            <a:ext cx="502920" cy="502920"/>
          </a:xfrm>
          <a:prstGeom prst="roundRect">
            <a:avLst>
              <a:gd name="adj" fmla="val 10909"/>
            </a:avLst>
          </a:prstGeom>
          <a:solidFill>
            <a:schemeClr val="accent2"/>
          </a:solidFill>
          <a:ln w="6350">
            <a:solidFill>
              <a:srgbClr val="E8772E"/>
            </a:solidFill>
            <a:prstDash val="solid"/>
          </a:ln>
        </p:spPr>
      </p:sp>
      <p:sp>
        <p:nvSpPr>
          <p:cNvPr id="33" name="Shape 31"/>
          <p:cNvSpPr/>
          <p:nvPr/>
        </p:nvSpPr>
        <p:spPr>
          <a:xfrm>
            <a:off x="2779776" y="3026664"/>
            <a:ext cx="502920" cy="502920"/>
          </a:xfrm>
          <a:prstGeom prst="roundRect">
            <a:avLst>
              <a:gd name="adj" fmla="val 10909"/>
            </a:avLst>
          </a:prstGeom>
          <a:solidFill>
            <a:schemeClr val="accent3"/>
          </a:solidFill>
          <a:ln w="6350">
            <a:solidFill>
              <a:srgbClr val="1C7293"/>
            </a:solidFill>
            <a:prstDash val="solid"/>
          </a:ln>
        </p:spPr>
      </p:sp>
      <p:sp>
        <p:nvSpPr>
          <p:cNvPr id="34" name="Shape 32"/>
          <p:cNvSpPr/>
          <p:nvPr/>
        </p:nvSpPr>
        <p:spPr>
          <a:xfrm>
            <a:off x="2779776" y="3602736"/>
            <a:ext cx="502920" cy="502920"/>
          </a:xfrm>
          <a:prstGeom prst="roundRect">
            <a:avLst>
              <a:gd name="adj" fmla="val 10909"/>
            </a:avLst>
          </a:prstGeom>
          <a:solidFill>
            <a:schemeClr val="accent3"/>
          </a:solidFill>
          <a:ln w="6350">
            <a:solidFill>
              <a:srgbClr val="1C7293"/>
            </a:solidFill>
            <a:prstDash val="solid"/>
          </a:ln>
        </p:spPr>
      </p:sp>
      <p:sp>
        <p:nvSpPr>
          <p:cNvPr id="35" name="Shape 33"/>
          <p:cNvSpPr/>
          <p:nvPr/>
        </p:nvSpPr>
        <p:spPr>
          <a:xfrm>
            <a:off x="2779776" y="4178808"/>
            <a:ext cx="502920" cy="502920"/>
          </a:xfrm>
          <a:prstGeom prst="roundRect">
            <a:avLst>
              <a:gd name="adj" fmla="val 10909"/>
            </a:avLst>
          </a:prstGeom>
          <a:solidFill>
            <a:schemeClr val="accent3"/>
          </a:solidFill>
          <a:ln w="6350">
            <a:solidFill>
              <a:srgbClr val="1C7293"/>
            </a:solidFill>
            <a:prstDash val="solid"/>
          </a:ln>
        </p:spPr>
      </p:sp>
      <p:sp>
        <p:nvSpPr>
          <p:cNvPr id="36" name="Shape 34"/>
          <p:cNvSpPr/>
          <p:nvPr/>
        </p:nvSpPr>
        <p:spPr>
          <a:xfrm>
            <a:off x="2779776" y="4754880"/>
            <a:ext cx="502920" cy="502920"/>
          </a:xfrm>
          <a:prstGeom prst="roundRect">
            <a:avLst>
              <a:gd name="adj" fmla="val 10909"/>
            </a:avLst>
          </a:prstGeom>
          <a:solidFill>
            <a:schemeClr val="accent3"/>
          </a:solidFill>
          <a:ln w="6350">
            <a:solidFill>
              <a:srgbClr val="1C7293"/>
            </a:solidFill>
            <a:prstDash val="solid"/>
          </a:ln>
        </p:spPr>
      </p:sp>
      <p:sp>
        <p:nvSpPr>
          <p:cNvPr id="37" name="Shape 35"/>
          <p:cNvSpPr/>
          <p:nvPr/>
        </p:nvSpPr>
        <p:spPr>
          <a:xfrm>
            <a:off x="2779776" y="5330952"/>
            <a:ext cx="502920" cy="502920"/>
          </a:xfrm>
          <a:prstGeom prst="roundRect">
            <a:avLst>
              <a:gd name="adj" fmla="val 10909"/>
            </a:avLst>
          </a:prstGeom>
          <a:solidFill>
            <a:schemeClr val="accent3"/>
          </a:solidFill>
          <a:ln w="6350">
            <a:solidFill>
              <a:srgbClr val="1C7293"/>
            </a:solidFill>
            <a:prstDash val="solid"/>
          </a:ln>
        </p:spPr>
      </p:sp>
      <p:sp>
        <p:nvSpPr>
          <p:cNvPr id="38" name="Shape 36"/>
          <p:cNvSpPr/>
          <p:nvPr/>
        </p:nvSpPr>
        <p:spPr>
          <a:xfrm>
            <a:off x="3355848" y="1874520"/>
            <a:ext cx="502920" cy="502920"/>
          </a:xfrm>
          <a:prstGeom prst="roundRect">
            <a:avLst>
              <a:gd name="adj" fmla="val 10909"/>
            </a:avLst>
          </a:prstGeom>
          <a:solidFill>
            <a:schemeClr val="accent3"/>
          </a:solidFill>
          <a:ln w="6350">
            <a:solidFill>
              <a:srgbClr val="1C7293"/>
            </a:solidFill>
            <a:prstDash val="solid"/>
          </a:ln>
        </p:spPr>
      </p:sp>
      <p:sp>
        <p:nvSpPr>
          <p:cNvPr id="39" name="Shape 37"/>
          <p:cNvSpPr/>
          <p:nvPr/>
        </p:nvSpPr>
        <p:spPr>
          <a:xfrm>
            <a:off x="3355848" y="2450592"/>
            <a:ext cx="502920" cy="502920"/>
          </a:xfrm>
          <a:prstGeom prst="roundRect">
            <a:avLst>
              <a:gd name="adj" fmla="val 10909"/>
            </a:avLst>
          </a:prstGeom>
          <a:solidFill>
            <a:schemeClr val="accent3"/>
          </a:solidFill>
          <a:ln w="6350">
            <a:solidFill>
              <a:srgbClr val="1C7293"/>
            </a:solidFill>
            <a:prstDash val="solid"/>
          </a:ln>
        </p:spPr>
      </p:sp>
      <p:sp>
        <p:nvSpPr>
          <p:cNvPr id="40" name="Shape 38"/>
          <p:cNvSpPr/>
          <p:nvPr/>
        </p:nvSpPr>
        <p:spPr>
          <a:xfrm>
            <a:off x="3355848" y="3026664"/>
            <a:ext cx="502920" cy="502920"/>
          </a:xfrm>
          <a:prstGeom prst="roundRect">
            <a:avLst>
              <a:gd name="adj" fmla="val 10909"/>
            </a:avLst>
          </a:prstGeom>
          <a:solidFill>
            <a:schemeClr val="accent3"/>
          </a:solidFill>
          <a:ln w="38100">
            <a:solidFill>
              <a:srgbClr val="0A2A38"/>
            </a:solidFill>
            <a:prstDash val="solid"/>
          </a:ln>
        </p:spPr>
      </p:sp>
      <p:sp>
        <p:nvSpPr>
          <p:cNvPr id="41" name="Shape 39"/>
          <p:cNvSpPr/>
          <p:nvPr/>
        </p:nvSpPr>
        <p:spPr>
          <a:xfrm>
            <a:off x="3355848" y="3602736"/>
            <a:ext cx="502920" cy="502920"/>
          </a:xfrm>
          <a:prstGeom prst="roundRect">
            <a:avLst>
              <a:gd name="adj" fmla="val 10909"/>
            </a:avLst>
          </a:prstGeom>
          <a:solidFill>
            <a:schemeClr val="accent3"/>
          </a:solidFill>
          <a:ln w="6350">
            <a:solidFill>
              <a:srgbClr val="1C7293"/>
            </a:solidFill>
            <a:prstDash val="solid"/>
          </a:ln>
        </p:spPr>
      </p:sp>
      <p:sp>
        <p:nvSpPr>
          <p:cNvPr id="42" name="Shape 40"/>
          <p:cNvSpPr/>
          <p:nvPr/>
        </p:nvSpPr>
        <p:spPr>
          <a:xfrm>
            <a:off x="3355848" y="4178808"/>
            <a:ext cx="502920" cy="502920"/>
          </a:xfrm>
          <a:prstGeom prst="roundRect">
            <a:avLst>
              <a:gd name="adj" fmla="val 10909"/>
            </a:avLst>
          </a:prstGeom>
          <a:solidFill>
            <a:schemeClr val="accent3"/>
          </a:solidFill>
          <a:ln w="6350">
            <a:solidFill>
              <a:srgbClr val="1C7293"/>
            </a:solidFill>
            <a:prstDash val="solid"/>
          </a:ln>
        </p:spPr>
      </p:sp>
      <p:sp>
        <p:nvSpPr>
          <p:cNvPr id="43" name="Shape 41"/>
          <p:cNvSpPr/>
          <p:nvPr/>
        </p:nvSpPr>
        <p:spPr>
          <a:xfrm>
            <a:off x="3355848" y="4754880"/>
            <a:ext cx="502920" cy="502920"/>
          </a:xfrm>
          <a:prstGeom prst="roundRect">
            <a:avLst>
              <a:gd name="adj" fmla="val 10909"/>
            </a:avLst>
          </a:prstGeom>
          <a:solidFill>
            <a:schemeClr val="accent3"/>
          </a:solidFill>
          <a:ln w="6350">
            <a:solidFill>
              <a:srgbClr val="1C7293"/>
            </a:solidFill>
            <a:prstDash val="solid"/>
          </a:ln>
        </p:spPr>
      </p:sp>
      <p:sp>
        <p:nvSpPr>
          <p:cNvPr id="44" name="Shape 42"/>
          <p:cNvSpPr/>
          <p:nvPr/>
        </p:nvSpPr>
        <p:spPr>
          <a:xfrm>
            <a:off x="3355848" y="5330952"/>
            <a:ext cx="502920" cy="502920"/>
          </a:xfrm>
          <a:prstGeom prst="roundRect">
            <a:avLst>
              <a:gd name="adj" fmla="val 10909"/>
            </a:avLst>
          </a:prstGeom>
          <a:solidFill>
            <a:schemeClr val="accent3"/>
          </a:solidFill>
          <a:ln w="6350">
            <a:solidFill>
              <a:srgbClr val="1C7293"/>
            </a:solidFill>
            <a:prstDash val="solid"/>
          </a:ln>
        </p:spPr>
      </p:sp>
      <p:sp>
        <p:nvSpPr>
          <p:cNvPr id="45" name="Shape 43"/>
          <p:cNvSpPr/>
          <p:nvPr/>
        </p:nvSpPr>
        <p:spPr>
          <a:xfrm>
            <a:off x="3931920" y="1874520"/>
            <a:ext cx="502920" cy="502920"/>
          </a:xfrm>
          <a:prstGeom prst="roundRect">
            <a:avLst>
              <a:gd name="adj" fmla="val 10909"/>
            </a:avLst>
          </a:prstGeom>
          <a:solidFill>
            <a:schemeClr val="accent3"/>
          </a:solidFill>
          <a:ln w="6350">
            <a:solidFill>
              <a:srgbClr val="1C7293"/>
            </a:solidFill>
            <a:prstDash val="solid"/>
          </a:ln>
        </p:spPr>
      </p:sp>
      <p:sp>
        <p:nvSpPr>
          <p:cNvPr id="46" name="Shape 44"/>
          <p:cNvSpPr/>
          <p:nvPr/>
        </p:nvSpPr>
        <p:spPr>
          <a:xfrm>
            <a:off x="3931920" y="2450592"/>
            <a:ext cx="502920" cy="502920"/>
          </a:xfrm>
          <a:prstGeom prst="roundRect">
            <a:avLst>
              <a:gd name="adj" fmla="val 10909"/>
            </a:avLst>
          </a:prstGeom>
          <a:solidFill>
            <a:schemeClr val="accent3"/>
          </a:solidFill>
          <a:ln w="38100">
            <a:solidFill>
              <a:srgbClr val="0A2A38"/>
            </a:solidFill>
            <a:prstDash val="solid"/>
          </a:ln>
        </p:spPr>
      </p:sp>
      <p:sp>
        <p:nvSpPr>
          <p:cNvPr id="47" name="Shape 45"/>
          <p:cNvSpPr/>
          <p:nvPr/>
        </p:nvSpPr>
        <p:spPr>
          <a:xfrm>
            <a:off x="3931920" y="3026664"/>
            <a:ext cx="502920" cy="502920"/>
          </a:xfrm>
          <a:prstGeom prst="roundRect">
            <a:avLst>
              <a:gd name="adj" fmla="val 10909"/>
            </a:avLst>
          </a:prstGeom>
          <a:solidFill>
            <a:schemeClr val="accent3"/>
          </a:solidFill>
          <a:ln w="6350">
            <a:solidFill>
              <a:srgbClr val="1C7293"/>
            </a:solidFill>
            <a:prstDash val="solid"/>
          </a:ln>
        </p:spPr>
      </p:sp>
      <p:sp>
        <p:nvSpPr>
          <p:cNvPr id="48" name="Shape 46"/>
          <p:cNvSpPr/>
          <p:nvPr/>
        </p:nvSpPr>
        <p:spPr>
          <a:xfrm>
            <a:off x="3931920" y="3602736"/>
            <a:ext cx="502920" cy="502920"/>
          </a:xfrm>
          <a:prstGeom prst="roundRect">
            <a:avLst>
              <a:gd name="adj" fmla="val 10909"/>
            </a:avLst>
          </a:prstGeom>
          <a:solidFill>
            <a:schemeClr val="accent3"/>
          </a:solidFill>
          <a:ln w="6350">
            <a:solidFill>
              <a:srgbClr val="1C7293"/>
            </a:solidFill>
            <a:prstDash val="solid"/>
          </a:ln>
        </p:spPr>
      </p:sp>
      <p:sp>
        <p:nvSpPr>
          <p:cNvPr id="49" name="Shape 47"/>
          <p:cNvSpPr/>
          <p:nvPr/>
        </p:nvSpPr>
        <p:spPr>
          <a:xfrm>
            <a:off x="3931920" y="4178808"/>
            <a:ext cx="502920" cy="502920"/>
          </a:xfrm>
          <a:prstGeom prst="roundRect">
            <a:avLst>
              <a:gd name="adj" fmla="val 10909"/>
            </a:avLst>
          </a:prstGeom>
          <a:solidFill>
            <a:schemeClr val="accent3"/>
          </a:solidFill>
          <a:ln w="6350">
            <a:solidFill>
              <a:srgbClr val="1C7293"/>
            </a:solidFill>
            <a:prstDash val="solid"/>
          </a:ln>
        </p:spPr>
      </p:sp>
      <p:sp>
        <p:nvSpPr>
          <p:cNvPr id="50" name="Shape 48"/>
          <p:cNvSpPr/>
          <p:nvPr/>
        </p:nvSpPr>
        <p:spPr>
          <a:xfrm>
            <a:off x="3931920" y="4754880"/>
            <a:ext cx="502920" cy="502920"/>
          </a:xfrm>
          <a:prstGeom prst="roundRect">
            <a:avLst>
              <a:gd name="adj" fmla="val 10909"/>
            </a:avLst>
          </a:prstGeom>
          <a:solidFill>
            <a:schemeClr val="accent3"/>
          </a:solidFill>
          <a:ln w="6350">
            <a:solidFill>
              <a:srgbClr val="1C7293"/>
            </a:solidFill>
            <a:prstDash val="solid"/>
          </a:ln>
        </p:spPr>
      </p:sp>
      <p:sp>
        <p:nvSpPr>
          <p:cNvPr id="51" name="Shape 49"/>
          <p:cNvSpPr/>
          <p:nvPr/>
        </p:nvSpPr>
        <p:spPr>
          <a:xfrm>
            <a:off x="3931920" y="5330952"/>
            <a:ext cx="502920" cy="502920"/>
          </a:xfrm>
          <a:prstGeom prst="roundRect">
            <a:avLst>
              <a:gd name="adj" fmla="val 10909"/>
            </a:avLst>
          </a:prstGeom>
          <a:solidFill>
            <a:schemeClr val="accent3"/>
          </a:solidFill>
          <a:ln w="6350">
            <a:solidFill>
              <a:srgbClr val="1C7293"/>
            </a:solidFill>
            <a:prstDash val="solid"/>
          </a:ln>
        </p:spPr>
      </p:sp>
      <p:sp>
        <p:nvSpPr>
          <p:cNvPr id="52" name="Shape 50"/>
          <p:cNvSpPr/>
          <p:nvPr/>
        </p:nvSpPr>
        <p:spPr>
          <a:xfrm>
            <a:off x="4507992" y="1874520"/>
            <a:ext cx="502920" cy="502920"/>
          </a:xfrm>
          <a:prstGeom prst="roundRect">
            <a:avLst>
              <a:gd name="adj" fmla="val 10909"/>
            </a:avLst>
          </a:prstGeom>
          <a:solidFill>
            <a:schemeClr val="accent3"/>
          </a:solidFill>
          <a:ln w="6350">
            <a:solidFill>
              <a:srgbClr val="1C7293"/>
            </a:solidFill>
            <a:prstDash val="solid"/>
          </a:ln>
        </p:spPr>
      </p:sp>
      <p:sp>
        <p:nvSpPr>
          <p:cNvPr id="53" name="Shape 51"/>
          <p:cNvSpPr/>
          <p:nvPr/>
        </p:nvSpPr>
        <p:spPr>
          <a:xfrm>
            <a:off x="4507992" y="2450592"/>
            <a:ext cx="502920" cy="502920"/>
          </a:xfrm>
          <a:prstGeom prst="roundRect">
            <a:avLst>
              <a:gd name="adj" fmla="val 10909"/>
            </a:avLst>
          </a:prstGeom>
          <a:solidFill>
            <a:schemeClr val="accent3"/>
          </a:solidFill>
          <a:ln w="6350">
            <a:solidFill>
              <a:srgbClr val="1C7293"/>
            </a:solidFill>
            <a:prstDash val="solid"/>
          </a:ln>
        </p:spPr>
      </p:sp>
      <p:sp>
        <p:nvSpPr>
          <p:cNvPr id="54" name="Shape 52"/>
          <p:cNvSpPr/>
          <p:nvPr/>
        </p:nvSpPr>
        <p:spPr>
          <a:xfrm>
            <a:off x="4507992" y="3026664"/>
            <a:ext cx="502920" cy="502920"/>
          </a:xfrm>
          <a:prstGeom prst="roundRect">
            <a:avLst>
              <a:gd name="adj" fmla="val 10909"/>
            </a:avLst>
          </a:prstGeom>
          <a:solidFill>
            <a:schemeClr val="accent3"/>
          </a:solidFill>
          <a:ln w="6350">
            <a:solidFill>
              <a:srgbClr val="1C7293"/>
            </a:solidFill>
            <a:prstDash val="solid"/>
          </a:ln>
        </p:spPr>
      </p:sp>
      <p:sp>
        <p:nvSpPr>
          <p:cNvPr id="55" name="Shape 53"/>
          <p:cNvSpPr/>
          <p:nvPr/>
        </p:nvSpPr>
        <p:spPr>
          <a:xfrm>
            <a:off x="4507992" y="3602736"/>
            <a:ext cx="502920" cy="502920"/>
          </a:xfrm>
          <a:prstGeom prst="roundRect">
            <a:avLst>
              <a:gd name="adj" fmla="val 10909"/>
            </a:avLst>
          </a:prstGeom>
          <a:solidFill>
            <a:schemeClr val="accent3"/>
          </a:solidFill>
          <a:ln w="6350">
            <a:solidFill>
              <a:srgbClr val="1C7293"/>
            </a:solidFill>
            <a:prstDash val="solid"/>
          </a:ln>
        </p:spPr>
      </p:sp>
      <p:sp>
        <p:nvSpPr>
          <p:cNvPr id="56" name="Shape 54"/>
          <p:cNvSpPr/>
          <p:nvPr/>
        </p:nvSpPr>
        <p:spPr>
          <a:xfrm>
            <a:off x="4507992" y="4178808"/>
            <a:ext cx="502920" cy="502920"/>
          </a:xfrm>
          <a:prstGeom prst="roundRect">
            <a:avLst>
              <a:gd name="adj" fmla="val 10909"/>
            </a:avLst>
          </a:prstGeom>
          <a:solidFill>
            <a:schemeClr val="accent3"/>
          </a:solidFill>
          <a:ln w="6350">
            <a:solidFill>
              <a:srgbClr val="1C7293"/>
            </a:solidFill>
            <a:prstDash val="solid"/>
          </a:ln>
        </p:spPr>
      </p:sp>
      <p:sp>
        <p:nvSpPr>
          <p:cNvPr id="57" name="Shape 55"/>
          <p:cNvSpPr/>
          <p:nvPr/>
        </p:nvSpPr>
        <p:spPr>
          <a:xfrm>
            <a:off x="4507992" y="4754880"/>
            <a:ext cx="502920" cy="502920"/>
          </a:xfrm>
          <a:prstGeom prst="roundRect">
            <a:avLst>
              <a:gd name="adj" fmla="val 10909"/>
            </a:avLst>
          </a:prstGeom>
          <a:solidFill>
            <a:schemeClr val="accent3"/>
          </a:solidFill>
          <a:ln w="38100">
            <a:solidFill>
              <a:srgbClr val="0A2A38"/>
            </a:solidFill>
            <a:prstDash val="solid"/>
          </a:ln>
        </p:spPr>
      </p:sp>
      <p:sp>
        <p:nvSpPr>
          <p:cNvPr id="58" name="Shape 56"/>
          <p:cNvSpPr/>
          <p:nvPr/>
        </p:nvSpPr>
        <p:spPr>
          <a:xfrm>
            <a:off x="4507992" y="5330952"/>
            <a:ext cx="502920" cy="502920"/>
          </a:xfrm>
          <a:prstGeom prst="roundRect">
            <a:avLst>
              <a:gd name="adj" fmla="val 10909"/>
            </a:avLst>
          </a:prstGeom>
          <a:solidFill>
            <a:schemeClr val="accent3"/>
          </a:solidFill>
          <a:ln w="6350">
            <a:solidFill>
              <a:srgbClr val="1C7293"/>
            </a:solidFill>
            <a:prstDash val="solid"/>
          </a:ln>
        </p:spPr>
      </p:sp>
      <p:sp>
        <p:nvSpPr>
          <p:cNvPr id="59" name="Shape 57"/>
          <p:cNvSpPr/>
          <p:nvPr/>
        </p:nvSpPr>
        <p:spPr>
          <a:xfrm>
            <a:off x="5084064" y="1874520"/>
            <a:ext cx="502920" cy="502920"/>
          </a:xfrm>
          <a:prstGeom prst="roundRect">
            <a:avLst>
              <a:gd name="adj" fmla="val 10909"/>
            </a:avLst>
          </a:prstGeom>
          <a:solidFill>
            <a:schemeClr val="accent3"/>
          </a:solidFill>
          <a:ln w="6350">
            <a:solidFill>
              <a:srgbClr val="1C7293"/>
            </a:solidFill>
            <a:prstDash val="solid"/>
          </a:ln>
        </p:spPr>
      </p:sp>
      <p:sp>
        <p:nvSpPr>
          <p:cNvPr id="60" name="Shape 58"/>
          <p:cNvSpPr/>
          <p:nvPr/>
        </p:nvSpPr>
        <p:spPr>
          <a:xfrm>
            <a:off x="5084064" y="2450592"/>
            <a:ext cx="502920" cy="502920"/>
          </a:xfrm>
          <a:prstGeom prst="roundRect">
            <a:avLst>
              <a:gd name="adj" fmla="val 10909"/>
            </a:avLst>
          </a:prstGeom>
          <a:solidFill>
            <a:schemeClr val="accent3"/>
          </a:solidFill>
          <a:ln w="6350">
            <a:solidFill>
              <a:srgbClr val="1C7293"/>
            </a:solidFill>
            <a:prstDash val="solid"/>
          </a:ln>
        </p:spPr>
      </p:sp>
      <p:sp>
        <p:nvSpPr>
          <p:cNvPr id="61" name="Shape 59"/>
          <p:cNvSpPr/>
          <p:nvPr/>
        </p:nvSpPr>
        <p:spPr>
          <a:xfrm>
            <a:off x="5084064" y="3026664"/>
            <a:ext cx="502920" cy="502920"/>
          </a:xfrm>
          <a:prstGeom prst="roundRect">
            <a:avLst>
              <a:gd name="adj" fmla="val 10909"/>
            </a:avLst>
          </a:prstGeom>
          <a:solidFill>
            <a:schemeClr val="accent3"/>
          </a:solidFill>
          <a:ln w="6350">
            <a:solidFill>
              <a:srgbClr val="1C7293"/>
            </a:solidFill>
            <a:prstDash val="solid"/>
          </a:ln>
        </p:spPr>
      </p:sp>
      <p:sp>
        <p:nvSpPr>
          <p:cNvPr id="62" name="Shape 60"/>
          <p:cNvSpPr/>
          <p:nvPr/>
        </p:nvSpPr>
        <p:spPr>
          <a:xfrm>
            <a:off x="5084064" y="3602736"/>
            <a:ext cx="502920" cy="502920"/>
          </a:xfrm>
          <a:prstGeom prst="roundRect">
            <a:avLst>
              <a:gd name="adj" fmla="val 10909"/>
            </a:avLst>
          </a:prstGeom>
          <a:solidFill>
            <a:schemeClr val="accent3"/>
          </a:solidFill>
          <a:ln w="6350">
            <a:solidFill>
              <a:srgbClr val="1C7293"/>
            </a:solidFill>
            <a:prstDash val="solid"/>
          </a:ln>
        </p:spPr>
      </p:sp>
      <p:sp>
        <p:nvSpPr>
          <p:cNvPr id="63" name="Shape 61"/>
          <p:cNvSpPr/>
          <p:nvPr/>
        </p:nvSpPr>
        <p:spPr>
          <a:xfrm>
            <a:off x="5084064" y="4178808"/>
            <a:ext cx="502920" cy="502920"/>
          </a:xfrm>
          <a:prstGeom prst="roundRect">
            <a:avLst>
              <a:gd name="adj" fmla="val 10909"/>
            </a:avLst>
          </a:prstGeom>
          <a:solidFill>
            <a:schemeClr val="accent3"/>
          </a:solidFill>
          <a:ln w="6350">
            <a:solidFill>
              <a:srgbClr val="1C7293"/>
            </a:solidFill>
            <a:prstDash val="solid"/>
          </a:ln>
        </p:spPr>
      </p:sp>
      <p:sp>
        <p:nvSpPr>
          <p:cNvPr id="64" name="Shape 62"/>
          <p:cNvSpPr/>
          <p:nvPr/>
        </p:nvSpPr>
        <p:spPr>
          <a:xfrm>
            <a:off x="5084064" y="4754880"/>
            <a:ext cx="502920" cy="502920"/>
          </a:xfrm>
          <a:prstGeom prst="roundRect">
            <a:avLst>
              <a:gd name="adj" fmla="val 10909"/>
            </a:avLst>
          </a:prstGeom>
          <a:solidFill>
            <a:schemeClr val="accent3"/>
          </a:solidFill>
          <a:ln w="38100">
            <a:solidFill>
              <a:srgbClr val="0A2A38"/>
            </a:solidFill>
            <a:prstDash val="solid"/>
          </a:ln>
        </p:spPr>
      </p:sp>
      <p:sp>
        <p:nvSpPr>
          <p:cNvPr id="65" name="Shape 63"/>
          <p:cNvSpPr/>
          <p:nvPr/>
        </p:nvSpPr>
        <p:spPr>
          <a:xfrm>
            <a:off x="5084064" y="5330952"/>
            <a:ext cx="502920" cy="502920"/>
          </a:xfrm>
          <a:prstGeom prst="roundRect">
            <a:avLst>
              <a:gd name="adj" fmla="val 10909"/>
            </a:avLst>
          </a:prstGeom>
          <a:solidFill>
            <a:schemeClr val="accent3"/>
          </a:solidFill>
          <a:ln w="6350">
            <a:solidFill>
              <a:srgbClr val="1C7293"/>
            </a:solidFill>
            <a:prstDash val="solid"/>
          </a:ln>
        </p:spPr>
      </p:sp>
      <p:sp>
        <p:nvSpPr>
          <p:cNvPr id="66" name="Text 64"/>
          <p:cNvSpPr txBox="1"/>
          <p:nvPr/>
        </p:nvSpPr>
        <p:spPr>
          <a:xfrm>
            <a:off x="548640" y="5943600"/>
            <a:ext cx="5852160" cy="228600"/>
          </a:xfrm>
          <a:prstGeom prst="rect">
            <a:avLst/>
          </a:prstGeom>
          <a:noFill/>
          <a:ln/>
        </p:spPr>
        <p:txBody>
          <a:bodyPr wrap="square" lIns="0" tIns="0" rIns="0" bIns="0" rtlCol="0" anchor="t"/>
          <a:lstStyle/>
          <a:p>
            <a:pPr indent="0" marL="0">
              <a:buNone/>
            </a:pPr>
            <a:r>
              <a:rPr lang="en-US" sz="1100" dirty="0">
                <a:solidFill>
                  <a:srgbClr val="5B7684"/>
                </a:solidFill>
              </a:rPr>
              <a:t>5 Feb to 31 Mar 2024, one square per day, columns are weeks.</a:t>
            </a:r>
            <a:endParaRPr lang="en-US" sz="1100" dirty="0"/>
          </a:p>
        </p:txBody>
      </p:sp>
      <p:sp>
        <p:nvSpPr>
          <p:cNvPr id="67" name="Text 65"/>
          <p:cNvSpPr txBox="1"/>
          <p:nvPr/>
        </p:nvSpPr>
        <p:spPr>
          <a:xfrm>
            <a:off x="548640" y="6172200"/>
            <a:ext cx="6035040" cy="228600"/>
          </a:xfrm>
          <a:prstGeom prst="rect">
            <a:avLst/>
          </a:prstGeom>
          <a:noFill/>
          <a:ln/>
        </p:spPr>
        <p:txBody>
          <a:bodyPr wrap="square" lIns="0" tIns="0" rIns="0" bIns="0" rtlCol="0" anchor="t"/>
          <a:lstStyle/>
          <a:p>
            <a:pPr indent="0" marL="0">
              <a:buNone/>
            </a:pPr>
            <a:r>
              <a:rPr lang="en-US" sz="1100" dirty="0">
                <a:solidFill>
                  <a:srgbClr val="5B7684"/>
                </a:solidFill>
              </a:rPr>
              <a:t>Teal: no incident.  Orange: real change, no fault found.  Dark outline: a fault we planted on that day, caught.</a:t>
            </a:r>
            <a:endParaRPr lang="en-US" sz="1100" dirty="0"/>
          </a:p>
        </p:txBody>
      </p:sp>
      <p:sp>
        <p:nvSpPr>
          <p:cNvPr id="68" name="Shape 66"/>
          <p:cNvSpPr/>
          <p:nvPr/>
        </p:nvSpPr>
        <p:spPr>
          <a:xfrm>
            <a:off x="6858000" y="1600200"/>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69" name="Text 67"/>
          <p:cNvSpPr txBox="1"/>
          <p:nvPr/>
        </p:nvSpPr>
        <p:spPr>
          <a:xfrm>
            <a:off x="7040880" y="1709928"/>
            <a:ext cx="43891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56 days, 0 held</a:t>
            </a:r>
            <a:endParaRPr lang="en-US" sz="1700" dirty="0"/>
          </a:p>
        </p:txBody>
      </p:sp>
      <p:sp>
        <p:nvSpPr>
          <p:cNvPr id="70" name="Text 68"/>
          <p:cNvSpPr txBox="1"/>
          <p:nvPr/>
        </p:nvSpPr>
        <p:spPr>
          <a:xfrm>
            <a:off x="7040880" y="2075688"/>
            <a:ext cx="4389120" cy="868680"/>
          </a:xfrm>
          <a:prstGeom prst="rect">
            <a:avLst/>
          </a:prstGeom>
          <a:noFill/>
          <a:ln/>
        </p:spPr>
        <p:txBody>
          <a:bodyPr wrap="square" lIns="0" tIns="0" rIns="0" bIns="0" rtlCol="0" anchor="t"/>
          <a:lstStyle/>
          <a:p>
            <a:pPr indent="0" marL="0">
              <a:buNone/>
            </a:pPr>
            <a:r>
              <a:rPr lang="en-US" sz="1200" dirty="0">
                <a:solidFill>
                  <a:schemeClr val="tx1"/>
                </a:solidFill>
              </a:rPr>
              <a:t>NYC yellow taxi trips, Jan to Mar 2024, 9,554,757 trips, daily total fare. 54 days no incident, 2 real changes, no fault found [17][18].</a:t>
            </a:r>
            <a:endParaRPr lang="en-US" sz="1200" dirty="0"/>
          </a:p>
        </p:txBody>
      </p:sp>
      <p:sp>
        <p:nvSpPr>
          <p:cNvPr id="71" name="Shape 69"/>
          <p:cNvSpPr/>
          <p:nvPr/>
        </p:nvSpPr>
        <p:spPr>
          <a:xfrm>
            <a:off x="6858000" y="3081528"/>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72" name="Text 70"/>
          <p:cNvSpPr txBox="1"/>
          <p:nvPr/>
        </p:nvSpPr>
        <p:spPr>
          <a:xfrm>
            <a:off x="7040880" y="3191256"/>
            <a:ext cx="4389120"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The 2 real changes</a:t>
            </a:r>
            <a:endParaRPr lang="en-US" sz="1700" dirty="0"/>
          </a:p>
        </p:txBody>
      </p:sp>
      <p:sp>
        <p:nvSpPr>
          <p:cNvPr id="73" name="Text 71"/>
          <p:cNvSpPr txBox="1"/>
          <p:nvPr/>
        </p:nvSpPr>
        <p:spPr>
          <a:xfrm>
            <a:off x="7040880" y="3557016"/>
            <a:ext cx="4389120" cy="868680"/>
          </a:xfrm>
          <a:prstGeom prst="rect">
            <a:avLst/>
          </a:prstGeom>
          <a:noFill/>
          <a:ln/>
        </p:spPr>
        <p:txBody>
          <a:bodyPr wrap="square" lIns="0" tIns="0" rIns="0" bIns="0" rtlCol="0" anchor="t"/>
          <a:lstStyle/>
          <a:p>
            <a:pPr indent="0" marL="0">
              <a:buNone/>
            </a:pPr>
            <a:r>
              <a:rPr lang="en-US" sz="1200" dirty="0">
                <a:solidFill>
                  <a:schemeClr val="tx1"/>
                </a:solidFill>
              </a:rPr>
              <a:t>13 Feb, -33.9%: a snowstorm day when NYC schools went remote [19][20]. 27 Feb, +26.0%. Both published and explained, never called a fault.</a:t>
            </a:r>
            <a:endParaRPr lang="en-US" sz="1200" dirty="0"/>
          </a:p>
        </p:txBody>
      </p:sp>
      <p:sp>
        <p:nvSpPr>
          <p:cNvPr id="74" name="Shape 72"/>
          <p:cNvSpPr/>
          <p:nvPr/>
        </p:nvSpPr>
        <p:spPr>
          <a:xfrm>
            <a:off x="6858000" y="4562856"/>
            <a:ext cx="4754880" cy="1371600"/>
          </a:xfrm>
          <a:prstGeom prst="roundRect">
            <a:avLst>
              <a:gd name="adj" fmla="val 533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75" name="Text 73"/>
          <p:cNvSpPr txBox="1"/>
          <p:nvPr/>
        </p:nvSpPr>
        <p:spPr>
          <a:xfrm>
            <a:off x="7040880" y="4672584"/>
            <a:ext cx="4389120" cy="320040"/>
          </a:xfrm>
          <a:prstGeom prst="rect">
            <a:avLst/>
          </a:prstGeom>
          <a:noFill/>
          <a:ln/>
        </p:spPr>
        <p:txBody>
          <a:bodyPr wrap="square" lIns="0" tIns="0" rIns="0" bIns="0" rtlCol="0" anchor="t"/>
          <a:lstStyle/>
          <a:p>
            <a:pPr indent="0" marL="0">
              <a:buNone/>
            </a:pPr>
            <a:r>
              <a:rPr lang="en-US" sz="1700" b="1" dirty="0">
                <a:solidFill>
                  <a:schemeClr val="accent3"/>
                </a:solidFill>
                <a:latin typeface="+mj-lt" pitchFamily="34" charset="0"/>
                <a:ea typeface="+mj-lt" pitchFamily="34" charset="-122"/>
                <a:cs typeface="+mj-lt" pitchFamily="34" charset="-120"/>
              </a:rPr>
              <a:t>6 of 6 planted faults caught</a:t>
            </a:r>
            <a:endParaRPr lang="en-US" sz="1700" dirty="0"/>
          </a:p>
        </p:txBody>
      </p:sp>
      <p:sp>
        <p:nvSpPr>
          <p:cNvPr id="76" name="Text 74"/>
          <p:cNvSpPr txBox="1"/>
          <p:nvPr/>
        </p:nvSpPr>
        <p:spPr>
          <a:xfrm>
            <a:off x="7040880" y="5038344"/>
            <a:ext cx="4389120" cy="868680"/>
          </a:xfrm>
          <a:prstGeom prst="rect">
            <a:avLst/>
          </a:prstGeom>
          <a:noFill/>
          <a:ln/>
        </p:spPr>
        <p:txBody>
          <a:bodyPr wrap="square" lIns="0" tIns="0" rIns="0" bIns="0" rtlCol="0" anchor="t"/>
          <a:lstStyle/>
          <a:p>
            <a:pPr indent="0" marL="0">
              <a:buNone/>
            </a:pPr>
            <a:r>
              <a:rPr lang="en-US" sz="1200" dirty="0">
                <a:solidFill>
                  <a:schemeClr val="tx1"/>
                </a:solidFill>
              </a:rPr>
              <a:t>Three duplicated payment files moved the total only +8%, inside the normal range, so a threshold alert would miss them. All proven.</a:t>
            </a:r>
            <a:endParaRPr lang="en-US" sz="1200" dirty="0"/>
          </a:p>
        </p:txBody>
      </p:sp>
      <p:sp>
        <p:nvSpPr>
          <p:cNvPr id="77" name="Text 75"/>
          <p:cNvSpPr txBox="1"/>
          <p:nvPr/>
        </p:nvSpPr>
        <p:spPr>
          <a:xfrm>
            <a:off x="6858000" y="5989320"/>
            <a:ext cx="4754880" cy="457200"/>
          </a:xfrm>
          <a:prstGeom prst="rect">
            <a:avLst/>
          </a:prstGeom>
          <a:noFill/>
          <a:ln/>
        </p:spPr>
        <p:txBody>
          <a:bodyPr wrap="square" lIns="0" tIns="0" rIns="0" bIns="0" rtlCol="0" anchor="t"/>
          <a:lstStyle/>
          <a:p>
            <a:pPr indent="0" marL="0">
              <a:buNone/>
            </a:pPr>
            <a:r>
              <a:rPr lang="en-US" sz="1000" dirty="0">
                <a:solidFill>
                  <a:srgbClr val="5B7684"/>
                </a:solidFill>
              </a:rPr>
              <a:t>Run on Exasol after the unit tail check and the history fix: all 62 gate runs agree with the stand-in, median gate run 6.5 s [18]. The normal range here is about plus or minus 22%, so a small fault with no detector could pass.</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Fast on an ordinary student laptop</a:t>
            </a:r>
            <a:endParaRPr lang="en-US" sz="3400" dirty="0"/>
          </a:p>
        </p:txBody>
      </p:sp>
      <p:graphicFrame>
        <p:nvGraphicFramePr>
          <p:cNvPr id="3" name="Chart 0" descr=""/>
          <p:cNvGraphicFramePr/>
          <p:nvPr/>
        </p:nvGraphicFramePr>
        <p:xfrm>
          <a:off x="548640" y="1600200"/>
          <a:ext cx="6309360" cy="41148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223760" y="1600200"/>
            <a:ext cx="4389120" cy="1051560"/>
          </a:xfrm>
          <a:prstGeom prst="roundRect">
            <a:avLst>
              <a:gd name="adj" fmla="val 695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7406640" y="1600200"/>
            <a:ext cx="1645920" cy="105156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3.2 s</a:t>
            </a:r>
            <a:endParaRPr lang="en-US" sz="2400" dirty="0"/>
          </a:p>
        </p:txBody>
      </p:sp>
      <p:sp>
        <p:nvSpPr>
          <p:cNvPr id="6" name="Text 3"/>
          <p:cNvSpPr txBox="1"/>
          <p:nvPr/>
        </p:nvSpPr>
        <p:spPr>
          <a:xfrm>
            <a:off x="9144000" y="1600200"/>
            <a:ext cx="2377440" cy="1051560"/>
          </a:xfrm>
          <a:prstGeom prst="rect">
            <a:avLst/>
          </a:prstGeom>
          <a:noFill/>
          <a:ln/>
        </p:spPr>
        <p:txBody>
          <a:bodyPr wrap="square" lIns="0" tIns="0" rIns="0" bIns="0" rtlCol="0" anchor="ctr"/>
          <a:lstStyle/>
          <a:p>
            <a:pPr indent="0" marL="0">
              <a:buNone/>
            </a:pPr>
            <a:r>
              <a:rPr lang="en-US" sz="1200" dirty="0">
                <a:solidFill>
                  <a:schemeClr val="tx1"/>
                </a:solidFill>
              </a:rPr>
              <a:t>warm median for the IST case on Exasol, 3 repeats (cold 3.4 s); the stand-in takes 0.65 s [21]</a:t>
            </a:r>
            <a:endParaRPr lang="en-US" sz="1200" dirty="0"/>
          </a:p>
        </p:txBody>
      </p:sp>
      <p:sp>
        <p:nvSpPr>
          <p:cNvPr id="7" name="Shape 4"/>
          <p:cNvSpPr/>
          <p:nvPr/>
        </p:nvSpPr>
        <p:spPr>
          <a:xfrm>
            <a:off x="7223760" y="2788920"/>
            <a:ext cx="4389120" cy="1051560"/>
          </a:xfrm>
          <a:prstGeom prst="roundRect">
            <a:avLst>
              <a:gd name="adj" fmla="val 695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7406640" y="2788920"/>
            <a:ext cx="1645920" cy="105156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8.4 s</a:t>
            </a:r>
            <a:endParaRPr lang="en-US" sz="2400" dirty="0"/>
          </a:p>
        </p:txBody>
      </p:sp>
      <p:sp>
        <p:nvSpPr>
          <p:cNvPr id="9" name="Text 6"/>
          <p:cNvSpPr txBox="1"/>
          <p:nvPr/>
        </p:nvSpPr>
        <p:spPr>
          <a:xfrm>
            <a:off x="9144000" y="2788920"/>
            <a:ext cx="2377440" cy="1051560"/>
          </a:xfrm>
          <a:prstGeom prst="rect">
            <a:avLst/>
          </a:prstGeom>
          <a:noFill/>
          <a:ln/>
        </p:spPr>
        <p:txBody>
          <a:bodyPr wrap="square" lIns="0" tIns="0" rIns="0" bIns="0" rtlCol="0" anchor="ctr"/>
          <a:lstStyle/>
          <a:p>
            <a:pPr indent="0" marL="0">
              <a:buNone/>
            </a:pPr>
            <a:r>
              <a:rPr lang="en-US" sz="1200" dirty="0">
                <a:solidFill>
                  <a:schemeClr val="tx1"/>
                </a:solidFill>
              </a:rPr>
              <a:t>median from clicking Break the pipeline to the HELD banner, 5 runs [21]</a:t>
            </a:r>
            <a:endParaRPr lang="en-US" sz="1200" dirty="0"/>
          </a:p>
        </p:txBody>
      </p:sp>
      <p:sp>
        <p:nvSpPr>
          <p:cNvPr id="10" name="Shape 7"/>
          <p:cNvSpPr/>
          <p:nvPr/>
        </p:nvSpPr>
        <p:spPr>
          <a:xfrm>
            <a:off x="7223760" y="3977640"/>
            <a:ext cx="4389120" cy="1051560"/>
          </a:xfrm>
          <a:prstGeom prst="roundRect">
            <a:avLst>
              <a:gd name="adj" fmla="val 6957"/>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7406640" y="3977640"/>
            <a:ext cx="1645920" cy="1051560"/>
          </a:xfrm>
          <a:prstGeom prst="rect">
            <a:avLst/>
          </a:prstGeom>
          <a:noFill/>
          <a:ln/>
        </p:spPr>
        <p:txBody>
          <a:bodyPr wrap="square" lIns="0" tIns="0" rIns="0" bIns="0" rtlCol="0" anchor="ctr"/>
          <a:lstStyle/>
          <a:p>
            <a:pPr indent="0" marL="0">
              <a:buNone/>
            </a:pPr>
            <a:r>
              <a:rPr lang="en-US" sz="2400" b="1" dirty="0">
                <a:solidFill>
                  <a:schemeClr val="accent3"/>
                </a:solidFill>
                <a:latin typeface="+mj-lt" pitchFamily="34" charset="0"/>
                <a:ea typeface="+mj-lt" pitchFamily="34" charset="-122"/>
                <a:cs typeface="+mj-lt" pitchFamily="34" charset="-120"/>
              </a:rPr>
              <a:t>344 MiB</a:t>
            </a:r>
            <a:endParaRPr lang="en-US" sz="2400" dirty="0"/>
          </a:p>
        </p:txBody>
      </p:sp>
      <p:sp>
        <p:nvSpPr>
          <p:cNvPr id="12" name="Text 9"/>
          <p:cNvSpPr txBox="1"/>
          <p:nvPr/>
        </p:nvSpPr>
        <p:spPr>
          <a:xfrm>
            <a:off x="9144000" y="3977640"/>
            <a:ext cx="2377440" cy="1051560"/>
          </a:xfrm>
          <a:prstGeom prst="rect">
            <a:avLst/>
          </a:prstGeom>
          <a:noFill/>
          <a:ln/>
        </p:spPr>
        <p:txBody>
          <a:bodyPr wrap="square" lIns="0" tIns="0" rIns="0" bIns="0" rtlCol="0" anchor="ctr"/>
          <a:lstStyle/>
          <a:p>
            <a:pPr indent="0" marL="0">
              <a:buNone/>
            </a:pPr>
            <a:r>
              <a:rPr lang="en-US" sz="1200" dirty="0">
                <a:solidFill>
                  <a:schemeClr val="tx1"/>
                </a:solidFill>
              </a:rPr>
              <a:t>peak temporary memory at 17.3 million payment rows, as Exasol recorded it [21]</a:t>
            </a:r>
            <a:endParaRPr lang="en-US" sz="1200" dirty="0"/>
          </a:p>
        </p:txBody>
      </p:sp>
      <p:sp>
        <p:nvSpPr>
          <p:cNvPr id="13" name="Text 10"/>
          <p:cNvSpPr txBox="1"/>
          <p:nvPr/>
        </p:nvSpPr>
        <p:spPr>
          <a:xfrm>
            <a:off x="7223760" y="5257800"/>
            <a:ext cx="4389120" cy="1005840"/>
          </a:xfrm>
          <a:prstGeom prst="rect">
            <a:avLst/>
          </a:prstGeom>
          <a:noFill/>
          <a:ln/>
        </p:spPr>
        <p:txBody>
          <a:bodyPr wrap="square" lIns="0" tIns="0" rIns="0" bIns="0" rtlCol="0" anchor="t"/>
          <a:lstStyle/>
          <a:p>
            <a:pPr indent="0" marL="0">
              <a:buNone/>
            </a:pPr>
            <a:r>
              <a:rPr lang="en-US" sz="1100" dirty="0">
                <a:solidFill>
                  <a:srgbClr val="5B7684"/>
                </a:solidFill>
              </a:rPr>
              <a:t>Windows 11 laptop (Intel Core 5), Exasol Personal 2026.2.0-nano.3 in Podman on WSL2, about 7.7 GiB visible to the VM [15]. Scaling and the IST timings were measured on 29 Oct, after the unit tail check; the click-to-HELD time on 26 Oct. Largest size: 17.3 million payment rows. No claim beyond that.</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Honest limits, and what we did about them</a:t>
            </a:r>
            <a:endParaRPr lang="en-US" sz="3400" dirty="0"/>
          </a:p>
        </p:txBody>
      </p:sp>
      <p:sp>
        <p:nvSpPr>
          <p:cNvPr id="3" name="Text 1"/>
          <p:cNvSpPr txBox="1"/>
          <p:nvPr/>
        </p:nvSpPr>
        <p:spPr>
          <a:xfrm>
            <a:off x="731520" y="1554480"/>
            <a:ext cx="3840480" cy="274320"/>
          </a:xfrm>
          <a:prstGeom prst="rect">
            <a:avLst/>
          </a:prstGeom>
          <a:noFill/>
          <a:ln/>
        </p:spPr>
        <p:txBody>
          <a:bodyPr wrap="square" lIns="0" tIns="0" rIns="0" bIns="0" rtlCol="0" anchor="t"/>
          <a:lstStyle/>
          <a:p>
            <a:pPr indent="0" marL="0">
              <a:buNone/>
            </a:pPr>
            <a:r>
              <a:rPr lang="en-US" sz="1200" b="1" dirty="0">
                <a:solidFill>
                  <a:srgbClr val="5B7684"/>
                </a:solidFill>
              </a:rPr>
              <a:t>What a juror will ask</a:t>
            </a:r>
            <a:endParaRPr lang="en-US" sz="1200" dirty="0"/>
          </a:p>
        </p:txBody>
      </p:sp>
      <p:sp>
        <p:nvSpPr>
          <p:cNvPr id="4" name="Text 2"/>
          <p:cNvSpPr txBox="1"/>
          <p:nvPr/>
        </p:nvSpPr>
        <p:spPr>
          <a:xfrm>
            <a:off x="4937760" y="1554480"/>
            <a:ext cx="6400800" cy="274320"/>
          </a:xfrm>
          <a:prstGeom prst="rect">
            <a:avLst/>
          </a:prstGeom>
          <a:noFill/>
          <a:ln/>
        </p:spPr>
        <p:txBody>
          <a:bodyPr wrap="square" lIns="0" tIns="0" rIns="0" bIns="0" rtlCol="0" anchor="t"/>
          <a:lstStyle/>
          <a:p>
            <a:pPr indent="0" marL="0">
              <a:buNone/>
            </a:pPr>
            <a:r>
              <a:rPr lang="en-US" sz="1200" b="1" dirty="0">
                <a:solidFill>
                  <a:srgbClr val="5B7684"/>
                </a:solidFill>
              </a:rPr>
              <a:t>What we did about it</a:t>
            </a:r>
            <a:endParaRPr lang="en-US" sz="1200" dirty="0"/>
          </a:p>
        </p:txBody>
      </p:sp>
      <p:sp>
        <p:nvSpPr>
          <p:cNvPr id="5" name="Shape 3"/>
          <p:cNvSpPr/>
          <p:nvPr/>
        </p:nvSpPr>
        <p:spPr>
          <a:xfrm>
            <a:off x="548640" y="1874520"/>
            <a:ext cx="11064240" cy="621792"/>
          </a:xfrm>
          <a:prstGeom prst="roundRect">
            <a:avLst>
              <a:gd name="adj" fmla="val 11765"/>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731520" y="1874520"/>
            <a:ext cx="4023360" cy="621792"/>
          </a:xfrm>
          <a:prstGeom prst="rect">
            <a:avLst/>
          </a:prstGeom>
          <a:noFill/>
          <a:ln/>
        </p:spPr>
        <p:txBody>
          <a:bodyPr wrap="square" lIns="0" tIns="0" rIns="0" bIns="0" rtlCol="0" anchor="ctr"/>
          <a:lstStyle/>
          <a:p>
            <a:pPr indent="0" marL="0">
              <a:buNone/>
            </a:pPr>
            <a:r>
              <a:rPr lang="en-US" sz="1400" b="1" dirty="0">
                <a:solidFill>
                  <a:schemeClr val="tx2"/>
                </a:solidFill>
              </a:rPr>
              <a:t>The data is synthetic</a:t>
            </a:r>
            <a:endParaRPr lang="en-US" sz="1400" dirty="0"/>
          </a:p>
        </p:txBody>
      </p:sp>
      <p:sp>
        <p:nvSpPr>
          <p:cNvPr id="7" name="Text 5"/>
          <p:cNvSpPr txBox="1"/>
          <p:nvPr/>
        </p:nvSpPr>
        <p:spPr>
          <a:xfrm>
            <a:off x="4937760" y="1874520"/>
            <a:ext cx="6537960" cy="621792"/>
          </a:xfrm>
          <a:prstGeom prst="rect">
            <a:avLst/>
          </a:prstGeom>
          <a:noFill/>
          <a:ln/>
        </p:spPr>
        <p:txBody>
          <a:bodyPr wrap="square" lIns="0" tIns="0" rIns="0" bIns="0" rtlCol="0" anchor="ctr"/>
          <a:lstStyle/>
          <a:p>
            <a:pPr indent="0" marL="0">
              <a:buNone/>
            </a:pPr>
            <a:r>
              <a:rPr lang="en-US" sz="1300" dirty="0">
                <a:solidFill>
                  <a:schemeClr val="tx1"/>
                </a:solidFill>
              </a:rPr>
              <a:t>Allowed by the rules. One backtest uses real public taxi data, and held-out variants, a red team and a wrong-fix control report the misses.</a:t>
            </a:r>
            <a:endParaRPr lang="en-US" sz="1300" dirty="0"/>
          </a:p>
        </p:txBody>
      </p:sp>
      <p:sp>
        <p:nvSpPr>
          <p:cNvPr id="8" name="Shape 6"/>
          <p:cNvSpPr/>
          <p:nvPr/>
        </p:nvSpPr>
        <p:spPr>
          <a:xfrm>
            <a:off x="548640" y="2587752"/>
            <a:ext cx="11064240" cy="621792"/>
          </a:xfrm>
          <a:prstGeom prst="roundRect">
            <a:avLst>
              <a:gd name="adj" fmla="val 11765"/>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731520" y="2587752"/>
            <a:ext cx="4023360" cy="621792"/>
          </a:xfrm>
          <a:prstGeom prst="rect">
            <a:avLst/>
          </a:prstGeom>
          <a:noFill/>
          <a:ln/>
        </p:spPr>
        <p:txBody>
          <a:bodyPr wrap="square" lIns="0" tIns="0" rIns="0" bIns="0" rtlCol="0" anchor="ctr"/>
          <a:lstStyle/>
          <a:p>
            <a:pPr indent="0" marL="0">
              <a:buNone/>
            </a:pPr>
            <a:r>
              <a:rPr lang="en-US" sz="1400" b="1" dirty="0">
                <a:solidFill>
                  <a:schemeClr val="tx2"/>
                </a:solidFill>
              </a:rPr>
              <a:t>Only six fault classes have a detector</a:t>
            </a:r>
            <a:endParaRPr lang="en-US" sz="1400" dirty="0"/>
          </a:p>
        </p:txBody>
      </p:sp>
      <p:sp>
        <p:nvSpPr>
          <p:cNvPr id="10" name="Text 8"/>
          <p:cNvSpPr txBox="1"/>
          <p:nvPr/>
        </p:nvSpPr>
        <p:spPr>
          <a:xfrm>
            <a:off x="4937760" y="2587752"/>
            <a:ext cx="6537960" cy="621792"/>
          </a:xfrm>
          <a:prstGeom prst="rect">
            <a:avLst/>
          </a:prstGeom>
          <a:noFill/>
          <a:ln/>
        </p:spPr>
        <p:txBody>
          <a:bodyPr wrap="square" lIns="0" tIns="0" rIns="0" bIns="0" rtlCol="0" anchor="ctr"/>
          <a:lstStyle/>
          <a:p>
            <a:pPr indent="0" marL="0">
              <a:buNone/>
            </a:pPr>
            <a:r>
              <a:rPr lang="en-US" sz="1300" dirty="0">
                <a:solidFill>
                  <a:schemeClr val="tx1"/>
                </a:solidFill>
              </a:rPr>
              <a:t>Anything else that leaves the normal range is held as UNEXPLAINED. No cause is guessed, a person decides.</a:t>
            </a:r>
            <a:endParaRPr lang="en-US" sz="1300" dirty="0"/>
          </a:p>
        </p:txBody>
      </p:sp>
      <p:sp>
        <p:nvSpPr>
          <p:cNvPr id="11" name="Shape 9"/>
          <p:cNvSpPr/>
          <p:nvPr/>
        </p:nvSpPr>
        <p:spPr>
          <a:xfrm>
            <a:off x="548640" y="3300984"/>
            <a:ext cx="11064240" cy="621792"/>
          </a:xfrm>
          <a:prstGeom prst="roundRect">
            <a:avLst>
              <a:gd name="adj" fmla="val 11765"/>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731520" y="3300984"/>
            <a:ext cx="4023360" cy="621792"/>
          </a:xfrm>
          <a:prstGeom prst="rect">
            <a:avLst/>
          </a:prstGeom>
          <a:noFill/>
          <a:ln/>
        </p:spPr>
        <p:txBody>
          <a:bodyPr wrap="square" lIns="0" tIns="0" rIns="0" bIns="0" rtlCol="0" anchor="ctr"/>
          <a:lstStyle/>
          <a:p>
            <a:pPr indent="0" marL="0">
              <a:buNone/>
            </a:pPr>
            <a:r>
              <a:rPr lang="en-US" sz="1400" b="1" dirty="0">
                <a:solidFill>
                  <a:schemeClr val="tx2"/>
                </a:solidFill>
              </a:rPr>
              <a:t>x10 unit errors on 2% to 10% of a gateway</a:t>
            </a:r>
            <a:endParaRPr lang="en-US" sz="1400" dirty="0"/>
          </a:p>
        </p:txBody>
      </p:sp>
      <p:sp>
        <p:nvSpPr>
          <p:cNvPr id="13" name="Text 11"/>
          <p:cNvSpPr txBox="1"/>
          <p:nvPr/>
        </p:nvSpPr>
        <p:spPr>
          <a:xfrm>
            <a:off x="4937760" y="3300984"/>
            <a:ext cx="6537960" cy="621792"/>
          </a:xfrm>
          <a:prstGeom prst="rect">
            <a:avLst/>
          </a:prstGeom>
          <a:noFill/>
          <a:ln/>
        </p:spPr>
        <p:txBody>
          <a:bodyPr wrap="square" lIns="0" tIns="0" rIns="0" bIns="0" rtlCol="0" anchor="ctr"/>
          <a:lstStyle/>
          <a:p>
            <a:pPr indent="0" marL="0">
              <a:buNone/>
            </a:pPr>
            <a:r>
              <a:rPr lang="en-US" sz="1300" dirty="0">
                <a:solidFill>
                  <a:schemeClr val="tx1"/>
                </a:solidFill>
              </a:rPr>
              <a:t>Held, not proven (12 of 24 held-out cases). The cut was not lowered after seeing them.</a:t>
            </a:r>
            <a:endParaRPr lang="en-US" sz="1300" dirty="0"/>
          </a:p>
        </p:txBody>
      </p:sp>
      <p:sp>
        <p:nvSpPr>
          <p:cNvPr id="14" name="Shape 12"/>
          <p:cNvSpPr/>
          <p:nvPr/>
        </p:nvSpPr>
        <p:spPr>
          <a:xfrm>
            <a:off x="548640" y="4014216"/>
            <a:ext cx="11064240" cy="621792"/>
          </a:xfrm>
          <a:prstGeom prst="roundRect">
            <a:avLst>
              <a:gd name="adj" fmla="val 11765"/>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731520" y="4014216"/>
            <a:ext cx="4023360" cy="621792"/>
          </a:xfrm>
          <a:prstGeom prst="rect">
            <a:avLst/>
          </a:prstGeom>
          <a:noFill/>
          <a:ln/>
        </p:spPr>
        <p:txBody>
          <a:bodyPr wrap="square" lIns="0" tIns="0" rIns="0" bIns="0" rtlCol="0" anchor="ctr"/>
          <a:lstStyle/>
          <a:p>
            <a:pPr indent="0" marL="0">
              <a:buNone/>
            </a:pPr>
            <a:r>
              <a:rPr lang="en-US" sz="1400" b="1" dirty="0">
                <a:solidFill>
                  <a:schemeClr val="tx2"/>
                </a:solidFill>
              </a:rPr>
              <a:t>Wrong fixes on a small slice</a:t>
            </a:r>
            <a:endParaRPr lang="en-US" sz="1400" dirty="0"/>
          </a:p>
        </p:txBody>
      </p:sp>
      <p:sp>
        <p:nvSpPr>
          <p:cNvPr id="16" name="Text 14"/>
          <p:cNvSpPr txBox="1"/>
          <p:nvPr/>
        </p:nvSpPr>
        <p:spPr>
          <a:xfrm>
            <a:off x="4937760" y="4014216"/>
            <a:ext cx="6537960" cy="621792"/>
          </a:xfrm>
          <a:prstGeom prst="rect">
            <a:avLst/>
          </a:prstGeom>
          <a:noFill/>
          <a:ln/>
        </p:spPr>
        <p:txBody>
          <a:bodyPr wrap="square" lIns="0" tIns="0" rIns="0" bIns="0" rtlCol="0" anchor="ctr"/>
          <a:lstStyle/>
          <a:p>
            <a:pPr indent="0" marL="0">
              <a:buNone/>
            </a:pPr>
            <a:r>
              <a:rPr lang="en-US" sz="1300" dirty="0">
                <a:solidFill>
                  <a:schemeClr val="tx1"/>
                </a:solidFill>
              </a:rPr>
              <a:t>On GW_C, about 5% of revenue, the undo test alone cannot tell a right correction from a wrong one: 10 of 235 accepted. No detector nominated them and the gate was not tuned.</a:t>
            </a:r>
            <a:endParaRPr lang="en-US" sz="1300" dirty="0"/>
          </a:p>
        </p:txBody>
      </p:sp>
      <p:sp>
        <p:nvSpPr>
          <p:cNvPr id="17" name="Shape 15"/>
          <p:cNvSpPr/>
          <p:nvPr/>
        </p:nvSpPr>
        <p:spPr>
          <a:xfrm>
            <a:off x="548640" y="4727448"/>
            <a:ext cx="11064240" cy="621792"/>
          </a:xfrm>
          <a:prstGeom prst="roundRect">
            <a:avLst>
              <a:gd name="adj" fmla="val 11765"/>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731520" y="4727448"/>
            <a:ext cx="4023360" cy="621792"/>
          </a:xfrm>
          <a:prstGeom prst="rect">
            <a:avLst/>
          </a:prstGeom>
          <a:noFill/>
          <a:ln/>
        </p:spPr>
        <p:txBody>
          <a:bodyPr wrap="square" lIns="0" tIns="0" rIns="0" bIns="0" rtlCol="0" anchor="ctr"/>
          <a:lstStyle/>
          <a:p>
            <a:pPr indent="0" marL="0">
              <a:buNone/>
            </a:pPr>
            <a:r>
              <a:rPr lang="en-US" sz="1400" b="1" dirty="0">
                <a:solidFill>
                  <a:schemeClr val="tx2"/>
                </a:solidFill>
              </a:rPr>
              <a:t>Real data has a wide normal range</a:t>
            </a:r>
            <a:endParaRPr lang="en-US" sz="1400" dirty="0"/>
          </a:p>
        </p:txBody>
      </p:sp>
      <p:sp>
        <p:nvSpPr>
          <p:cNvPr id="19" name="Text 17"/>
          <p:cNvSpPr txBox="1"/>
          <p:nvPr/>
        </p:nvSpPr>
        <p:spPr>
          <a:xfrm>
            <a:off x="4937760" y="4727448"/>
            <a:ext cx="6537960" cy="621792"/>
          </a:xfrm>
          <a:prstGeom prst="rect">
            <a:avLst/>
          </a:prstGeom>
          <a:noFill/>
          <a:ln/>
        </p:spPr>
        <p:txBody>
          <a:bodyPr wrap="square" lIns="0" tIns="0" rIns="0" bIns="0" rtlCol="0" anchor="ctr"/>
          <a:lstStyle/>
          <a:p>
            <a:pPr indent="0" marL="0">
              <a:buNone/>
            </a:pPr>
            <a:r>
              <a:rPr lang="en-US" sz="1300" dirty="0">
                <a:solidFill>
                  <a:schemeClr val="tx1"/>
                </a:solidFill>
              </a:rPr>
              <a:t>About plus or minus 22% on taxi trips. A small fault with no detector could pass, and we say so.</a:t>
            </a:r>
            <a:endParaRPr lang="en-US" sz="1300" dirty="0"/>
          </a:p>
        </p:txBody>
      </p:sp>
      <p:sp>
        <p:nvSpPr>
          <p:cNvPr id="20" name="Shape 18"/>
          <p:cNvSpPr/>
          <p:nvPr/>
        </p:nvSpPr>
        <p:spPr>
          <a:xfrm>
            <a:off x="548640" y="5440680"/>
            <a:ext cx="11064240" cy="621792"/>
          </a:xfrm>
          <a:prstGeom prst="roundRect">
            <a:avLst>
              <a:gd name="adj" fmla="val 11765"/>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731520" y="5440680"/>
            <a:ext cx="4023360" cy="621792"/>
          </a:xfrm>
          <a:prstGeom prst="rect">
            <a:avLst/>
          </a:prstGeom>
          <a:noFill/>
          <a:ln/>
        </p:spPr>
        <p:txBody>
          <a:bodyPr wrap="square" lIns="0" tIns="0" rIns="0" bIns="0" rtlCol="0" anchor="ctr"/>
          <a:lstStyle/>
          <a:p>
            <a:pPr indent="0" marL="0">
              <a:buNone/>
            </a:pPr>
            <a:r>
              <a:rPr lang="en-US" sz="1400" b="1" dirty="0">
                <a:solidFill>
                  <a:schemeClr val="tx2"/>
                </a:solidFill>
              </a:rPr>
              <a:t>Not run yet</a:t>
            </a:r>
            <a:endParaRPr lang="en-US" sz="1400" dirty="0"/>
          </a:p>
        </p:txBody>
      </p:sp>
      <p:sp>
        <p:nvSpPr>
          <p:cNvPr id="22" name="Text 20"/>
          <p:cNvSpPr txBox="1"/>
          <p:nvPr/>
        </p:nvSpPr>
        <p:spPr>
          <a:xfrm>
            <a:off x="4937760" y="5440680"/>
            <a:ext cx="6537960" cy="621792"/>
          </a:xfrm>
          <a:prstGeom prst="rect">
            <a:avLst/>
          </a:prstGeom>
          <a:noFill/>
          <a:ln/>
        </p:spPr>
        <p:txBody>
          <a:bodyPr wrap="square" lIns="0" tIns="0" rIns="0" bIns="0" rtlCol="0" anchor="ctr"/>
          <a:lstStyle/>
          <a:p>
            <a:pPr indent="0" marL="0">
              <a:buNone/>
            </a:pPr>
            <a:r>
              <a:rPr lang="en-US" sz="1300" dirty="0">
                <a:solidFill>
                  <a:schemeClr val="tx1"/>
                </a:solidFill>
              </a:rPr>
              <a:t>Mac and Linux scripts, Slack, Docker, and a blind test by someone else. The agent test used a Claude Code session, not a standalone chat client.</a:t>
            </a:r>
            <a:endParaRPr lang="en-US" sz="1300" dirty="0"/>
          </a:p>
        </p:txBody>
      </p:sp>
      <p:sp>
        <p:nvSpPr>
          <p:cNvPr id="23" name="Text 21"/>
          <p:cNvSpPr txBox="1"/>
          <p:nvPr/>
        </p:nvSpPr>
        <p:spPr>
          <a:xfrm>
            <a:off x="548640" y="6199632"/>
            <a:ext cx="7315200" cy="201168"/>
          </a:xfrm>
          <a:prstGeom prst="rect">
            <a:avLst/>
          </a:prstGeom>
          <a:noFill/>
          <a:ln/>
        </p:spPr>
        <p:txBody>
          <a:bodyPr wrap="square" lIns="0" tIns="0" rIns="0" bIns="0" rtlCol="0" anchor="t"/>
          <a:lstStyle/>
          <a:p>
            <a:pPr indent="0" marL="0">
              <a:buNone/>
            </a:pPr>
            <a:r>
              <a:rPr lang="en-US" sz="1000" dirty="0">
                <a:solidFill>
                  <a:srgbClr val="5B7684"/>
                </a:solidFill>
              </a:rPr>
              <a:t>Sources: README, JUDGES.md and docs/EVAL_CARD.md in the repository [15][21][22][23].</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How a real team would use it, and what is next</a:t>
            </a:r>
            <a:endParaRPr lang="en-US" sz="3400" dirty="0"/>
          </a:p>
        </p:txBody>
      </p:sp>
      <p:sp>
        <p:nvSpPr>
          <p:cNvPr id="3" name="Text 1"/>
          <p:cNvSpPr txBox="1"/>
          <p:nvPr/>
        </p:nvSpPr>
        <p:spPr>
          <a:xfrm>
            <a:off x="548640" y="1508760"/>
            <a:ext cx="7315200" cy="274320"/>
          </a:xfrm>
          <a:prstGeom prst="rect">
            <a:avLst/>
          </a:prstGeom>
          <a:noFill/>
          <a:ln/>
        </p:spPr>
        <p:txBody>
          <a:bodyPr wrap="square" lIns="0" tIns="0" rIns="0" bIns="0" rtlCol="0" anchor="t"/>
          <a:lstStyle/>
          <a:p>
            <a:pPr indent="0" marL="0">
              <a:buNone/>
            </a:pPr>
            <a:r>
              <a:rPr lang="en-US" sz="1400" b="1" dirty="0">
                <a:solidFill>
                  <a:srgbClr val="5B7684"/>
                </a:solidFill>
              </a:rPr>
              <a:t>Adoption path</a:t>
            </a:r>
            <a:endParaRPr lang="en-US" sz="1400" dirty="0"/>
          </a:p>
        </p:txBody>
      </p:sp>
      <p:sp>
        <p:nvSpPr>
          <p:cNvPr id="4" name="Shape 2"/>
          <p:cNvSpPr/>
          <p:nvPr/>
        </p:nvSpPr>
        <p:spPr>
          <a:xfrm>
            <a:off x="548640" y="1828800"/>
            <a:ext cx="2560320" cy="1600200"/>
          </a:xfrm>
          <a:prstGeom prst="roundRect">
            <a:avLst>
              <a:gd name="adj" fmla="val 4571"/>
            </a:avLst>
          </a:prstGeom>
          <a:solidFill>
            <a:schemeClr val="tx1"/>
          </a:solidFill>
          <a:ln w="9525">
            <a:solidFill>
              <a:srgbClr val="1C7293"/>
            </a:solidFill>
            <a:prstDash val="solid"/>
          </a:ln>
        </p:spPr>
      </p:sp>
      <p:sp>
        <p:nvSpPr>
          <p:cNvPr id="5" name="Text 3"/>
          <p:cNvSpPr txBox="1"/>
          <p:nvPr/>
        </p:nvSpPr>
        <p:spPr>
          <a:xfrm>
            <a:off x="731520" y="1965960"/>
            <a:ext cx="2194560" cy="5486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Point it at your metric</a:t>
            </a:r>
            <a:endParaRPr lang="en-US" sz="1600" dirty="0"/>
          </a:p>
        </p:txBody>
      </p:sp>
      <p:sp>
        <p:nvSpPr>
          <p:cNvPr id="6" name="Text 4"/>
          <p:cNvSpPr txBox="1"/>
          <p:nvPr/>
        </p:nvSpPr>
        <p:spPr>
          <a:xfrm>
            <a:off x="731520" y="2560320"/>
            <a:ext cx="2194560" cy="822960"/>
          </a:xfrm>
          <a:prstGeom prst="rect">
            <a:avLst/>
          </a:prstGeom>
          <a:noFill/>
          <a:ln/>
        </p:spPr>
        <p:txBody>
          <a:bodyPr wrap="square" lIns="0" tIns="0" rIns="0" bIns="0" rtlCol="0" anchor="t"/>
          <a:lstStyle/>
          <a:p>
            <a:pPr indent="0" marL="0">
              <a:buNone/>
            </a:pPr>
            <a:r>
              <a:rPr lang="en-US" sz="1300" dirty="0">
                <a:solidFill>
                  <a:srgbClr val="DDE8EC"/>
                </a:solidFill>
              </a:rPr>
              <a:t>A view in Exasol that the dashboard already reads, plus the raw tables behind it, named in receipts.yaml. Built.</a:t>
            </a:r>
            <a:endParaRPr lang="en-US" sz="1300" dirty="0"/>
          </a:p>
        </p:txBody>
      </p:sp>
      <p:sp>
        <p:nvSpPr>
          <p:cNvPr id="7" name="Shape 5"/>
          <p:cNvSpPr/>
          <p:nvPr/>
        </p:nvSpPr>
        <p:spPr>
          <a:xfrm>
            <a:off x="3108960" y="2628900"/>
            <a:ext cx="246888" cy="0"/>
          </a:xfrm>
          <a:prstGeom prst="line">
            <a:avLst/>
          </a:prstGeom>
          <a:noFill/>
          <a:ln w="22225">
            <a:solidFill>
              <a:srgbClr val="9CC3D1"/>
            </a:solidFill>
            <a:prstDash val="solid"/>
            <a:tailEnd type="triangle"/>
          </a:ln>
        </p:spPr>
      </p:sp>
      <p:sp>
        <p:nvSpPr>
          <p:cNvPr id="8" name="Shape 6"/>
          <p:cNvSpPr/>
          <p:nvPr/>
        </p:nvSpPr>
        <p:spPr>
          <a:xfrm>
            <a:off x="3355848" y="1828800"/>
            <a:ext cx="2560320" cy="1600200"/>
          </a:xfrm>
          <a:prstGeom prst="roundRect">
            <a:avLst>
              <a:gd name="adj" fmla="val 4571"/>
            </a:avLst>
          </a:prstGeom>
          <a:solidFill>
            <a:schemeClr val="tx1"/>
          </a:solidFill>
          <a:ln w="9525">
            <a:solidFill>
              <a:srgbClr val="1C7293"/>
            </a:solidFill>
            <a:prstDash val="solid"/>
          </a:ln>
        </p:spPr>
      </p:sp>
      <p:sp>
        <p:nvSpPr>
          <p:cNvPr id="9" name="Text 7"/>
          <p:cNvSpPr txBox="1"/>
          <p:nvPr/>
        </p:nvSpPr>
        <p:spPr>
          <a:xfrm>
            <a:off x="3538728" y="1965960"/>
            <a:ext cx="2194560" cy="5486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Run it after each load</a:t>
            </a:r>
            <a:endParaRPr lang="en-US" sz="1600" dirty="0"/>
          </a:p>
        </p:txBody>
      </p:sp>
      <p:sp>
        <p:nvSpPr>
          <p:cNvPr id="10" name="Text 8"/>
          <p:cNvSpPr txBox="1"/>
          <p:nvPr/>
        </p:nvSpPr>
        <p:spPr>
          <a:xfrm>
            <a:off x="3538728" y="2560320"/>
            <a:ext cx="2194560" cy="822960"/>
          </a:xfrm>
          <a:prstGeom prst="rect">
            <a:avLst/>
          </a:prstGeom>
          <a:noFill/>
          <a:ln/>
        </p:spPr>
        <p:txBody>
          <a:bodyPr wrap="square" lIns="0" tIns="0" rIns="0" bIns="0" rtlCol="0" anchor="t"/>
          <a:lstStyle/>
          <a:p>
            <a:pPr indent="0" marL="0">
              <a:buNone/>
            </a:pPr>
            <a:r>
              <a:rPr lang="en-US" sz="1300" dirty="0">
                <a:solidFill>
                  <a:srgbClr val="DDE8EC"/>
                </a:solidFill>
              </a:rPr>
              <a:t>Watch mode checks each new batch before the dashboard sees it. Built.</a:t>
            </a:r>
            <a:endParaRPr lang="en-US" sz="1300" dirty="0"/>
          </a:p>
        </p:txBody>
      </p:sp>
      <p:sp>
        <p:nvSpPr>
          <p:cNvPr id="11" name="Shape 9"/>
          <p:cNvSpPr/>
          <p:nvPr/>
        </p:nvSpPr>
        <p:spPr>
          <a:xfrm>
            <a:off x="5916168" y="2628900"/>
            <a:ext cx="246888" cy="0"/>
          </a:xfrm>
          <a:prstGeom prst="line">
            <a:avLst/>
          </a:prstGeom>
          <a:noFill/>
          <a:ln w="22225">
            <a:solidFill>
              <a:srgbClr val="9CC3D1"/>
            </a:solidFill>
            <a:prstDash val="solid"/>
            <a:tailEnd type="triangle"/>
          </a:ln>
        </p:spPr>
      </p:sp>
      <p:sp>
        <p:nvSpPr>
          <p:cNvPr id="12" name="Shape 10"/>
          <p:cNvSpPr/>
          <p:nvPr/>
        </p:nvSpPr>
        <p:spPr>
          <a:xfrm>
            <a:off x="6163056" y="1828800"/>
            <a:ext cx="2560320" cy="1600200"/>
          </a:xfrm>
          <a:prstGeom prst="roundRect">
            <a:avLst>
              <a:gd name="adj" fmla="val 4571"/>
            </a:avLst>
          </a:prstGeom>
          <a:solidFill>
            <a:schemeClr val="tx1"/>
          </a:solidFill>
          <a:ln w="9525">
            <a:solidFill>
              <a:srgbClr val="1C7293"/>
            </a:solidFill>
            <a:prstDash val="solid"/>
          </a:ln>
        </p:spPr>
      </p:sp>
      <p:sp>
        <p:nvSpPr>
          <p:cNvPr id="13" name="Text 11"/>
          <p:cNvSpPr txBox="1"/>
          <p:nvPr/>
        </p:nvSpPr>
        <p:spPr>
          <a:xfrm>
            <a:off x="6345936" y="1965960"/>
            <a:ext cx="2194560" cy="5486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Read the flag</a:t>
            </a:r>
            <a:endParaRPr lang="en-US" sz="1600" dirty="0"/>
          </a:p>
        </p:txBody>
      </p:sp>
      <p:sp>
        <p:nvSpPr>
          <p:cNvPr id="14" name="Text 12"/>
          <p:cNvSpPr txBox="1"/>
          <p:nvPr/>
        </p:nvSpPr>
        <p:spPr>
          <a:xfrm>
            <a:off x="6345936" y="2560320"/>
            <a:ext cx="2194560" cy="822960"/>
          </a:xfrm>
          <a:prstGeom prst="rect">
            <a:avLst/>
          </a:prstGeom>
          <a:noFill/>
          <a:ln/>
        </p:spPr>
        <p:txBody>
          <a:bodyPr wrap="square" lIns="0" tIns="0" rIns="0" bIns="0" rtlCol="0" anchor="t"/>
          <a:lstStyle/>
          <a:p>
            <a:pPr indent="0" marL="0">
              <a:buNone/>
            </a:pPr>
            <a:r>
              <a:rPr lang="en-US" sz="1300" dirty="0">
                <a:solidFill>
                  <a:srgbClr val="DDE8EC"/>
                </a:solidFill>
              </a:rPr>
              <a:t>Dashboards and agents read PUB.METRIC_TRUST or the badge. A real agent did, as a read-only user.</a:t>
            </a:r>
            <a:endParaRPr lang="en-US" sz="1300" dirty="0"/>
          </a:p>
        </p:txBody>
      </p:sp>
      <p:sp>
        <p:nvSpPr>
          <p:cNvPr id="15" name="Shape 13"/>
          <p:cNvSpPr/>
          <p:nvPr/>
        </p:nvSpPr>
        <p:spPr>
          <a:xfrm>
            <a:off x="8723376" y="2628900"/>
            <a:ext cx="246888" cy="0"/>
          </a:xfrm>
          <a:prstGeom prst="line">
            <a:avLst/>
          </a:prstGeom>
          <a:noFill/>
          <a:ln w="22225">
            <a:solidFill>
              <a:srgbClr val="9CC3D1"/>
            </a:solidFill>
            <a:prstDash val="solid"/>
            <a:tailEnd type="triangle"/>
          </a:ln>
        </p:spPr>
      </p:sp>
      <p:sp>
        <p:nvSpPr>
          <p:cNvPr id="16" name="Shape 14"/>
          <p:cNvSpPr/>
          <p:nvPr/>
        </p:nvSpPr>
        <p:spPr>
          <a:xfrm>
            <a:off x="8970264" y="1828800"/>
            <a:ext cx="2560320" cy="1600200"/>
          </a:xfrm>
          <a:prstGeom prst="roundRect">
            <a:avLst>
              <a:gd name="adj" fmla="val 4571"/>
            </a:avLst>
          </a:prstGeom>
          <a:solidFill>
            <a:schemeClr val="tx1"/>
          </a:solidFill>
          <a:ln w="9525">
            <a:solidFill>
              <a:srgbClr val="1C7293"/>
            </a:solidFill>
            <a:prstDash val="solid"/>
          </a:ln>
        </p:spPr>
      </p:sp>
      <p:sp>
        <p:nvSpPr>
          <p:cNvPr id="17" name="Text 15"/>
          <p:cNvSpPr txBox="1"/>
          <p:nvPr/>
        </p:nvSpPr>
        <p:spPr>
          <a:xfrm>
            <a:off x="9153144" y="1965960"/>
            <a:ext cx="2194560" cy="548640"/>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Approve in one click</a:t>
            </a:r>
            <a:endParaRPr lang="en-US" sz="1600" dirty="0"/>
          </a:p>
        </p:txBody>
      </p:sp>
      <p:sp>
        <p:nvSpPr>
          <p:cNvPr id="18" name="Text 16"/>
          <p:cNvSpPr txBox="1"/>
          <p:nvPr/>
        </p:nvSpPr>
        <p:spPr>
          <a:xfrm>
            <a:off x="9153144" y="2560320"/>
            <a:ext cx="2194560" cy="822960"/>
          </a:xfrm>
          <a:prstGeom prst="rect">
            <a:avLst/>
          </a:prstGeom>
          <a:noFill/>
          <a:ln/>
        </p:spPr>
        <p:txBody>
          <a:bodyPr wrap="square" lIns="0" tIns="0" rIns="0" bIns="0" rtlCol="0" anchor="t"/>
          <a:lstStyle/>
          <a:p>
            <a:pPr indent="0" marL="0">
              <a:buNone/>
            </a:pPr>
            <a:r>
              <a:rPr lang="en-US" sz="1300" dirty="0">
                <a:solidFill>
                  <a:srgbClr val="DDE8EC"/>
                </a:solidFill>
              </a:rPr>
              <a:t>A person approves the proven fix. The approval is logged.</a:t>
            </a:r>
            <a:endParaRPr lang="en-US" sz="1300" dirty="0"/>
          </a:p>
        </p:txBody>
      </p:sp>
      <p:sp>
        <p:nvSpPr>
          <p:cNvPr id="19" name="Text 17"/>
          <p:cNvSpPr txBox="1"/>
          <p:nvPr/>
        </p:nvSpPr>
        <p:spPr>
          <a:xfrm>
            <a:off x="548640" y="3749040"/>
            <a:ext cx="7315200" cy="274320"/>
          </a:xfrm>
          <a:prstGeom prst="rect">
            <a:avLst/>
          </a:prstGeom>
          <a:noFill/>
          <a:ln/>
        </p:spPr>
        <p:txBody>
          <a:bodyPr wrap="square" lIns="0" tIns="0" rIns="0" bIns="0" rtlCol="0" anchor="t"/>
          <a:lstStyle/>
          <a:p>
            <a:pPr indent="0" marL="0">
              <a:buNone/>
            </a:pPr>
            <a:r>
              <a:rPr lang="en-US" sz="1400" b="1" dirty="0">
                <a:solidFill>
                  <a:srgbClr val="5B7684"/>
                </a:solidFill>
              </a:rPr>
              <a:t>Next, in this order (planned, not built)</a:t>
            </a:r>
            <a:endParaRPr lang="en-US" sz="1400" dirty="0"/>
          </a:p>
        </p:txBody>
      </p:sp>
      <p:sp>
        <p:nvSpPr>
          <p:cNvPr id="20" name="Shape 18"/>
          <p:cNvSpPr/>
          <p:nvPr/>
        </p:nvSpPr>
        <p:spPr>
          <a:xfrm>
            <a:off x="548640" y="4069080"/>
            <a:ext cx="2560320" cy="1965960"/>
          </a:xfrm>
          <a:prstGeom prst="roundRect">
            <a:avLst>
              <a:gd name="adj" fmla="val 3721"/>
            </a:avLst>
          </a:prstGeom>
          <a:solidFill>
            <a:schemeClr val="tx1"/>
          </a:solidFill>
          <a:ln w="9525">
            <a:solidFill>
              <a:srgbClr val="1C7293"/>
            </a:solidFill>
            <a:prstDash val="solid"/>
          </a:ln>
        </p:spPr>
      </p:sp>
      <p:sp>
        <p:nvSpPr>
          <p:cNvPr id="21" name="Text 19"/>
          <p:cNvSpPr txBox="1"/>
          <p:nvPr/>
        </p:nvSpPr>
        <p:spPr>
          <a:xfrm>
            <a:off x="731520" y="4206240"/>
            <a:ext cx="2194560" cy="594360"/>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A blind test by someone else</a:t>
            </a:r>
            <a:endParaRPr lang="en-US" sz="1500" dirty="0"/>
          </a:p>
        </p:txBody>
      </p:sp>
      <p:sp>
        <p:nvSpPr>
          <p:cNvPr id="22" name="Text 20"/>
          <p:cNvSpPr txBox="1"/>
          <p:nvPr/>
        </p:nvSpPr>
        <p:spPr>
          <a:xfrm>
            <a:off x="731520" y="4846320"/>
            <a:ext cx="2194560" cy="1097280"/>
          </a:xfrm>
          <a:prstGeom prst="rect">
            <a:avLst/>
          </a:prstGeom>
          <a:noFill/>
          <a:ln/>
        </p:spPr>
        <p:txBody>
          <a:bodyPr wrap="square" lIns="0" tIns="0" rIns="0" bIns="0" rtlCol="0" anchor="t"/>
          <a:lstStyle/>
          <a:p>
            <a:pPr indent="0" marL="0">
              <a:buNone/>
            </a:pPr>
            <a:r>
              <a:rPr lang="en-US" sz="1300" dirty="0">
                <a:solidFill>
                  <a:srgbClr val="DDE8EC"/>
                </a:solidFill>
              </a:rPr>
              <a:t>Someone who did not build it plants faults. Results published unedited, misses included.</a:t>
            </a:r>
            <a:endParaRPr lang="en-US" sz="1300" dirty="0"/>
          </a:p>
        </p:txBody>
      </p:sp>
      <p:sp>
        <p:nvSpPr>
          <p:cNvPr id="23" name="Shape 21"/>
          <p:cNvSpPr/>
          <p:nvPr/>
        </p:nvSpPr>
        <p:spPr>
          <a:xfrm>
            <a:off x="3355848" y="4069080"/>
            <a:ext cx="2560320" cy="1965960"/>
          </a:xfrm>
          <a:prstGeom prst="roundRect">
            <a:avLst>
              <a:gd name="adj" fmla="val 3721"/>
            </a:avLst>
          </a:prstGeom>
          <a:solidFill>
            <a:schemeClr val="tx1"/>
          </a:solidFill>
          <a:ln w="9525">
            <a:solidFill>
              <a:srgbClr val="1C7293"/>
            </a:solidFill>
            <a:prstDash val="solid"/>
          </a:ln>
        </p:spPr>
      </p:sp>
      <p:sp>
        <p:nvSpPr>
          <p:cNvPr id="24" name="Text 22"/>
          <p:cNvSpPr txBox="1"/>
          <p:nvPr/>
        </p:nvSpPr>
        <p:spPr>
          <a:xfrm>
            <a:off x="3538728" y="4206240"/>
            <a:ext cx="2194560" cy="594360"/>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Mac, Linux and Docker runs</a:t>
            </a:r>
            <a:endParaRPr lang="en-US" sz="1500" dirty="0"/>
          </a:p>
        </p:txBody>
      </p:sp>
      <p:sp>
        <p:nvSpPr>
          <p:cNvPr id="25" name="Text 23"/>
          <p:cNvSpPr txBox="1"/>
          <p:nvPr/>
        </p:nvSpPr>
        <p:spPr>
          <a:xfrm>
            <a:off x="3538728" y="4846320"/>
            <a:ext cx="2194560" cy="1097280"/>
          </a:xfrm>
          <a:prstGeom prst="rect">
            <a:avLst/>
          </a:prstGeom>
          <a:noFill/>
          <a:ln/>
        </p:spPr>
        <p:txBody>
          <a:bodyPr wrap="square" lIns="0" tIns="0" rIns="0" bIns="0" rtlCol="0" anchor="t"/>
          <a:lstStyle/>
          <a:p>
            <a:pPr indent="0" marL="0">
              <a:buNone/>
            </a:pPr>
            <a:r>
              <a:rPr lang="en-US" sz="1300" dirty="0">
                <a:solidFill>
                  <a:srgbClr val="DDE8EC"/>
                </a:solidFill>
              </a:rPr>
              <a:t>Run the scripts and the image on real machines.</a:t>
            </a:r>
            <a:endParaRPr lang="en-US" sz="1300" dirty="0"/>
          </a:p>
        </p:txBody>
      </p:sp>
      <p:sp>
        <p:nvSpPr>
          <p:cNvPr id="26" name="Shape 24"/>
          <p:cNvSpPr/>
          <p:nvPr/>
        </p:nvSpPr>
        <p:spPr>
          <a:xfrm>
            <a:off x="6163056" y="4069080"/>
            <a:ext cx="2560320" cy="1965960"/>
          </a:xfrm>
          <a:prstGeom prst="roundRect">
            <a:avLst>
              <a:gd name="adj" fmla="val 3721"/>
            </a:avLst>
          </a:prstGeom>
          <a:solidFill>
            <a:schemeClr val="tx1"/>
          </a:solidFill>
          <a:ln w="9525">
            <a:solidFill>
              <a:srgbClr val="1C7293"/>
            </a:solidFill>
            <a:prstDash val="solid"/>
          </a:ln>
        </p:spPr>
      </p:sp>
      <p:sp>
        <p:nvSpPr>
          <p:cNvPr id="27" name="Text 25"/>
          <p:cNvSpPr txBox="1"/>
          <p:nvPr/>
        </p:nvSpPr>
        <p:spPr>
          <a:xfrm>
            <a:off x="6345936" y="4206240"/>
            <a:ext cx="2194560" cy="594360"/>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Close the small-slice gap</a:t>
            </a:r>
            <a:endParaRPr lang="en-US" sz="1500" dirty="0"/>
          </a:p>
        </p:txBody>
      </p:sp>
      <p:sp>
        <p:nvSpPr>
          <p:cNvPr id="28" name="Text 26"/>
          <p:cNvSpPr txBox="1"/>
          <p:nvPr/>
        </p:nvSpPr>
        <p:spPr>
          <a:xfrm>
            <a:off x="6345936" y="4846320"/>
            <a:ext cx="2194560" cy="1097280"/>
          </a:xfrm>
          <a:prstGeom prst="rect">
            <a:avLst/>
          </a:prstGeom>
          <a:noFill/>
          <a:ln/>
        </p:spPr>
        <p:txBody>
          <a:bodyPr wrap="square" lIns="0" tIns="0" rIns="0" bIns="0" rtlCol="0" anchor="t"/>
          <a:lstStyle/>
          <a:p>
            <a:pPr indent="0" marL="0">
              <a:buNone/>
            </a:pPr>
            <a:r>
              <a:rPr lang="en-US" sz="1300" dirty="0">
                <a:solidFill>
                  <a:srgbClr val="DDE8EC"/>
                </a:solidFill>
              </a:rPr>
              <a:t>Reject a correction that does not match the detector's own size estimate, tested on fresh held-out cases.</a:t>
            </a:r>
            <a:endParaRPr lang="en-US" sz="1300" dirty="0"/>
          </a:p>
        </p:txBody>
      </p:sp>
      <p:sp>
        <p:nvSpPr>
          <p:cNvPr id="29" name="Shape 27"/>
          <p:cNvSpPr/>
          <p:nvPr/>
        </p:nvSpPr>
        <p:spPr>
          <a:xfrm>
            <a:off x="8970264" y="4069080"/>
            <a:ext cx="2560320" cy="1965960"/>
          </a:xfrm>
          <a:prstGeom prst="roundRect">
            <a:avLst>
              <a:gd name="adj" fmla="val 3721"/>
            </a:avLst>
          </a:prstGeom>
          <a:solidFill>
            <a:schemeClr val="tx1"/>
          </a:solidFill>
          <a:ln w="9525">
            <a:solidFill>
              <a:srgbClr val="1C7293"/>
            </a:solidFill>
            <a:prstDash val="solid"/>
          </a:ln>
        </p:spPr>
      </p:sp>
      <p:sp>
        <p:nvSpPr>
          <p:cNvPr id="30" name="Text 28"/>
          <p:cNvSpPr txBox="1"/>
          <p:nvPr/>
        </p:nvSpPr>
        <p:spPr>
          <a:xfrm>
            <a:off x="9153144" y="4206240"/>
            <a:ext cx="2194560" cy="594360"/>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Close the x10 gap</a:t>
            </a:r>
            <a:endParaRPr lang="en-US" sz="1500" dirty="0"/>
          </a:p>
        </p:txBody>
      </p:sp>
      <p:sp>
        <p:nvSpPr>
          <p:cNvPr id="31" name="Text 29"/>
          <p:cNvSpPr txBox="1"/>
          <p:nvPr/>
        </p:nvSpPr>
        <p:spPr>
          <a:xfrm>
            <a:off x="9153144" y="4846320"/>
            <a:ext cx="2194560" cy="1097280"/>
          </a:xfrm>
          <a:prstGeom prst="rect">
            <a:avLst/>
          </a:prstGeom>
          <a:noFill/>
          <a:ln/>
        </p:spPr>
        <p:txBody>
          <a:bodyPr wrap="square" lIns="0" tIns="0" rIns="0" bIns="0" rtlCol="0" anchor="t"/>
          <a:lstStyle/>
          <a:p>
            <a:pPr indent="0" marL="0">
              <a:buNone/>
            </a:pPr>
            <a:r>
              <a:rPr lang="en-US" sz="1300" dirty="0">
                <a:solidFill>
                  <a:srgbClr val="DDE8EC"/>
                </a:solidFill>
              </a:rPr>
              <a:t>Test a lower amount cut on fresh held-out cases, with the undo test deciding.</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Run it yourself in minutes</a:t>
            </a:r>
            <a:endParaRPr lang="en-US" sz="3400" dirty="0"/>
          </a:p>
        </p:txBody>
      </p:sp>
      <p:sp>
        <p:nvSpPr>
          <p:cNvPr id="3" name="Shape 1"/>
          <p:cNvSpPr/>
          <p:nvPr/>
        </p:nvSpPr>
        <p:spPr>
          <a:xfrm>
            <a:off x="548640" y="1645920"/>
            <a:ext cx="6675120" cy="4434840"/>
          </a:xfrm>
          <a:prstGeom prst="roundRect">
            <a:avLst>
              <a:gd name="adj" fmla="val 1649"/>
            </a:avLst>
          </a:prstGeom>
          <a:solidFill>
            <a:schemeClr val="tx1"/>
          </a:solidFill>
          <a:ln w="9525">
            <a:solidFill>
              <a:srgbClr val="1C7293"/>
            </a:solidFill>
            <a:prstDash val="solid"/>
          </a:ln>
        </p:spPr>
      </p:sp>
      <p:sp>
        <p:nvSpPr>
          <p:cNvPr id="4" name="Text 2"/>
          <p:cNvSpPr txBox="1"/>
          <p:nvPr/>
        </p:nvSpPr>
        <p:spPr>
          <a:xfrm>
            <a:off x="777240" y="1828800"/>
            <a:ext cx="6309360" cy="20116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git clone https://github.com/AakashMutum/receipts</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cd receipts</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run.bat              # Windows</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                     # macOS: run.command</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                     # Linux: ./run.sh</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receipts judge-check # 20 runs, 8 checks</a:t>
            </a:r>
            <a:endParaRPr lang="en-US" sz="1400" dirty="0"/>
          </a:p>
        </p:txBody>
      </p:sp>
      <p:sp>
        <p:nvSpPr>
          <p:cNvPr id="5" name="Text 3"/>
          <p:cNvSpPr txBox="1"/>
          <p:nvPr/>
        </p:nvSpPr>
        <p:spPr>
          <a:xfrm>
            <a:off x="777240" y="3840480"/>
            <a:ext cx="6309360" cy="2103120"/>
          </a:xfrm>
          <a:prstGeom prst="rect">
            <a:avLst/>
          </a:prstGeom>
          <a:noFill/>
          <a:ln/>
        </p:spPr>
        <p:txBody>
          <a:bodyPr wrap="square" lIns="0" tIns="0" rIns="0" bIns="0" rtlCol="0" anchor="t"/>
          <a:lstStyle/>
          <a:p>
            <a:pPr indent="0" marL="0">
              <a:buNone/>
            </a:pPr>
            <a:r>
              <a:rPr lang="en-US" sz="1400" dirty="0">
                <a:solidFill>
                  <a:srgbClr val="DDE8EC"/>
                </a:solidFill>
                <a:latin typeface="Courier New" pitchFamily="34" charset="0"/>
                <a:ea typeface="Courier New" pitchFamily="34" charset="-122"/>
                <a:cs typeface="Courier New" pitchFamily="34" charset="-120"/>
              </a:rPr>
              <a:t># on Exasol Personal</a:t>
            </a:r>
            <a:endParaRPr lang="en-US" sz="1400" dirty="0"/>
          </a:p>
          <a:p>
            <a:pPr indent="0" marL="0">
              <a:buNone/>
            </a:pPr>
            <a:r>
              <a:rPr lang="en-US" sz="1400" dirty="0">
                <a:solidFill>
                  <a:srgbClr val="DDE8EC"/>
                </a:solidFill>
                <a:latin typeface="Courier New" pitchFamily="34" charset="0"/>
                <a:ea typeface="Courier New" pitchFamily="34" charset="-122"/>
                <a:cs typeface="Courier New" pitchFamily="34" charset="-120"/>
              </a:rPr>
              <a:t>run-exasol.bat       # or run-exasol.command / .sh</a:t>
            </a:r>
            <a:endParaRPr lang="en-US" sz="1400" dirty="0"/>
          </a:p>
          <a:p>
            <a:pPr indent="0" marL="0">
              <a:buNone/>
            </a:pPr>
            <a:r>
              <a:rPr lang="en-US" sz="1400" dirty="0">
                <a:solidFill>
                  <a:srgbClr val="DDE8EC"/>
                </a:solidFill>
                <a:latin typeface="Courier New" pitchFamily="34" charset="0"/>
                <a:ea typeface="Courier New" pitchFamily="34" charset="-122"/>
                <a:cs typeface="Courier New" pitchFamily="34" charset="-120"/>
              </a:rPr>
              <a:t>receipts doctor</a:t>
            </a:r>
            <a:endParaRPr lang="en-US" sz="1400" dirty="0"/>
          </a:p>
          <a:p>
            <a:pPr indent="0" marL="0">
              <a:buNone/>
            </a:pPr>
            <a:r>
              <a:rPr lang="en-US" sz="1400" dirty="0">
                <a:solidFill>
                  <a:srgbClr val="DDE8EC"/>
                </a:solidFill>
                <a:latin typeface="Courier New" pitchFamily="34" charset="0"/>
                <a:ea typeface="Courier New" pitchFamily="34" charset="-122"/>
                <a:cs typeface="Courier New" pitchFamily="34" charset="-120"/>
              </a:rPr>
              <a:t>receipts redteam --backend exasol</a:t>
            </a:r>
            <a:endParaRPr lang="en-US" sz="1400" dirty="0"/>
          </a:p>
          <a:p>
            <a:pPr indent="0" marL="0">
              <a:buNone/>
            </a:pPr>
            <a:r>
              <a:rPr lang="en-US" sz="1400" dirty="0">
                <a:solidFill>
                  <a:srgbClr val="DDE8EC"/>
                </a:solidFill>
                <a:latin typeface="Courier New" pitchFamily="34" charset="0"/>
                <a:ea typeface="Courier New" pitchFamily="34" charset="-122"/>
                <a:cs typeface="Courier New" pitchFamily="34" charset="-120"/>
              </a:rPr>
              <a:t>receipts backtest --backend exasol</a:t>
            </a:r>
            <a:endParaRPr lang="en-US" sz="1400" dirty="0"/>
          </a:p>
        </p:txBody>
      </p:sp>
      <p:sp>
        <p:nvSpPr>
          <p:cNvPr id="6" name="Shape 4"/>
          <p:cNvSpPr/>
          <p:nvPr/>
        </p:nvSpPr>
        <p:spPr>
          <a:xfrm>
            <a:off x="7543800" y="1645920"/>
            <a:ext cx="4069080" cy="1005840"/>
          </a:xfrm>
          <a:prstGeom prst="roundRect">
            <a:avLst>
              <a:gd name="adj" fmla="val 727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7726680" y="1737360"/>
            <a:ext cx="37490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169 tests</a:t>
            </a:r>
            <a:endParaRPr lang="en-US" sz="1800" dirty="0"/>
          </a:p>
        </p:txBody>
      </p:sp>
      <p:sp>
        <p:nvSpPr>
          <p:cNvPr id="8" name="Text 6"/>
          <p:cNvSpPr txBox="1"/>
          <p:nvPr/>
        </p:nvSpPr>
        <p:spPr>
          <a:xfrm>
            <a:off x="7726680" y="2121408"/>
            <a:ext cx="3749040" cy="502920"/>
          </a:xfrm>
          <a:prstGeom prst="rect">
            <a:avLst/>
          </a:prstGeom>
          <a:noFill/>
          <a:ln/>
        </p:spPr>
        <p:txBody>
          <a:bodyPr wrap="square" lIns="0" tIns="0" rIns="0" bIns="0" rtlCol="0" anchor="t"/>
          <a:lstStyle/>
          <a:p>
            <a:pPr indent="0" marL="0">
              <a:buNone/>
            </a:pPr>
            <a:r>
              <a:rPr lang="en-US" sz="1200" dirty="0">
                <a:solidFill>
                  <a:schemeClr val="tx1"/>
                </a:solidFill>
              </a:rPr>
              <a:t>pytest plus judge-check run on every push through GitHub Actions; 2 run only against a live Exasol</a:t>
            </a:r>
            <a:endParaRPr lang="en-US" sz="1200" dirty="0"/>
          </a:p>
        </p:txBody>
      </p:sp>
      <p:sp>
        <p:nvSpPr>
          <p:cNvPr id="9" name="Shape 7"/>
          <p:cNvSpPr/>
          <p:nvPr/>
        </p:nvSpPr>
        <p:spPr>
          <a:xfrm>
            <a:off x="7543800" y="2770632"/>
            <a:ext cx="4069080" cy="1005840"/>
          </a:xfrm>
          <a:prstGeom prst="roundRect">
            <a:avLst>
              <a:gd name="adj" fmla="val 727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7726680" y="2862072"/>
            <a:ext cx="37490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MIT licence</a:t>
            </a:r>
            <a:endParaRPr lang="en-US" sz="1800" dirty="0"/>
          </a:p>
        </p:txBody>
      </p:sp>
      <p:sp>
        <p:nvSpPr>
          <p:cNvPr id="11" name="Text 9"/>
          <p:cNvSpPr txBox="1"/>
          <p:nvPr/>
        </p:nvSpPr>
        <p:spPr>
          <a:xfrm>
            <a:off x="7726680" y="3246120"/>
            <a:ext cx="3749040" cy="502920"/>
          </a:xfrm>
          <a:prstGeom prst="rect">
            <a:avLst/>
          </a:prstGeom>
          <a:noFill/>
          <a:ln/>
        </p:spPr>
        <p:txBody>
          <a:bodyPr wrap="square" lIns="0" tIns="0" rIns="0" bIns="0" rtlCol="0" anchor="t"/>
          <a:lstStyle/>
          <a:p>
            <a:pPr indent="0" marL="0">
              <a:buNone/>
            </a:pPr>
            <a:r>
              <a:rPr lang="en-US" sz="1200" dirty="0">
                <a:solidFill>
                  <a:schemeClr val="tx1"/>
                </a:solidFill>
              </a:rPr>
              <a:t>public repository, contributing guide, security notes, issue and pull request templates</a:t>
            </a:r>
            <a:endParaRPr lang="en-US" sz="1200" dirty="0"/>
          </a:p>
        </p:txBody>
      </p:sp>
      <p:sp>
        <p:nvSpPr>
          <p:cNvPr id="12" name="Shape 10"/>
          <p:cNvSpPr/>
          <p:nvPr/>
        </p:nvSpPr>
        <p:spPr>
          <a:xfrm>
            <a:off x="7543800" y="3895344"/>
            <a:ext cx="4069080" cy="1005840"/>
          </a:xfrm>
          <a:prstGeom prst="roundRect">
            <a:avLst>
              <a:gd name="adj" fmla="val 727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7726680" y="3986784"/>
            <a:ext cx="37490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Reproducible</a:t>
            </a:r>
            <a:endParaRPr lang="en-US" sz="1800" dirty="0"/>
          </a:p>
        </p:txBody>
      </p:sp>
      <p:sp>
        <p:nvSpPr>
          <p:cNvPr id="14" name="Text 12"/>
          <p:cNvSpPr txBox="1"/>
          <p:nvPr/>
        </p:nvSpPr>
        <p:spPr>
          <a:xfrm>
            <a:off x="7726680" y="4370832"/>
            <a:ext cx="3749040" cy="502920"/>
          </a:xfrm>
          <a:prstGeom prst="rect">
            <a:avLst/>
          </a:prstGeom>
          <a:noFill/>
          <a:ln/>
        </p:spPr>
        <p:txBody>
          <a:bodyPr wrap="square" lIns="0" tIns="0" rIns="0" bIns="0" rtlCol="0" anchor="t"/>
          <a:lstStyle/>
          <a:p>
            <a:pPr indent="0" marL="0">
              <a:buNone/>
            </a:pPr>
            <a:r>
              <a:rPr lang="en-US" sz="1200" dirty="0">
                <a:solidFill>
                  <a:schemeClr val="tx1"/>
                </a:solidFill>
              </a:rPr>
              <a:t>every report in samples/ names the command that made it</a:t>
            </a:r>
            <a:endParaRPr lang="en-US" sz="1200" dirty="0"/>
          </a:p>
        </p:txBody>
      </p:sp>
      <p:sp>
        <p:nvSpPr>
          <p:cNvPr id="15" name="Shape 13"/>
          <p:cNvSpPr/>
          <p:nvPr/>
        </p:nvSpPr>
        <p:spPr>
          <a:xfrm>
            <a:off x="7543800" y="5020056"/>
            <a:ext cx="4069080" cy="1005840"/>
          </a:xfrm>
          <a:prstGeom prst="roundRect">
            <a:avLst>
              <a:gd name="adj" fmla="val 7273"/>
            </a:avLst>
          </a:prstGeom>
          <a:solidFill>
            <a:schemeClr val="bg1"/>
          </a:solidFill>
          <a:ln w="9525">
            <a:solidFill>
              <a:srgbClr val="9CC3D1"/>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726680" y="5111496"/>
            <a:ext cx="374904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Documented</a:t>
            </a:r>
            <a:endParaRPr lang="en-US" sz="1800" dirty="0"/>
          </a:p>
        </p:txBody>
      </p:sp>
      <p:sp>
        <p:nvSpPr>
          <p:cNvPr id="17" name="Text 15"/>
          <p:cNvSpPr txBox="1"/>
          <p:nvPr/>
        </p:nvSpPr>
        <p:spPr>
          <a:xfrm>
            <a:off x="7726680" y="5495544"/>
            <a:ext cx="3749040" cy="502920"/>
          </a:xfrm>
          <a:prstGeom prst="rect">
            <a:avLst/>
          </a:prstGeom>
          <a:noFill/>
          <a:ln/>
        </p:spPr>
        <p:txBody>
          <a:bodyPr wrap="square" lIns="0" tIns="0" rIns="0" bIns="0" rtlCol="0" anchor="t"/>
          <a:lstStyle/>
          <a:p>
            <a:pPr indent="0" marL="0">
              <a:buNone/>
            </a:pPr>
            <a:r>
              <a:rPr lang="en-US" sz="1200" dirty="0">
                <a:solidFill>
                  <a:schemeClr val="tx1"/>
                </a:solidFill>
              </a:rPr>
              <a:t>JUDGES.md brief, NOVELTY.md, run guide, evaluation card and diagrams in the README</a:t>
            </a:r>
            <a:endParaRPr lang="en-US" sz="1200" dirty="0"/>
          </a:p>
        </p:txBody>
      </p:sp>
      <p:sp>
        <p:nvSpPr>
          <p:cNvPr id="18" name="Text 16"/>
          <p:cNvSpPr txBox="1"/>
          <p:nvPr/>
        </p:nvSpPr>
        <p:spPr>
          <a:xfrm>
            <a:off x="548640" y="6172200"/>
            <a:ext cx="6675120" cy="228600"/>
          </a:xfrm>
          <a:prstGeom prst="rect">
            <a:avLst/>
          </a:prstGeom>
          <a:noFill/>
          <a:ln/>
        </p:spPr>
        <p:txBody>
          <a:bodyPr wrap="square" lIns="0" tIns="0" rIns="0" bIns="0" rtlCol="0" anchor="t"/>
          <a:lstStyle/>
          <a:p>
            <a:pPr indent="0" marL="0">
              <a:buNone/>
            </a:pPr>
            <a:r>
              <a:rPr lang="en-US" sz="1100" dirty="0">
                <a:solidFill>
                  <a:srgbClr val="5B7684"/>
                </a:solidFill>
              </a:rPr>
              <a:t>judge-check needs no database and no API key. Mac and Linux scripts have not been run on real machines [15].</a:t>
            </a:r>
            <a:endParaRPr lang="en-US" sz="11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References, third-party sources</a:t>
            </a:r>
            <a:endParaRPr lang="en-US" sz="3400" dirty="0"/>
          </a:p>
        </p:txBody>
      </p:sp>
      <p:sp>
        <p:nvSpPr>
          <p:cNvPr id="3" name="Text 1"/>
          <p:cNvSpPr txBox="1"/>
          <p:nvPr/>
        </p:nvSpPr>
        <p:spPr>
          <a:xfrm>
            <a:off x="548640" y="1508760"/>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[1]</a:t>
            </a:r>
            <a:endParaRPr lang="en-US" sz="1200" dirty="0"/>
          </a:p>
        </p:txBody>
      </p:sp>
      <p:sp>
        <p:nvSpPr>
          <p:cNvPr id="4" name="Text 2"/>
          <p:cNvSpPr txBox="1"/>
          <p:nvPr/>
        </p:nvSpPr>
        <p:spPr>
          <a:xfrm>
            <a:off x="1143000" y="1508760"/>
            <a:ext cx="10424160" cy="548640"/>
          </a:xfrm>
          <a:prstGeom prst="rect">
            <a:avLst/>
          </a:prstGeom>
          <a:noFill/>
          <a:ln/>
        </p:spPr>
        <p:txBody>
          <a:bodyPr wrap="square" lIns="0" tIns="0" rIns="0" bIns="0" rtlCol="0" anchor="t"/>
          <a:lstStyle/>
          <a:p>
            <a:pPr indent="0" marL="0">
              <a:buNone/>
            </a:pPr>
            <a:r>
              <a:rPr lang="en-US" sz="1200" dirty="0">
                <a:solidFill>
                  <a:schemeClr val="tx1"/>
                </a:solidFill>
              </a:rPr>
              <a:t>Gartner. Data quality topic page, citing Gartner research from 2020 for the $12.9 million average annual cost. gartner.com/en/data-analytics/topics/data-quality</a:t>
            </a:r>
            <a:endParaRPr lang="en-US" sz="1200" dirty="0"/>
          </a:p>
        </p:txBody>
      </p:sp>
      <p:sp>
        <p:nvSpPr>
          <p:cNvPr id="5" name="Text 3"/>
          <p:cNvSpPr txBox="1"/>
          <p:nvPr/>
        </p:nvSpPr>
        <p:spPr>
          <a:xfrm>
            <a:off x="548640" y="2148840"/>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[2]</a:t>
            </a:r>
            <a:endParaRPr lang="en-US" sz="1200" dirty="0"/>
          </a:p>
        </p:txBody>
      </p:sp>
      <p:sp>
        <p:nvSpPr>
          <p:cNvPr id="6" name="Text 4"/>
          <p:cNvSpPr txBox="1"/>
          <p:nvPr/>
        </p:nvSpPr>
        <p:spPr>
          <a:xfrm>
            <a:off x="1143000" y="2148840"/>
            <a:ext cx="10424160" cy="548640"/>
          </a:xfrm>
          <a:prstGeom prst="rect">
            <a:avLst/>
          </a:prstGeom>
          <a:noFill/>
          <a:ln/>
        </p:spPr>
        <p:txBody>
          <a:bodyPr wrap="square" lIns="0" tIns="0" rIns="0" bIns="0" rtlCol="0" anchor="t"/>
          <a:lstStyle/>
          <a:p>
            <a:pPr indent="0" marL="0">
              <a:buNone/>
            </a:pPr>
            <a:r>
              <a:rPr lang="en-US" sz="1200" dirty="0">
                <a:solidFill>
                  <a:schemeClr val="tx1"/>
                </a:solidFill>
              </a:rPr>
              <a:t>Monte Carlo and Wakefield Research. "Data Downtime Nearly Doubled Year Over Year" (survey of 200 data professionals, March 2023). Business Wire, 2 May 2023. businesswire.com/news/home/20230502005377/en</a:t>
            </a:r>
            <a:endParaRPr lang="en-US" sz="1200" dirty="0"/>
          </a:p>
        </p:txBody>
      </p:sp>
      <p:sp>
        <p:nvSpPr>
          <p:cNvPr id="7" name="Text 5"/>
          <p:cNvSpPr txBox="1"/>
          <p:nvPr/>
        </p:nvSpPr>
        <p:spPr>
          <a:xfrm>
            <a:off x="548640" y="2788920"/>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[3]</a:t>
            </a:r>
            <a:endParaRPr lang="en-US" sz="1200" dirty="0"/>
          </a:p>
        </p:txBody>
      </p:sp>
      <p:sp>
        <p:nvSpPr>
          <p:cNvPr id="8" name="Text 6"/>
          <p:cNvSpPr txBox="1"/>
          <p:nvPr/>
        </p:nvSpPr>
        <p:spPr>
          <a:xfrm>
            <a:off x="1143000" y="2788920"/>
            <a:ext cx="10424160" cy="548640"/>
          </a:xfrm>
          <a:prstGeom prst="rect">
            <a:avLst/>
          </a:prstGeom>
          <a:noFill/>
          <a:ln/>
        </p:spPr>
        <p:txBody>
          <a:bodyPr wrap="square" lIns="0" tIns="0" rIns="0" bIns="0" rtlCol="0" anchor="t"/>
          <a:lstStyle/>
          <a:p>
            <a:pPr indent="0" marL="0">
              <a:buNone/>
            </a:pPr>
            <a:r>
              <a:rPr lang="en-US" sz="1200" dirty="0">
                <a:solidFill>
                  <a:schemeClr val="tx1"/>
                </a:solidFill>
              </a:rPr>
              <a:t>Monte Carlo and Wakefield Research. Survey of 300 data professionals (40% of time checking data quality). Business Wire, 9 Aug 2022. businesswire.com/news/home/20220809005223/en</a:t>
            </a:r>
            <a:endParaRPr lang="en-US" sz="1200" dirty="0"/>
          </a:p>
        </p:txBody>
      </p:sp>
      <p:sp>
        <p:nvSpPr>
          <p:cNvPr id="9" name="Text 7"/>
          <p:cNvSpPr txBox="1"/>
          <p:nvPr/>
        </p:nvSpPr>
        <p:spPr>
          <a:xfrm>
            <a:off x="548640" y="3429000"/>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[4]</a:t>
            </a:r>
            <a:endParaRPr lang="en-US" sz="1200" dirty="0"/>
          </a:p>
        </p:txBody>
      </p:sp>
      <p:sp>
        <p:nvSpPr>
          <p:cNvPr id="10" name="Text 8"/>
          <p:cNvSpPr txBox="1"/>
          <p:nvPr/>
        </p:nvSpPr>
        <p:spPr>
          <a:xfrm>
            <a:off x="1143000" y="3429000"/>
            <a:ext cx="10424160" cy="301752"/>
          </a:xfrm>
          <a:prstGeom prst="rect">
            <a:avLst/>
          </a:prstGeom>
          <a:noFill/>
          <a:ln/>
        </p:spPr>
        <p:txBody>
          <a:bodyPr wrap="square" lIns="0" tIns="0" rIns="0" bIns="0" rtlCol="0" anchor="t"/>
          <a:lstStyle/>
          <a:p>
            <a:pPr indent="0" marL="0">
              <a:buNone/>
            </a:pPr>
            <a:r>
              <a:rPr lang="en-US" sz="1200" dirty="0">
                <a:solidFill>
                  <a:schemeClr val="tx1"/>
                </a:solidFill>
              </a:rPr>
              <a:t>Monte Carlo. Platform and agents (troubleshooting, root cause, lineage). montecarlo.ai/platform/agents</a:t>
            </a:r>
            <a:endParaRPr lang="en-US" sz="1200" dirty="0"/>
          </a:p>
        </p:txBody>
      </p:sp>
      <p:sp>
        <p:nvSpPr>
          <p:cNvPr id="11" name="Text 9"/>
          <p:cNvSpPr txBox="1"/>
          <p:nvPr/>
        </p:nvSpPr>
        <p:spPr>
          <a:xfrm>
            <a:off x="548640" y="3822192"/>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[5]</a:t>
            </a:r>
            <a:endParaRPr lang="en-US" sz="1200" dirty="0"/>
          </a:p>
        </p:txBody>
      </p:sp>
      <p:sp>
        <p:nvSpPr>
          <p:cNvPr id="12" name="Text 10"/>
          <p:cNvSpPr txBox="1"/>
          <p:nvPr/>
        </p:nvSpPr>
        <p:spPr>
          <a:xfrm>
            <a:off x="1143000" y="3822192"/>
            <a:ext cx="10424160" cy="301752"/>
          </a:xfrm>
          <a:prstGeom prst="rect">
            <a:avLst/>
          </a:prstGeom>
          <a:noFill/>
          <a:ln/>
        </p:spPr>
        <p:txBody>
          <a:bodyPr wrap="square" lIns="0" tIns="0" rIns="0" bIns="0" rtlCol="0" anchor="t"/>
          <a:lstStyle/>
          <a:p>
            <a:pPr indent="0" marL="0">
              <a:buNone/>
            </a:pPr>
            <a:r>
              <a:rPr lang="en-US" sz="1200" dirty="0">
                <a:solidFill>
                  <a:schemeClr val="tx1"/>
                </a:solidFill>
              </a:rPr>
              <a:t>Anomalo. Product home page (data quality and root cause detection). anomalo.com</a:t>
            </a:r>
            <a:endParaRPr lang="en-US" sz="1200" dirty="0"/>
          </a:p>
        </p:txBody>
      </p:sp>
      <p:sp>
        <p:nvSpPr>
          <p:cNvPr id="13" name="Text 11"/>
          <p:cNvSpPr txBox="1"/>
          <p:nvPr/>
        </p:nvSpPr>
        <p:spPr>
          <a:xfrm>
            <a:off x="548640" y="4215384"/>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[6]</a:t>
            </a:r>
            <a:endParaRPr lang="en-US" sz="1200" dirty="0"/>
          </a:p>
        </p:txBody>
      </p:sp>
      <p:sp>
        <p:nvSpPr>
          <p:cNvPr id="14" name="Text 12"/>
          <p:cNvSpPr txBox="1"/>
          <p:nvPr/>
        </p:nvSpPr>
        <p:spPr>
          <a:xfrm>
            <a:off x="1143000" y="4215384"/>
            <a:ext cx="10424160" cy="301752"/>
          </a:xfrm>
          <a:prstGeom prst="rect">
            <a:avLst/>
          </a:prstGeom>
          <a:noFill/>
          <a:ln/>
        </p:spPr>
        <p:txBody>
          <a:bodyPr wrap="square" lIns="0" tIns="0" rIns="0" bIns="0" rtlCol="0" anchor="t"/>
          <a:lstStyle/>
          <a:p>
            <a:pPr indent="0" marL="0">
              <a:buNone/>
            </a:pPr>
            <a:r>
              <a:rPr lang="en-US" sz="1200" dirty="0">
                <a:solidFill>
                  <a:schemeClr val="tx1"/>
                </a:solidFill>
              </a:rPr>
              <a:t>Soda. Documentation home (checks, metric monitoring, investigation). docs.soda.io</a:t>
            </a:r>
            <a:endParaRPr lang="en-US" sz="1200" dirty="0"/>
          </a:p>
        </p:txBody>
      </p:sp>
      <p:sp>
        <p:nvSpPr>
          <p:cNvPr id="15" name="Text 13"/>
          <p:cNvSpPr txBox="1"/>
          <p:nvPr/>
        </p:nvSpPr>
        <p:spPr>
          <a:xfrm>
            <a:off x="548640" y="4608576"/>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[7]</a:t>
            </a:r>
            <a:endParaRPr lang="en-US" sz="1200" dirty="0"/>
          </a:p>
        </p:txBody>
      </p:sp>
      <p:sp>
        <p:nvSpPr>
          <p:cNvPr id="16" name="Text 14"/>
          <p:cNvSpPr txBox="1"/>
          <p:nvPr/>
        </p:nvSpPr>
        <p:spPr>
          <a:xfrm>
            <a:off x="1143000" y="4608576"/>
            <a:ext cx="10424160" cy="301752"/>
          </a:xfrm>
          <a:prstGeom prst="rect">
            <a:avLst/>
          </a:prstGeom>
          <a:noFill/>
          <a:ln/>
        </p:spPr>
        <p:txBody>
          <a:bodyPr wrap="square" lIns="0" tIns="0" rIns="0" bIns="0" rtlCol="0" anchor="t"/>
          <a:lstStyle/>
          <a:p>
            <a:pPr indent="0" marL="0">
              <a:buNone/>
            </a:pPr>
            <a:r>
              <a:rPr lang="en-US" sz="1200" dirty="0">
                <a:solidFill>
                  <a:schemeClr val="tx1"/>
                </a:solidFill>
              </a:rPr>
              <a:t>Great Expectations. GX Core overview (expectations, validation results). docs.greatexpectations.io/docs/core/introduction/gx_overview</a:t>
            </a:r>
            <a:endParaRPr lang="en-US" sz="1200" dirty="0"/>
          </a:p>
        </p:txBody>
      </p:sp>
      <p:sp>
        <p:nvSpPr>
          <p:cNvPr id="17" name="Text 15"/>
          <p:cNvSpPr txBox="1"/>
          <p:nvPr/>
        </p:nvSpPr>
        <p:spPr>
          <a:xfrm>
            <a:off x="548640" y="5001768"/>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[8]</a:t>
            </a:r>
            <a:endParaRPr lang="en-US" sz="1200" dirty="0"/>
          </a:p>
        </p:txBody>
      </p:sp>
      <p:sp>
        <p:nvSpPr>
          <p:cNvPr id="18" name="Text 16"/>
          <p:cNvSpPr txBox="1"/>
          <p:nvPr/>
        </p:nvSpPr>
        <p:spPr>
          <a:xfrm>
            <a:off x="1143000" y="5001768"/>
            <a:ext cx="10424160" cy="301752"/>
          </a:xfrm>
          <a:prstGeom prst="rect">
            <a:avLst/>
          </a:prstGeom>
          <a:noFill/>
          <a:ln/>
        </p:spPr>
        <p:txBody>
          <a:bodyPr wrap="square" lIns="0" tIns="0" rIns="0" bIns="0" rtlCol="0" anchor="t"/>
          <a:lstStyle/>
          <a:p>
            <a:pPr indent="0" marL="0">
              <a:buNone/>
            </a:pPr>
            <a:r>
              <a:rPr lang="en-US" sz="1200" dirty="0">
                <a:solidFill>
                  <a:schemeClr val="tx1"/>
                </a:solidFill>
              </a:rPr>
              <a:t>Elementary. Introduction (dbt package, alerts, report). docs.elementary-data.com/introduction</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References, vendor facts and public data</a:t>
            </a:r>
            <a:endParaRPr lang="en-US" sz="3400" dirty="0"/>
          </a:p>
        </p:txBody>
      </p:sp>
      <p:sp>
        <p:nvSpPr>
          <p:cNvPr id="3" name="Text 1"/>
          <p:cNvSpPr txBox="1"/>
          <p:nvPr/>
        </p:nvSpPr>
        <p:spPr>
          <a:xfrm>
            <a:off x="548640" y="1508760"/>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[9]</a:t>
            </a:r>
            <a:endParaRPr lang="en-US" sz="1200" dirty="0"/>
          </a:p>
        </p:txBody>
      </p:sp>
      <p:sp>
        <p:nvSpPr>
          <p:cNvPr id="4" name="Text 2"/>
          <p:cNvSpPr txBox="1"/>
          <p:nvPr/>
        </p:nvSpPr>
        <p:spPr>
          <a:xfrm>
            <a:off x="1143000" y="1508760"/>
            <a:ext cx="10424160" cy="301752"/>
          </a:xfrm>
          <a:prstGeom prst="rect">
            <a:avLst/>
          </a:prstGeom>
          <a:noFill/>
          <a:ln/>
        </p:spPr>
        <p:txBody>
          <a:bodyPr wrap="square" lIns="0" tIns="0" rIns="0" bIns="0" rtlCol="0" anchor="t"/>
          <a:lstStyle/>
          <a:p>
            <a:pPr indent="0" marL="0">
              <a:buNone/>
            </a:pPr>
            <a:r>
              <a:rPr lang="en-US" sz="1200" dirty="0">
                <a:solidFill>
                  <a:schemeClr val="tx1"/>
                </a:solidFill>
              </a:rPr>
              <a:t>Datafold. Product home page (data diff, monitors, MCP). datafold.com</a:t>
            </a:r>
            <a:endParaRPr lang="en-US" sz="1200" dirty="0"/>
          </a:p>
        </p:txBody>
      </p:sp>
      <p:sp>
        <p:nvSpPr>
          <p:cNvPr id="5" name="Text 3"/>
          <p:cNvSpPr txBox="1"/>
          <p:nvPr/>
        </p:nvSpPr>
        <p:spPr>
          <a:xfrm>
            <a:off x="548640" y="1901952"/>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[10]</a:t>
            </a:r>
            <a:endParaRPr lang="en-US" sz="1200" dirty="0"/>
          </a:p>
        </p:txBody>
      </p:sp>
      <p:sp>
        <p:nvSpPr>
          <p:cNvPr id="6" name="Text 4"/>
          <p:cNvSpPr txBox="1"/>
          <p:nvPr/>
        </p:nvSpPr>
        <p:spPr>
          <a:xfrm>
            <a:off x="1143000" y="1901952"/>
            <a:ext cx="10424160" cy="548640"/>
          </a:xfrm>
          <a:prstGeom prst="rect">
            <a:avLst/>
          </a:prstGeom>
          <a:noFill/>
          <a:ln/>
        </p:spPr>
        <p:txBody>
          <a:bodyPr wrap="square" lIns="0" tIns="0" rIns="0" bIns="0" rtlCol="0" anchor="t"/>
          <a:lstStyle/>
          <a:p>
            <a:pPr indent="0" marL="0">
              <a:buNone/>
            </a:pPr>
            <a:r>
              <a:rPr lang="en-US" sz="1200" dirty="0">
                <a:solidFill>
                  <a:schemeClr val="tx1"/>
                </a:solidFill>
              </a:rPr>
              <a:t>Exasol. "Exasol launches Exasol Personal, free analytics at any scale" (press release). exasol.com/newsroom/press-releases/exasol-launches-exasol-personal-free-analytics-at-any-scale</a:t>
            </a:r>
            <a:endParaRPr lang="en-US" sz="1200" dirty="0"/>
          </a:p>
        </p:txBody>
      </p:sp>
      <p:sp>
        <p:nvSpPr>
          <p:cNvPr id="7" name="Text 5"/>
          <p:cNvSpPr txBox="1"/>
          <p:nvPr/>
        </p:nvSpPr>
        <p:spPr>
          <a:xfrm>
            <a:off x="548640" y="2542032"/>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[11]</a:t>
            </a:r>
            <a:endParaRPr lang="en-US" sz="1200" dirty="0"/>
          </a:p>
        </p:txBody>
      </p:sp>
      <p:sp>
        <p:nvSpPr>
          <p:cNvPr id="8" name="Text 6"/>
          <p:cNvSpPr txBox="1"/>
          <p:nvPr/>
        </p:nvSpPr>
        <p:spPr>
          <a:xfrm>
            <a:off x="1143000" y="2542032"/>
            <a:ext cx="10424160" cy="301752"/>
          </a:xfrm>
          <a:prstGeom prst="rect">
            <a:avLst/>
          </a:prstGeom>
          <a:noFill/>
          <a:ln/>
        </p:spPr>
        <p:txBody>
          <a:bodyPr wrap="square" lIns="0" tIns="0" rIns="0" bIns="0" rtlCol="0" anchor="t"/>
          <a:lstStyle/>
          <a:p>
            <a:pPr indent="0" marL="0">
              <a:buNone/>
            </a:pPr>
            <a:r>
              <a:rPr lang="en-US" sz="1200" dirty="0">
                <a:solidFill>
                  <a:schemeClr val="tx1"/>
                </a:solidFill>
              </a:rPr>
              <a:t>Exasol. exasol-personal repository (local install on Windows, macOS, Linux). github.com/exasol/exasol-personal</a:t>
            </a:r>
            <a:endParaRPr lang="en-US" sz="1200" dirty="0"/>
          </a:p>
        </p:txBody>
      </p:sp>
      <p:sp>
        <p:nvSpPr>
          <p:cNvPr id="9" name="Text 7"/>
          <p:cNvSpPr txBox="1"/>
          <p:nvPr/>
        </p:nvSpPr>
        <p:spPr>
          <a:xfrm>
            <a:off x="548640" y="2935224"/>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[12]</a:t>
            </a:r>
            <a:endParaRPr lang="en-US" sz="1200" dirty="0"/>
          </a:p>
        </p:txBody>
      </p:sp>
      <p:sp>
        <p:nvSpPr>
          <p:cNvPr id="10" name="Text 8"/>
          <p:cNvSpPr txBox="1"/>
          <p:nvPr/>
        </p:nvSpPr>
        <p:spPr>
          <a:xfrm>
            <a:off x="1143000" y="2935224"/>
            <a:ext cx="10424160" cy="301752"/>
          </a:xfrm>
          <a:prstGeom prst="rect">
            <a:avLst/>
          </a:prstGeom>
          <a:noFill/>
          <a:ln/>
        </p:spPr>
        <p:txBody>
          <a:bodyPr wrap="square" lIns="0" tIns="0" rIns="0" bIns="0" rtlCol="0" anchor="t"/>
          <a:lstStyle/>
          <a:p>
            <a:pPr indent="0" marL="0">
              <a:buNone/>
            </a:pPr>
            <a:r>
              <a:rPr lang="en-US" sz="1200" dirty="0">
                <a:solidFill>
                  <a:schemeClr val="tx1"/>
                </a:solidFill>
              </a:rPr>
              <a:t>Exasol. MCP server as an agent tool (documentation). docs.exasol.com/db/latest/ai/ai_build_agents/mcp-server-as-agent-tool.htm</a:t>
            </a:r>
            <a:endParaRPr lang="en-US" sz="1200" dirty="0"/>
          </a:p>
        </p:txBody>
      </p:sp>
      <p:sp>
        <p:nvSpPr>
          <p:cNvPr id="11" name="Text 9"/>
          <p:cNvSpPr txBox="1"/>
          <p:nvPr/>
        </p:nvSpPr>
        <p:spPr>
          <a:xfrm>
            <a:off x="548640" y="3328416"/>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[17]</a:t>
            </a:r>
            <a:endParaRPr lang="en-US" sz="1200" dirty="0"/>
          </a:p>
        </p:txBody>
      </p:sp>
      <p:sp>
        <p:nvSpPr>
          <p:cNvPr id="12" name="Text 10"/>
          <p:cNvSpPr txBox="1"/>
          <p:nvPr/>
        </p:nvSpPr>
        <p:spPr>
          <a:xfrm>
            <a:off x="1143000" y="3328416"/>
            <a:ext cx="10424160" cy="301752"/>
          </a:xfrm>
          <a:prstGeom prst="rect">
            <a:avLst/>
          </a:prstGeom>
          <a:noFill/>
          <a:ln/>
        </p:spPr>
        <p:txBody>
          <a:bodyPr wrap="square" lIns="0" tIns="0" rIns="0" bIns="0" rtlCol="0" anchor="t"/>
          <a:lstStyle/>
          <a:p>
            <a:pPr indent="0" marL="0">
              <a:buNone/>
            </a:pPr>
            <a:r>
              <a:rPr lang="en-US" sz="1200" dirty="0">
                <a:solidFill>
                  <a:schemeClr val="tx1"/>
                </a:solidFill>
              </a:rPr>
              <a:t>NYC Taxi and Limousine Commission. TLC Trip Record Data, yellow taxi trips, January to March 2024. nyc.gov/site/tlc/about/tlc-trip-record-data.page</a:t>
            </a:r>
            <a:endParaRPr lang="en-US" sz="1200" dirty="0"/>
          </a:p>
        </p:txBody>
      </p:sp>
      <p:sp>
        <p:nvSpPr>
          <p:cNvPr id="13" name="Text 11"/>
          <p:cNvSpPr txBox="1"/>
          <p:nvPr/>
        </p:nvSpPr>
        <p:spPr>
          <a:xfrm>
            <a:off x="548640" y="3721608"/>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[19]</a:t>
            </a:r>
            <a:endParaRPr lang="en-US" sz="1200" dirty="0"/>
          </a:p>
        </p:txBody>
      </p:sp>
      <p:sp>
        <p:nvSpPr>
          <p:cNvPr id="14" name="Text 12"/>
          <p:cNvSpPr txBox="1"/>
          <p:nvPr/>
        </p:nvSpPr>
        <p:spPr>
          <a:xfrm>
            <a:off x="1143000" y="3721608"/>
            <a:ext cx="10424160" cy="548640"/>
          </a:xfrm>
          <a:prstGeom prst="rect">
            <a:avLst/>
          </a:prstGeom>
          <a:noFill/>
          <a:ln/>
        </p:spPr>
        <p:txBody>
          <a:bodyPr wrap="square" lIns="0" tIns="0" rIns="0" bIns="0" rtlCol="0" anchor="t"/>
          <a:lstStyle/>
          <a:p>
            <a:pPr indent="0" marL="0">
              <a:buNone/>
            </a:pPr>
            <a:r>
              <a:rPr lang="en-US" sz="1200" dirty="0">
                <a:solidFill>
                  <a:schemeClr val="tx1"/>
                </a:solidFill>
              </a:rPr>
              <a:t>NYC Public Schools. Weather advisory: schools switch to remote learning on 2/13 (12 Feb 2024). schools.nyc.gov/about-us/news/morning-bell/previously/morning-bell/2024/02/12/weather-advisory-nyc-public-schools-switch-to-remote-learning-on-2-13</a:t>
            </a:r>
            <a:endParaRPr lang="en-US" sz="1200" dirty="0"/>
          </a:p>
        </p:txBody>
      </p:sp>
      <p:sp>
        <p:nvSpPr>
          <p:cNvPr id="15" name="Text 13"/>
          <p:cNvSpPr txBox="1"/>
          <p:nvPr/>
        </p:nvSpPr>
        <p:spPr>
          <a:xfrm>
            <a:off x="548640" y="4361688"/>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[20]</a:t>
            </a:r>
            <a:endParaRPr lang="en-US" sz="1200" dirty="0"/>
          </a:p>
        </p:txBody>
      </p:sp>
      <p:sp>
        <p:nvSpPr>
          <p:cNvPr id="16" name="Text 14"/>
          <p:cNvSpPr txBox="1"/>
          <p:nvPr/>
        </p:nvSpPr>
        <p:spPr>
          <a:xfrm>
            <a:off x="1143000" y="4361688"/>
            <a:ext cx="10424160" cy="301752"/>
          </a:xfrm>
          <a:prstGeom prst="rect">
            <a:avLst/>
          </a:prstGeom>
          <a:noFill/>
          <a:ln/>
        </p:spPr>
        <p:txBody>
          <a:bodyPr wrap="square" lIns="0" tIns="0" rIns="0" bIns="0" rtlCol="0" anchor="t"/>
          <a:lstStyle/>
          <a:p>
            <a:pPr indent="0" marL="0">
              <a:buNone/>
            </a:pPr>
            <a:r>
              <a:rPr lang="en-US" sz="1200" dirty="0">
                <a:solidFill>
                  <a:schemeClr val="tx1"/>
                </a:solidFill>
              </a:rPr>
              <a:t>Axios. Snow day coverage, NYC remote learning, 13 Feb 2024. axios.com/2024/02/13/nyc-remote-learning-snow-day</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384048"/>
            <a:ext cx="11064240" cy="960120"/>
          </a:xfrm>
          <a:prstGeom prst="rect">
            <a:avLst/>
          </a:prstGeom>
          <a:noFill/>
          <a:ln/>
        </p:spPr>
        <p:txBody>
          <a:bodyPr wrap="square" lIns="0" tIns="0" rIns="0" bIns="0" rtlCol="0" anchor="t"/>
          <a:lstStyle/>
          <a:p>
            <a:pPr algn="l" indent="0" marL="0">
              <a:buNone/>
            </a:pPr>
            <a:r>
              <a:rPr lang="en-US" sz="3400" b="1" dirty="0">
                <a:solidFill>
                  <a:schemeClr val="bg1"/>
                </a:solidFill>
              </a:rPr>
              <a:t>References, this project</a:t>
            </a:r>
            <a:endParaRPr lang="en-US" sz="3400" dirty="0"/>
          </a:p>
        </p:txBody>
      </p:sp>
      <p:sp>
        <p:nvSpPr>
          <p:cNvPr id="3" name="Text 1"/>
          <p:cNvSpPr txBox="1"/>
          <p:nvPr/>
        </p:nvSpPr>
        <p:spPr>
          <a:xfrm>
            <a:off x="548640" y="1508760"/>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[13]</a:t>
            </a:r>
            <a:endParaRPr lang="en-US" sz="1200" dirty="0"/>
          </a:p>
        </p:txBody>
      </p:sp>
      <p:sp>
        <p:nvSpPr>
          <p:cNvPr id="4" name="Text 2"/>
          <p:cNvSpPr txBox="1"/>
          <p:nvPr/>
        </p:nvSpPr>
        <p:spPr>
          <a:xfrm>
            <a:off x="1143000" y="1508760"/>
            <a:ext cx="10424160" cy="301752"/>
          </a:xfrm>
          <a:prstGeom prst="rect">
            <a:avLst/>
          </a:prstGeom>
          <a:noFill/>
          <a:ln/>
        </p:spPr>
        <p:txBody>
          <a:bodyPr wrap="square" lIns="0" tIns="0" rIns="0" bIns="0" rtlCol="0" anchor="t"/>
          <a:lstStyle/>
          <a:p>
            <a:pPr indent="0" marL="0">
              <a:buNone/>
            </a:pPr>
            <a:r>
              <a:rPr lang="en-US" sz="1200" dirty="0">
                <a:solidFill>
                  <a:schemeClr val="tx1"/>
                </a:solidFill>
              </a:rPr>
              <a:t>This project. samples/exasol/eval_report.md, 50 runs on Exasol Personal, re-run after the unit tail check. github.com/AakashMutum/receipts</a:t>
            </a:r>
            <a:endParaRPr lang="en-US" sz="1200" dirty="0"/>
          </a:p>
        </p:txBody>
      </p:sp>
      <p:sp>
        <p:nvSpPr>
          <p:cNvPr id="5" name="Text 3"/>
          <p:cNvSpPr txBox="1"/>
          <p:nvPr/>
        </p:nvSpPr>
        <p:spPr>
          <a:xfrm>
            <a:off x="548640" y="1901952"/>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[14]</a:t>
            </a:r>
            <a:endParaRPr lang="en-US" sz="1200" dirty="0"/>
          </a:p>
        </p:txBody>
      </p:sp>
      <p:sp>
        <p:nvSpPr>
          <p:cNvPr id="6" name="Text 4"/>
          <p:cNvSpPr txBox="1"/>
          <p:nvPr/>
        </p:nvSpPr>
        <p:spPr>
          <a:xfrm>
            <a:off x="1143000" y="1901952"/>
            <a:ext cx="10424160" cy="301752"/>
          </a:xfrm>
          <a:prstGeom prst="rect">
            <a:avLst/>
          </a:prstGeom>
          <a:noFill/>
          <a:ln/>
        </p:spPr>
        <p:txBody>
          <a:bodyPr wrap="square" lIns="0" tIns="0" rIns="0" bIns="0" rtlCol="0" anchor="t"/>
          <a:lstStyle/>
          <a:p>
            <a:pPr indent="0" marL="0">
              <a:buNone/>
            </a:pPr>
            <a:r>
              <a:rPr lang="en-US" sz="1200" dirty="0">
                <a:solidFill>
                  <a:schemeClr val="tx1"/>
                </a:solidFill>
              </a:rPr>
              <a:t>This project. samples/variants_report.md and samples/exasol/variants_report.md (with variants_report_before.md), held-out fault variants.</a:t>
            </a:r>
            <a:endParaRPr lang="en-US" sz="1200" dirty="0"/>
          </a:p>
        </p:txBody>
      </p:sp>
      <p:sp>
        <p:nvSpPr>
          <p:cNvPr id="7" name="Text 5"/>
          <p:cNvSpPr txBox="1"/>
          <p:nvPr/>
        </p:nvSpPr>
        <p:spPr>
          <a:xfrm>
            <a:off x="548640" y="2295144"/>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[15]</a:t>
            </a:r>
            <a:endParaRPr lang="en-US" sz="1200" dirty="0"/>
          </a:p>
        </p:txBody>
      </p:sp>
      <p:sp>
        <p:nvSpPr>
          <p:cNvPr id="8" name="Text 6"/>
          <p:cNvSpPr txBox="1"/>
          <p:nvPr/>
        </p:nvSpPr>
        <p:spPr>
          <a:xfrm>
            <a:off x="1143000" y="2295144"/>
            <a:ext cx="10424160" cy="301752"/>
          </a:xfrm>
          <a:prstGeom prst="rect">
            <a:avLst/>
          </a:prstGeom>
          <a:noFill/>
          <a:ln/>
        </p:spPr>
        <p:txBody>
          <a:bodyPr wrap="square" lIns="0" tIns="0" rIns="0" bIns="0" rtlCol="0" anchor="t"/>
          <a:lstStyle/>
          <a:p>
            <a:pPr indent="0" marL="0">
              <a:buNone/>
            </a:pPr>
            <a:r>
              <a:rPr lang="en-US" sz="1200" dirty="0">
                <a:solidFill>
                  <a:schemeClr val="tx1"/>
                </a:solidFill>
              </a:rPr>
              <a:t>This project. README, JUDGES.md, docs/EVAL_CARD.md and docs/RUN_GUIDE.md (results, Exasol timings, weekday baseline, limits).</a:t>
            </a:r>
            <a:endParaRPr lang="en-US" sz="1200" dirty="0"/>
          </a:p>
        </p:txBody>
      </p:sp>
      <p:sp>
        <p:nvSpPr>
          <p:cNvPr id="9" name="Text 7"/>
          <p:cNvSpPr txBox="1"/>
          <p:nvPr/>
        </p:nvSpPr>
        <p:spPr>
          <a:xfrm>
            <a:off x="548640" y="2688336"/>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[16]</a:t>
            </a:r>
            <a:endParaRPr lang="en-US" sz="1200" dirty="0"/>
          </a:p>
        </p:txBody>
      </p:sp>
      <p:sp>
        <p:nvSpPr>
          <p:cNvPr id="10" name="Text 8"/>
          <p:cNvSpPr txBox="1"/>
          <p:nvPr/>
        </p:nvSpPr>
        <p:spPr>
          <a:xfrm>
            <a:off x="1143000" y="2688336"/>
            <a:ext cx="10424160" cy="301752"/>
          </a:xfrm>
          <a:prstGeom prst="rect">
            <a:avLst/>
          </a:prstGeom>
          <a:noFill/>
          <a:ln/>
        </p:spPr>
        <p:txBody>
          <a:bodyPr wrap="square" lIns="0" tIns="0" rIns="0" bIns="0" rtlCol="0" anchor="t"/>
          <a:lstStyle/>
          <a:p>
            <a:pPr indent="0" marL="0">
              <a:buNone/>
            </a:pPr>
            <a:r>
              <a:rPr lang="en-US" sz="1200" dirty="0">
                <a:solidFill>
                  <a:schemeClr val="tx1"/>
                </a:solidFill>
              </a:rPr>
              <a:t>This project. Command center screenshots from real runs on Exasol Personal, docs/screenshots/, 21 to 26 Oct 2026.</a:t>
            </a:r>
            <a:endParaRPr lang="en-US" sz="1200" dirty="0"/>
          </a:p>
        </p:txBody>
      </p:sp>
      <p:sp>
        <p:nvSpPr>
          <p:cNvPr id="11" name="Text 9"/>
          <p:cNvSpPr txBox="1"/>
          <p:nvPr/>
        </p:nvSpPr>
        <p:spPr>
          <a:xfrm>
            <a:off x="548640" y="3081528"/>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[18]</a:t>
            </a:r>
            <a:endParaRPr lang="en-US" sz="1200" dirty="0"/>
          </a:p>
        </p:txBody>
      </p:sp>
      <p:sp>
        <p:nvSpPr>
          <p:cNvPr id="12" name="Text 10"/>
          <p:cNvSpPr txBox="1"/>
          <p:nvPr/>
        </p:nvSpPr>
        <p:spPr>
          <a:xfrm>
            <a:off x="1143000" y="3081528"/>
            <a:ext cx="10424160" cy="301752"/>
          </a:xfrm>
          <a:prstGeom prst="rect">
            <a:avLst/>
          </a:prstGeom>
          <a:noFill/>
          <a:ln/>
        </p:spPr>
        <p:txBody>
          <a:bodyPr wrap="square" lIns="0" tIns="0" rIns="0" bIns="0" rtlCol="0" anchor="t"/>
          <a:lstStyle/>
          <a:p>
            <a:pPr indent="0" marL="0">
              <a:buNone/>
            </a:pPr>
            <a:r>
              <a:rPr lang="en-US" sz="1200" dirty="0">
                <a:solidFill>
                  <a:schemeClr val="tx1"/>
                </a:solidFill>
              </a:rPr>
              <a:t>This project. samples/exasol/real_backtest.md (Exasol) and samples/real_backtest.md (stand-in, after the unit tail check).</a:t>
            </a:r>
            <a:endParaRPr lang="en-US" sz="1200" dirty="0"/>
          </a:p>
        </p:txBody>
      </p:sp>
      <p:sp>
        <p:nvSpPr>
          <p:cNvPr id="13" name="Text 11"/>
          <p:cNvSpPr txBox="1"/>
          <p:nvPr/>
        </p:nvSpPr>
        <p:spPr>
          <a:xfrm>
            <a:off x="548640" y="3474720"/>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[21]</a:t>
            </a:r>
            <a:endParaRPr lang="en-US" sz="1200" dirty="0"/>
          </a:p>
        </p:txBody>
      </p:sp>
      <p:sp>
        <p:nvSpPr>
          <p:cNvPr id="14" name="Text 12"/>
          <p:cNvSpPr txBox="1"/>
          <p:nvPr/>
        </p:nvSpPr>
        <p:spPr>
          <a:xfrm>
            <a:off x="1143000" y="3474720"/>
            <a:ext cx="10424160" cy="548640"/>
          </a:xfrm>
          <a:prstGeom prst="rect">
            <a:avLst/>
          </a:prstGeom>
          <a:noFill/>
          <a:ln/>
        </p:spPr>
        <p:txBody>
          <a:bodyPr wrap="square" lIns="0" tIns="0" rIns="0" bIns="0" rtlCol="0" anchor="t"/>
          <a:lstStyle/>
          <a:p>
            <a:pPr indent="0" marL="0">
              <a:buNone/>
            </a:pPr>
            <a:r>
              <a:rPr lang="en-US" sz="1200" dirty="0">
                <a:solidFill>
                  <a:schemeClr val="tx1"/>
                </a:solidFill>
              </a:rPr>
              <a:t>This project. samples/exasol/redteam_report.md and redteam_report_before.md, heldout_unit_before.md and heldout_unit_after.md, timings.md, scaling.md, bench.json, docs/BENCHMARKS.md and docs/AUDIT_MATCH.md.</a:t>
            </a:r>
            <a:endParaRPr lang="en-US" sz="1200" dirty="0"/>
          </a:p>
        </p:txBody>
      </p:sp>
      <p:sp>
        <p:nvSpPr>
          <p:cNvPr id="15" name="Text 13"/>
          <p:cNvSpPr txBox="1"/>
          <p:nvPr/>
        </p:nvSpPr>
        <p:spPr>
          <a:xfrm>
            <a:off x="548640" y="4114800"/>
            <a:ext cx="548640" cy="548640"/>
          </a:xfrm>
          <a:prstGeom prst="rect">
            <a:avLst/>
          </a:prstGeom>
          <a:noFill/>
          <a:ln/>
        </p:spPr>
        <p:txBody>
          <a:bodyPr wrap="square" lIns="0" tIns="0" rIns="0" bIns="0" rtlCol="0" anchor="t"/>
          <a:lstStyle/>
          <a:p>
            <a:pPr indent="0" marL="0">
              <a:buNone/>
            </a:pPr>
            <a:r>
              <a:rPr lang="en-US" sz="1200" b="1" dirty="0">
                <a:solidFill>
                  <a:schemeClr val="accent3"/>
                </a:solidFill>
              </a:rPr>
              <a:t>[22]</a:t>
            </a:r>
            <a:endParaRPr lang="en-US" sz="1200" dirty="0"/>
          </a:p>
        </p:txBody>
      </p:sp>
      <p:sp>
        <p:nvSpPr>
          <p:cNvPr id="16" name="Text 14"/>
          <p:cNvSpPr txBox="1"/>
          <p:nvPr/>
        </p:nvSpPr>
        <p:spPr>
          <a:xfrm>
            <a:off x="1143000" y="4114800"/>
            <a:ext cx="10424160" cy="548640"/>
          </a:xfrm>
          <a:prstGeom prst="rect">
            <a:avLst/>
          </a:prstGeom>
          <a:noFill/>
          <a:ln/>
        </p:spPr>
        <p:txBody>
          <a:bodyPr wrap="square" lIns="0" tIns="0" rIns="0" bIns="0" rtlCol="0" anchor="t"/>
          <a:lstStyle/>
          <a:p>
            <a:pPr indent="0" marL="0">
              <a:buNone/>
            </a:pPr>
            <a:r>
              <a:rPr lang="en-US" sz="1200" dirty="0">
                <a:solidFill>
                  <a:schemeClr val="tx1"/>
                </a:solidFill>
              </a:rPr>
              <a:t>This project. samples/exasol/wrongfix_report.md, samples/metrics_heldout_before.md and samples/exasol/metrics_heldout_after.md (configured metrics, held-out cases written before the fix).</a:t>
            </a:r>
            <a:endParaRPr lang="en-US" sz="1200" dirty="0"/>
          </a:p>
        </p:txBody>
      </p:sp>
      <p:sp>
        <p:nvSpPr>
          <p:cNvPr id="17" name="Text 15"/>
          <p:cNvSpPr txBox="1"/>
          <p:nvPr/>
        </p:nvSpPr>
        <p:spPr>
          <a:xfrm>
            <a:off x="548640" y="4754880"/>
            <a:ext cx="548640" cy="301752"/>
          </a:xfrm>
          <a:prstGeom prst="rect">
            <a:avLst/>
          </a:prstGeom>
          <a:noFill/>
          <a:ln/>
        </p:spPr>
        <p:txBody>
          <a:bodyPr wrap="square" lIns="0" tIns="0" rIns="0" bIns="0" rtlCol="0" anchor="t"/>
          <a:lstStyle/>
          <a:p>
            <a:pPr indent="0" marL="0">
              <a:buNone/>
            </a:pPr>
            <a:r>
              <a:rPr lang="en-US" sz="1200" b="1" dirty="0">
                <a:solidFill>
                  <a:schemeClr val="accent3"/>
                </a:solidFill>
              </a:rPr>
              <a:t>[23]</a:t>
            </a:r>
            <a:endParaRPr lang="en-US" sz="1200" dirty="0"/>
          </a:p>
        </p:txBody>
      </p:sp>
      <p:sp>
        <p:nvSpPr>
          <p:cNvPr id="18" name="Text 16"/>
          <p:cNvSpPr txBox="1"/>
          <p:nvPr/>
        </p:nvSpPr>
        <p:spPr>
          <a:xfrm>
            <a:off x="1143000" y="4754880"/>
            <a:ext cx="10424160" cy="301752"/>
          </a:xfrm>
          <a:prstGeom prst="rect">
            <a:avLst/>
          </a:prstGeom>
          <a:noFill/>
          <a:ln/>
        </p:spPr>
        <p:txBody>
          <a:bodyPr wrap="square" lIns="0" tIns="0" rIns="0" bIns="0" rtlCol="0" anchor="t"/>
          <a:lstStyle/>
          <a:p>
            <a:pPr indent="0" marL="0">
              <a:buNone/>
            </a:pPr>
            <a:r>
              <a:rPr lang="en-US" sz="1200" dirty="0">
                <a:solidFill>
                  <a:schemeClr val="tx1"/>
                </a:solidFill>
              </a:rPr>
              <a:t>This project. samples/exasol/live_checks.md, docs/MCP_REAL_RUN.md (real agent) and docs/MCP_PROTOCOL_RUN.md (no model).</a:t>
            </a:r>
            <a:endParaRPr lang="en-US" sz="1200" dirty="0"/>
          </a:p>
        </p:txBody>
      </p:sp>
      <p:sp>
        <p:nvSpPr>
          <p:cNvPr id="19" name="Text 17"/>
          <p:cNvSpPr txBox="1"/>
          <p:nvPr/>
        </p:nvSpPr>
        <p:spPr>
          <a:xfrm>
            <a:off x="548640" y="5285232"/>
            <a:ext cx="11064240" cy="640080"/>
          </a:xfrm>
          <a:prstGeom prst="rect">
            <a:avLst/>
          </a:prstGeom>
          <a:noFill/>
          <a:ln/>
        </p:spPr>
        <p:txBody>
          <a:bodyPr wrap="square" lIns="0" tIns="0" rIns="0" bIns="0" rtlCol="0" anchor="t"/>
          <a:lstStyle/>
          <a:p>
            <a:pPr indent="0" marL="0">
              <a:buNone/>
            </a:pPr>
            <a:r>
              <a:rPr lang="en-US" sz="1200" dirty="0">
                <a:solidFill>
                  <a:srgbClr val="5B7684"/>
                </a:solidFill>
              </a:rPr>
              <a:t>Third-party pages were read in October 2026 and are summarised, not quoted at length. Vendor feature claims are the vendors' own. Figures labelled "this project" come from synthetic data (except the taxi backtest) and can be regenerated with the commands in the repository.</a:t>
            </a:r>
            <a:endParaRPr lang="en-US" sz="12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7684"/>
                </a:solidFill>
              </a:defRPr>
            </a:lvl1pPr>
          </a:lstStyle>
          <a:p>
            <a:pPr algn="l"/>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card"/>
          <p:cNvSpPr/>
          <p:nvPr/>
        </p:nvSpPr>
        <p:spPr>
          <a:xfrm>
            <a:off x="7680960" y="822960"/>
            <a:ext cx="4023360" cy="5074920"/>
          </a:xfrm>
          <a:prstGeom prst="rect">
            <a:avLst/>
          </a:prstGeom>
          <a:solidFill>
            <a:schemeClr val="bg2"/>
          </a:solidFill>
          <a:ln w="12700">
            <a:solidFill>
              <a:srgbClr val="EEF3F5"/>
            </a:solidFill>
            <a:prstDash val="solid"/>
          </a:ln>
        </p:spPr>
      </p:sp>
      <p:pic>
        <p:nvPicPr>
          <p:cNvPr id="3" name="!!edge" descr="preencoded.png">    </p:cNvPr>
          <p:cNvPicPr>
            <a:picLocks noChangeAspect="1"/>
          </p:cNvPicPr>
          <p:nvPr/>
        </p:nvPicPr>
        <p:blipFill>
          <a:blip r:embed="rId1"/>
          <a:stretch>
            <a:fillRect/>
          </a:stretch>
        </p:blipFill>
        <p:spPr>
          <a:xfrm>
            <a:off x="7680960" y="5897880"/>
            <a:ext cx="4023360" cy="201168"/>
          </a:xfrm>
          <a:prstGeom prst="rect">
            <a:avLst/>
          </a:prstGeom>
        </p:spPr>
      </p:pic>
      <p:sp>
        <p:nvSpPr>
          <p:cNvPr id="4" name="Text 1"/>
          <p:cNvSpPr txBox="1"/>
          <p:nvPr/>
        </p:nvSpPr>
        <p:spPr>
          <a:xfrm>
            <a:off x="7955280" y="1280160"/>
            <a:ext cx="3566160" cy="118872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CORRECTED  3.21 crore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history  unchanged</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logged   RECEIPTS.APPROVALS</a:t>
            </a:r>
            <a:endParaRPr lang="en-US" sz="1400" dirty="0"/>
          </a:p>
        </p:txBody>
      </p:sp>
      <p:sp>
        <p:nvSpPr>
          <p:cNvPr id="5" name="Text 2"/>
          <p:cNvSpPr txBox="1"/>
          <p:nvPr/>
        </p:nvSpPr>
        <p:spPr>
          <a:xfrm>
            <a:off x="548640" y="1554480"/>
            <a:ext cx="6675120" cy="2011680"/>
          </a:xfrm>
          <a:prstGeom prst="rect">
            <a:avLst/>
          </a:prstGeom>
          <a:noFill/>
          <a:ln/>
        </p:spPr>
        <p:txBody>
          <a:bodyPr wrap="square" lIns="0" tIns="0" rIns="0" bIns="0" rtlCol="0" anchor="t"/>
          <a:lstStyle/>
          <a:p>
            <a:pPr indent="0" marL="0">
              <a:buNone/>
            </a:pPr>
            <a:r>
              <a:rPr lang="en-US" sz="4800" b="1" dirty="0">
                <a:solidFill>
                  <a:schemeClr val="bg1"/>
                </a:solidFill>
                <a:latin typeface="+mj-lt" pitchFamily="34" charset="0"/>
                <a:ea typeface="+mj-lt" pitchFamily="34" charset="-122"/>
                <a:cs typeface="+mj-lt" pitchFamily="34" charset="-120"/>
              </a:rPr>
              <a:t>Minutes, not two days.</a:t>
            </a:r>
            <a:endParaRPr lang="en-US" sz="4800" dirty="0"/>
          </a:p>
          <a:p>
            <a:pPr indent="0" marL="0">
              <a:buNone/>
            </a:pPr>
            <a:r>
              <a:rPr lang="en-US" sz="4800" b="1" dirty="0">
                <a:solidFill>
                  <a:schemeClr val="bg1"/>
                </a:solidFill>
                <a:latin typeface="+mj-lt" pitchFamily="34" charset="0"/>
                <a:ea typeface="+mj-lt" pitchFamily="34" charset="-122"/>
                <a:cs typeface="+mj-lt" pitchFamily="34" charset="-120"/>
              </a:rPr>
              <a:t>Proof, not a guess.</a:t>
            </a:r>
            <a:endParaRPr lang="en-US" sz="4800" dirty="0"/>
          </a:p>
        </p:txBody>
      </p:sp>
      <p:sp>
        <p:nvSpPr>
          <p:cNvPr id="6" name="Text 3"/>
          <p:cNvSpPr txBox="1"/>
          <p:nvPr/>
        </p:nvSpPr>
        <p:spPr>
          <a:xfrm>
            <a:off x="594360" y="3840480"/>
            <a:ext cx="6400800" cy="1188720"/>
          </a:xfrm>
          <a:prstGeom prst="rect">
            <a:avLst/>
          </a:prstGeom>
          <a:noFill/>
          <a:ln/>
        </p:spPr>
        <p:txBody>
          <a:bodyPr wrap="square" lIns="0" tIns="0" rIns="0" bIns="0" rtlCol="0" anchor="t"/>
          <a:lstStyle/>
          <a:p>
            <a:pPr indent="0" marL="0">
              <a:buNone/>
            </a:pPr>
            <a:r>
              <a:rPr lang="en-US" sz="2000" dirty="0">
                <a:solidFill>
                  <a:srgbClr val="DDE8EC"/>
                </a:solidFill>
              </a:rPr>
              <a:t>Receipts holds the number, proves why it moved by undoing the cause inside Exasol, and tells people and AI agents whether to trust it.</a:t>
            </a:r>
            <a:endParaRPr lang="en-US" sz="2000" dirty="0"/>
          </a:p>
        </p:txBody>
      </p:sp>
      <p:sp>
        <p:nvSpPr>
          <p:cNvPr id="7" name="Text 4"/>
          <p:cNvSpPr txBox="1"/>
          <p:nvPr/>
        </p:nvSpPr>
        <p:spPr>
          <a:xfrm>
            <a:off x="594360" y="5394960"/>
            <a:ext cx="6766560" cy="320040"/>
          </a:xfrm>
          <a:prstGeom prst="rect">
            <a:avLst/>
          </a:prstGeom>
          <a:noFill/>
          <a:ln/>
        </p:spPr>
        <p:txBody>
          <a:bodyPr wrap="square" lIns="0" tIns="0" rIns="0" bIns="0" rtlCol="0" anchor="t"/>
          <a:lstStyle/>
          <a:p>
            <a:pPr indent="0" marL="0">
              <a:buNone/>
            </a:pPr>
            <a:r>
              <a:rPr lang="en-US" sz="1400" dirty="0">
                <a:solidFill>
                  <a:schemeClr val="accent1"/>
                </a:solidFill>
              </a:rPr>
              <a:t>github.com/AakashMutum/receipts   |   MIT licence   |   Aakash Singh Mutum</a:t>
            </a:r>
            <a:endParaRPr lang="en-US" sz="1400" dirty="0"/>
          </a:p>
        </p:txBody>
      </p:sp>
      <p:sp>
        <p:nvSpPr>
          <p:cNvPr id="8" name="!!stamp"/>
          <p:cNvSpPr/>
          <p:nvPr/>
        </p:nvSpPr>
        <p:spPr>
          <a:xfrm rot="-480000">
            <a:off x="9281160" y="3931920"/>
            <a:ext cx="2103120" cy="777240"/>
          </a:xfrm>
          <a:prstGeom prst="roundRect">
            <a:avLst>
              <a:gd name="adj" fmla="val 5882"/>
            </a:avLst>
          </a:prstGeom>
          <a:solidFill>
            <a:schemeClr val="bg1">
              <a:alpha val="0"/>
            </a:schemeClr>
          </a:solidFill>
          <a:ln w="38100">
            <a:solidFill>
              <a:schemeClr val="accent2"/>
            </a:solidFill>
            <a:prstDash val="solid"/>
          </a:ln>
        </p:spPr>
      </p:sp>
      <p:sp>
        <p:nvSpPr>
          <p:cNvPr id="9" name="!!stampt"/>
          <p:cNvSpPr txBox="1"/>
          <p:nvPr/>
        </p:nvSpPr>
        <p:spPr>
          <a:xfrm rot="-480000">
            <a:off x="9281160" y="3931920"/>
            <a:ext cx="2103120" cy="777240"/>
          </a:xfrm>
          <a:prstGeom prst="rect">
            <a:avLst/>
          </a:prstGeom>
          <a:noFill/>
          <a:ln/>
        </p:spPr>
        <p:txBody>
          <a:bodyPr wrap="square" lIns="0" tIns="0" rIns="0" bIns="0" rtlCol="0" anchor="ctr"/>
          <a:lstStyle/>
          <a:p>
            <a:pPr algn="ctr" indent="0" marL="0">
              <a:buNone/>
            </a:pPr>
            <a:r>
              <a:rPr lang="en-US" sz="2800" b="1" dirty="0">
                <a:solidFill>
                  <a:schemeClr val="accent2"/>
                </a:solidFill>
              </a:rPr>
              <a:t>HELD</a:t>
            </a:r>
            <a:endParaRPr lang="en-US" sz="28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CC3D1"/>
                </a:solidFill>
              </a:defRPr>
            </a:lvl1pPr>
          </a:lstStyle>
          <a:p>
            <a:pPr algn="l"/>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theme/theme1.xml><?xml version="1.0" encoding="utf-8"?>
<a:theme xmlns:a="http://schemas.openxmlformats.org/drawingml/2006/main" name="Receipts">
  <a:themeElements>
    <a:clrScheme name="Receipts">
      <a:dk1>
        <a:srgbClr val="0A2A38"/>
      </a:dk1>
      <a:lt1>
        <a:srgbClr val="FFFFFF"/>
      </a:lt1>
      <a:dk2>
        <a:srgbClr val="0C3D51"/>
      </a:dk2>
      <a:lt2>
        <a:srgbClr val="EEF3F5"/>
      </a:lt2>
      <a:accent1>
        <a:srgbClr val="6AB541"/>
      </a:accent1>
      <a:accent2>
        <a:srgbClr val="E8772E"/>
      </a:accent2>
      <a:accent3>
        <a:srgbClr val="1C7293"/>
      </a:accent3>
      <a:accent4>
        <a:srgbClr val="9CC3D1"/>
      </a:accent4>
      <a:accent5>
        <a:srgbClr val="B23A48"/>
      </a:accent5>
      <a:accent6>
        <a:srgbClr val="5B7684"/>
      </a:accent6>
      <a:hlink>
        <a:srgbClr val="1C7293"/>
      </a:hlink>
      <a:folHlink>
        <a:srgbClr val="5B7684"/>
      </a:folHlink>
    </a:clrScheme>
    <a:fontScheme name="Receip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Receipts: proof for every number that moves</dc:title>
  <dc:subject>ExaThon India 2026, Track 4</dc:subject>
  <dc:creator>Aakash Singh Mutum</dc:creator>
  <cp:lastModifiedBy>Aakash Singh Mutum</cp:lastModifiedBy>
  <cp:revision>1</cp:revision>
  <dcterms:created xsi:type="dcterms:W3CDTF">2026-10-31T04:12:18Z</dcterms:created>
  <dcterms:modified xsi:type="dcterms:W3CDTF">2026-10-31T04:12:18Z</dcterms:modified>
</cp:coreProperties>
</file>